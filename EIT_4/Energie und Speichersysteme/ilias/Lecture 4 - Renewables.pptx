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0"/>
  </p:notesMasterIdLst>
  <p:sldIdLst>
    <p:sldId id="296" r:id="rId5"/>
    <p:sldId id="275" r:id="rId6"/>
    <p:sldId id="405" r:id="rId7"/>
    <p:sldId id="408" r:id="rId8"/>
    <p:sldId id="406" r:id="rId9"/>
    <p:sldId id="407" r:id="rId10"/>
    <p:sldId id="409" r:id="rId11"/>
    <p:sldId id="411" r:id="rId12"/>
    <p:sldId id="412" r:id="rId13"/>
    <p:sldId id="410" r:id="rId14"/>
    <p:sldId id="413" r:id="rId15"/>
    <p:sldId id="419" r:id="rId16"/>
    <p:sldId id="414" r:id="rId17"/>
    <p:sldId id="415" r:id="rId18"/>
    <p:sldId id="416" r:id="rId19"/>
    <p:sldId id="417" r:id="rId20"/>
    <p:sldId id="418" r:id="rId21"/>
    <p:sldId id="420" r:id="rId22"/>
    <p:sldId id="421" r:id="rId23"/>
    <p:sldId id="422" r:id="rId24"/>
    <p:sldId id="423" r:id="rId25"/>
    <p:sldId id="424" r:id="rId26"/>
    <p:sldId id="425" r:id="rId27"/>
    <p:sldId id="426" r:id="rId28"/>
    <p:sldId id="427" r:id="rId29"/>
    <p:sldId id="428" r:id="rId30"/>
    <p:sldId id="429" r:id="rId31"/>
    <p:sldId id="430" r:id="rId32"/>
    <p:sldId id="431" r:id="rId33"/>
    <p:sldId id="432" r:id="rId34"/>
    <p:sldId id="433" r:id="rId35"/>
    <p:sldId id="434" r:id="rId36"/>
    <p:sldId id="435" r:id="rId37"/>
    <p:sldId id="436" r:id="rId38"/>
    <p:sldId id="437" r:id="rId39"/>
    <p:sldId id="438" r:id="rId40"/>
    <p:sldId id="439" r:id="rId41"/>
    <p:sldId id="440" r:id="rId42"/>
    <p:sldId id="441" r:id="rId43"/>
    <p:sldId id="442" r:id="rId44"/>
    <p:sldId id="444" r:id="rId45"/>
    <p:sldId id="443" r:id="rId46"/>
    <p:sldId id="445" r:id="rId47"/>
    <p:sldId id="446" r:id="rId48"/>
    <p:sldId id="447" r:id="rId49"/>
    <p:sldId id="448" r:id="rId50"/>
    <p:sldId id="451" r:id="rId51"/>
    <p:sldId id="452" r:id="rId52"/>
    <p:sldId id="453" r:id="rId53"/>
    <p:sldId id="454" r:id="rId54"/>
    <p:sldId id="450" r:id="rId55"/>
    <p:sldId id="455" r:id="rId56"/>
    <p:sldId id="456" r:id="rId57"/>
    <p:sldId id="457" r:id="rId58"/>
    <p:sldId id="458" r:id="rId59"/>
    <p:sldId id="487" r:id="rId60"/>
    <p:sldId id="485" r:id="rId61"/>
    <p:sldId id="486" r:id="rId62"/>
    <p:sldId id="459" r:id="rId63"/>
    <p:sldId id="460" r:id="rId64"/>
    <p:sldId id="462" r:id="rId65"/>
    <p:sldId id="463" r:id="rId66"/>
    <p:sldId id="464" r:id="rId67"/>
    <p:sldId id="465" r:id="rId68"/>
    <p:sldId id="467" r:id="rId69"/>
    <p:sldId id="466" r:id="rId70"/>
    <p:sldId id="468" r:id="rId71"/>
    <p:sldId id="469" r:id="rId72"/>
    <p:sldId id="461" r:id="rId73"/>
    <p:sldId id="470" r:id="rId74"/>
    <p:sldId id="471" r:id="rId75"/>
    <p:sldId id="472" r:id="rId76"/>
    <p:sldId id="473" r:id="rId77"/>
    <p:sldId id="474" r:id="rId78"/>
    <p:sldId id="475" r:id="rId79"/>
    <p:sldId id="476" r:id="rId80"/>
    <p:sldId id="477" r:id="rId81"/>
    <p:sldId id="478" r:id="rId82"/>
    <p:sldId id="479" r:id="rId83"/>
    <p:sldId id="480" r:id="rId84"/>
    <p:sldId id="481" r:id="rId85"/>
    <p:sldId id="482" r:id="rId86"/>
    <p:sldId id="483" r:id="rId87"/>
    <p:sldId id="484" r:id="rId88"/>
    <p:sldId id="294" r:id="rId89"/>
  </p:sldIdLst>
  <p:sldSz cx="16257588" cy="10158413"/>
  <p:notesSz cx="7315200" cy="9601200"/>
  <p:defaultTextStyle>
    <a:defPPr>
      <a:defRPr lang="en-US"/>
    </a:defPPr>
    <a:lvl1pPr marL="0" algn="l" defTabSz="75470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1pPr>
    <a:lvl2pPr marL="754700" algn="l" defTabSz="75470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2pPr>
    <a:lvl3pPr marL="1509400" algn="l" defTabSz="75470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3pPr>
    <a:lvl4pPr marL="2264100" algn="l" defTabSz="75470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4pPr>
    <a:lvl5pPr marL="3018800" algn="l" defTabSz="75470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5pPr>
    <a:lvl6pPr marL="3773500" algn="l" defTabSz="75470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6pPr>
    <a:lvl7pPr marL="4528200" algn="l" defTabSz="75470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7pPr>
    <a:lvl8pPr marL="5282900" algn="l" defTabSz="75470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8pPr>
    <a:lvl9pPr marL="6037600" algn="l" defTabSz="75470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0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2C45"/>
    <a:srgbClr val="BD00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80" autoAdjust="0"/>
    <p:restoredTop sz="94624" autoAdjust="0"/>
  </p:normalViewPr>
  <p:slideViewPr>
    <p:cSldViewPr snapToGrid="0" snapToObjects="1">
      <p:cViewPr varScale="1">
        <p:scale>
          <a:sx n="75" d="100"/>
          <a:sy n="75" d="100"/>
        </p:scale>
        <p:origin x="1284" y="78"/>
      </p:cViewPr>
      <p:guideLst>
        <p:guide orient="horz" pos="3200"/>
        <p:guide pos="51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9" d="100"/>
          <a:sy n="89" d="100"/>
        </p:scale>
        <p:origin x="379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76" Type="http://schemas.openxmlformats.org/officeDocument/2006/relationships/slide" Target="slides/slide72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87" Type="http://schemas.openxmlformats.org/officeDocument/2006/relationships/slide" Target="slides/slide83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90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CB124FB8-E08D-2943-BA56-8D1B5F4ACD0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6288" y="720725"/>
            <a:ext cx="5762625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15932A0-F33A-7A49-A1D4-AAEF7D36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54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— Ein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688000"/>
            <a:ext cx="10798468" cy="13331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 noChangeAspect="1"/>
          </p:cNvSpPr>
          <p:nvPr>
            <p:ph type="ctrTitle" hasCustomPrompt="1"/>
          </p:nvPr>
        </p:nvSpPr>
        <p:spPr>
          <a:xfrm>
            <a:off x="144000" y="5832000"/>
            <a:ext cx="9180138" cy="1061796"/>
          </a:xfrm>
          <a:custGeom>
            <a:avLst/>
            <a:gdLst>
              <a:gd name="connsiteX0" fmla="*/ 0 w 5292000"/>
              <a:gd name="connsiteY0" fmla="*/ 0 h 1080000"/>
              <a:gd name="connsiteX1" fmla="*/ 5292000 w 5292000"/>
              <a:gd name="connsiteY1" fmla="*/ 0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5292000"/>
              <a:gd name="connsiteY0" fmla="*/ 0 h 1080000"/>
              <a:gd name="connsiteX1" fmla="*/ 4215675 w 5292000"/>
              <a:gd name="connsiteY1" fmla="*/ 3175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7664164"/>
              <a:gd name="connsiteY0" fmla="*/ 1587 h 1076825"/>
              <a:gd name="connsiteX1" fmla="*/ 6587839 w 7664164"/>
              <a:gd name="connsiteY1" fmla="*/ -1 h 1076825"/>
              <a:gd name="connsiteX2" fmla="*/ 7664164 w 7664164"/>
              <a:gd name="connsiteY2" fmla="*/ 1076824 h 1076825"/>
              <a:gd name="connsiteX3" fmla="*/ 2372164 w 7664164"/>
              <a:gd name="connsiteY3" fmla="*/ 1076824 h 1076825"/>
              <a:gd name="connsiteX4" fmla="*/ 0 w 7664164"/>
              <a:gd name="connsiteY4" fmla="*/ 1587 h 1076825"/>
              <a:gd name="connsiteX0" fmla="*/ 0 w 7664164"/>
              <a:gd name="connsiteY0" fmla="*/ 1589 h 1076825"/>
              <a:gd name="connsiteX1" fmla="*/ 6587839 w 7664164"/>
              <a:gd name="connsiteY1" fmla="*/ 1 h 1076825"/>
              <a:gd name="connsiteX2" fmla="*/ 7664164 w 7664164"/>
              <a:gd name="connsiteY2" fmla="*/ 1076826 h 1076825"/>
              <a:gd name="connsiteX3" fmla="*/ 0 w 7664164"/>
              <a:gd name="connsiteY3" fmla="*/ 1072063 h 1076825"/>
              <a:gd name="connsiteX4" fmla="*/ 0 w 7664164"/>
              <a:gd name="connsiteY4" fmla="*/ 1589 h 1076825"/>
              <a:gd name="connsiteX0" fmla="*/ 0 w 7675454"/>
              <a:gd name="connsiteY0" fmla="*/ 0 h 1075237"/>
              <a:gd name="connsiteX1" fmla="*/ 7675454 w 7675454"/>
              <a:gd name="connsiteY1" fmla="*/ 7405 h 1075237"/>
              <a:gd name="connsiteX2" fmla="*/ 7664164 w 7675454"/>
              <a:gd name="connsiteY2" fmla="*/ 1075237 h 1075237"/>
              <a:gd name="connsiteX3" fmla="*/ 0 w 7675454"/>
              <a:gd name="connsiteY3" fmla="*/ 1070474 h 1075237"/>
              <a:gd name="connsiteX4" fmla="*/ 0 w 7675454"/>
              <a:gd name="connsiteY4" fmla="*/ 0 h 1075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5454" h="1075237">
                <a:moveTo>
                  <a:pt x="0" y="0"/>
                </a:moveTo>
                <a:lnTo>
                  <a:pt x="7675454" y="7405"/>
                </a:lnTo>
                <a:lnTo>
                  <a:pt x="7664164" y="1075237"/>
                </a:lnTo>
                <a:lnTo>
                  <a:pt x="0" y="107047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wrap="none" lIns="360000" anchor="ctr" anchorCtr="0">
            <a:noAutofit/>
          </a:bodyPr>
          <a:lstStyle>
            <a:lvl1pPr algn="l">
              <a:lnSpc>
                <a:spcPts val="5000"/>
              </a:lnSpc>
              <a:defRPr sz="40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 noProof="0" dirty="0"/>
              <a:t>Energy and Storage Systems</a:t>
            </a:r>
          </a:p>
        </p:txBody>
      </p:sp>
      <p:pic>
        <p:nvPicPr>
          <p:cNvPr id="6" name="Picture 5"/>
          <p:cNvPicPr>
            <a:picLocks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3159" y="3676"/>
            <a:ext cx="13550400" cy="10159048"/>
          </a:xfrm>
          <a:prstGeom prst="rect">
            <a:avLst/>
          </a:prstGeom>
        </p:spPr>
      </p:pic>
      <p:pic>
        <p:nvPicPr>
          <p:cNvPr id="7" name="Bild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63995" y="245603"/>
            <a:ext cx="3078735" cy="693225"/>
          </a:xfrm>
          <a:prstGeom prst="rect">
            <a:avLst/>
          </a:prstGeom>
        </p:spPr>
      </p:pic>
      <p:sp>
        <p:nvSpPr>
          <p:cNvPr id="2" name="Textfeld 1"/>
          <p:cNvSpPr txBox="1"/>
          <p:nvPr userDrawn="1"/>
        </p:nvSpPr>
        <p:spPr>
          <a:xfrm>
            <a:off x="507600" y="7576261"/>
            <a:ext cx="101430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latin typeface="Arial" charset="0"/>
                <a:ea typeface="Arial" charset="0"/>
                <a:cs typeface="Arial" charset="0"/>
              </a:rPr>
              <a:t>Andreas Nenning</a:t>
            </a:r>
          </a:p>
          <a:p>
            <a:r>
              <a:rPr lang="en-US" noProof="0" dirty="0">
                <a:latin typeface="Arial" charset="0"/>
                <a:ea typeface="Arial" charset="0"/>
                <a:cs typeface="Arial" charset="0"/>
              </a:rPr>
              <a:t>Winter Term 2026</a:t>
            </a:r>
          </a:p>
          <a:p>
            <a:r>
              <a:rPr lang="en-US" noProof="0" dirty="0">
                <a:latin typeface="Arial" charset="0"/>
                <a:ea typeface="Arial" charset="0"/>
                <a:cs typeface="Arial" charset="0"/>
              </a:rPr>
              <a:t>Course Number 074742056201</a:t>
            </a:r>
          </a:p>
        </p:txBody>
      </p:sp>
    </p:spTree>
    <p:extLst>
      <p:ext uri="{BB962C8B-B14F-4D97-AF65-F5344CB8AC3E}">
        <p14:creationId xmlns:p14="http://schemas.microsoft.com/office/powerpoint/2010/main" val="3575957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/>
          <p:cNvSpPr>
            <a:spLocks noGrp="1" noChangeAspect="1"/>
          </p:cNvSpPr>
          <p:nvPr>
            <p:ph type="pic" sz="quarter" idx="10"/>
          </p:nvPr>
        </p:nvSpPr>
        <p:spPr>
          <a:xfrm>
            <a:off x="2741531" y="0"/>
            <a:ext cx="13545600" cy="101592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685800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080000" y="3600000"/>
            <a:ext cx="6553440" cy="1598400"/>
          </a:xfrm>
          <a:prstGeom prst="rect">
            <a:avLst/>
          </a:prstGeom>
          <a:noFill/>
          <a:ln>
            <a:noFill/>
          </a:ln>
        </p:spPr>
        <p:txBody>
          <a:bodyPr lIns="0" tIns="0" rIns="359938" bIns="0" anchor="t" anchorCtr="0">
            <a:noAutofit/>
          </a:bodyPr>
          <a:lstStyle>
            <a:lvl1pPr algn="l">
              <a:lnSpc>
                <a:spcPts val="5000"/>
              </a:lnSpc>
              <a:defRPr sz="4000" b="0" i="0" baseline="0">
                <a:ln>
                  <a:noFill/>
                </a:ln>
                <a:solidFill>
                  <a:srgbClr val="CE2C45"/>
                </a:solidFill>
                <a:latin typeface="Arial"/>
                <a:cs typeface="Arial"/>
              </a:defRPr>
            </a:lvl1pPr>
          </a:lstStyle>
          <a:p>
            <a:r>
              <a:rPr lang="de-AT" dirty="0"/>
              <a:t>Dies ist eine Kapitelfolie. </a:t>
            </a:r>
            <a:br>
              <a:rPr lang="de-AT" dirty="0"/>
            </a:br>
            <a:r>
              <a:rPr lang="de-AT" dirty="0"/>
              <a:t>WICHTIG, nicht mehr Text </a:t>
            </a:r>
            <a:br>
              <a:rPr lang="de-AT" dirty="0"/>
            </a:br>
            <a:r>
              <a:rPr lang="de-AT" dirty="0"/>
              <a:t>als diesen hier!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959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4"/>
          <p:cNvSpPr>
            <a:spLocks noGrp="1" noChangeAspect="1"/>
          </p:cNvSpPr>
          <p:nvPr>
            <p:ph type="pic" sz="quarter" idx="13"/>
          </p:nvPr>
        </p:nvSpPr>
        <p:spPr>
          <a:xfrm>
            <a:off x="12507689" y="1672934"/>
            <a:ext cx="3749899" cy="8517628"/>
          </a:xfrm>
          <a:custGeom>
            <a:avLst/>
            <a:gdLst/>
            <a:ahLst/>
            <a:cxnLst/>
            <a:rect l="l" t="t" r="r" b="b"/>
            <a:pathLst>
              <a:path w="2520000" h="5724000">
                <a:moveTo>
                  <a:pt x="0" y="0"/>
                </a:moveTo>
                <a:lnTo>
                  <a:pt x="2520000" y="0"/>
                </a:lnTo>
                <a:lnTo>
                  <a:pt x="2520000" y="5724000"/>
                </a:lnTo>
                <a:lnTo>
                  <a:pt x="1440000" y="5724000"/>
                </a:lnTo>
                <a:lnTo>
                  <a:pt x="0" y="428400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 noChangeAspect="1"/>
          </p:cNvSpPr>
          <p:nvPr>
            <p:ph type="title"/>
          </p:nvPr>
        </p:nvSpPr>
        <p:spPr>
          <a:xfrm>
            <a:off x="1080000" y="0"/>
            <a:ext cx="11880000" cy="1620000"/>
          </a:xfrm>
          <a:prstGeom prst="rect">
            <a:avLst/>
          </a:prstGeom>
          <a:noFill/>
          <a:ln>
            <a:noFill/>
          </a:ln>
        </p:spPr>
        <p:txBody>
          <a:bodyPr lIns="0" tIns="359938" rIns="359938" bIns="0" anchor="b" anchorCtr="0">
            <a:noAutofit/>
          </a:bodyPr>
          <a:lstStyle>
            <a:lvl1pPr algn="l">
              <a:lnSpc>
                <a:spcPts val="5000"/>
              </a:lnSpc>
              <a:defRPr sz="4000" b="0" i="0">
                <a:ln>
                  <a:noFill/>
                </a:ln>
                <a:solidFill>
                  <a:srgbClr val="CE2C45"/>
                </a:solidFill>
                <a:latin typeface="Arial"/>
                <a:cs typeface="Arial"/>
              </a:defRPr>
            </a:lvl1pPr>
          </a:lstStyle>
          <a:p>
            <a:r>
              <a:rPr lang="de-AT" noProof="0" dirty="0"/>
              <a:t>Click </a:t>
            </a:r>
            <a:r>
              <a:rPr lang="de-AT" noProof="0" dirty="0" err="1"/>
              <a:t>to</a:t>
            </a:r>
            <a:r>
              <a:rPr lang="de-AT" noProof="0" dirty="0"/>
              <a:t> </a:t>
            </a:r>
            <a:r>
              <a:rPr lang="de-AT" noProof="0" dirty="0" err="1"/>
              <a:t>edit</a:t>
            </a:r>
            <a:r>
              <a:rPr lang="de-AT" noProof="0" dirty="0"/>
              <a:t>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idx="11"/>
          </p:nvPr>
        </p:nvSpPr>
        <p:spPr>
          <a:xfrm>
            <a:off x="1079999" y="2411999"/>
            <a:ext cx="10440000" cy="684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20400" indent="-392400">
              <a:lnSpc>
                <a:spcPts val="4000"/>
              </a:lnSpc>
              <a:spcBef>
                <a:spcPts val="0"/>
              </a:spcBef>
              <a:spcAft>
                <a:spcPts val="600"/>
              </a:spcAft>
              <a:buSzPct val="70000"/>
              <a:buFont typeface="Lucida Grande"/>
              <a:buChar char="♦"/>
              <a:defRPr sz="3000">
                <a:latin typeface="Arial"/>
                <a:cs typeface="Arial"/>
              </a:defRPr>
            </a:lvl1pPr>
            <a:lvl2pPr marL="680400" indent="-248400">
              <a:lnSpc>
                <a:spcPts val="4000"/>
              </a:lnSpc>
              <a:spcBef>
                <a:spcPts val="0"/>
              </a:spcBef>
              <a:spcAft>
                <a:spcPts val="600"/>
              </a:spcAft>
              <a:buSzPct val="70000"/>
              <a:buFont typeface="Lucida Grande"/>
              <a:buChar char="-"/>
              <a:defRPr sz="3000">
                <a:latin typeface="Arial"/>
                <a:cs typeface="Arial"/>
              </a:defRPr>
            </a:lvl2pPr>
          </a:lstStyle>
          <a:p>
            <a:pPr lvl="0"/>
            <a:r>
              <a:rPr lang="de-AT" dirty="0"/>
              <a:t>Click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edit</a:t>
            </a:r>
            <a:r>
              <a:rPr lang="de-AT" dirty="0"/>
              <a:t> Master </a:t>
            </a:r>
            <a:r>
              <a:rPr lang="de-AT" dirty="0" err="1"/>
              <a:t>text</a:t>
            </a:r>
            <a:r>
              <a:rPr lang="de-AT" dirty="0"/>
              <a:t> </a:t>
            </a:r>
            <a:r>
              <a:rPr lang="de-AT" dirty="0" err="1"/>
              <a:t>styles</a:t>
            </a:r>
            <a:endParaRPr lang="de-AT" dirty="0"/>
          </a:p>
          <a:p>
            <a:pPr lvl="1"/>
            <a:r>
              <a:rPr lang="de-AT" dirty="0"/>
              <a:t>Second </a:t>
            </a:r>
            <a:r>
              <a:rPr lang="de-AT" dirty="0" err="1"/>
              <a:t>level</a:t>
            </a:r>
            <a:endParaRPr lang="de-AT" dirty="0"/>
          </a:p>
        </p:txBody>
      </p:sp>
      <p:cxnSp>
        <p:nvCxnSpPr>
          <p:cNvPr id="11" name="Gerade Verbindung 7"/>
          <p:cNvCxnSpPr/>
          <p:nvPr userDrawn="1"/>
        </p:nvCxnSpPr>
        <p:spPr>
          <a:xfrm>
            <a:off x="1080000" y="1656000"/>
            <a:ext cx="15177588" cy="0"/>
          </a:xfrm>
          <a:prstGeom prst="line">
            <a:avLst/>
          </a:prstGeom>
          <a:ln w="1270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541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ChangeAspect="1"/>
          </p:cNvSpPr>
          <p:nvPr>
            <p:ph type="title"/>
          </p:nvPr>
        </p:nvSpPr>
        <p:spPr>
          <a:xfrm>
            <a:off x="1080000" y="0"/>
            <a:ext cx="11880000" cy="1620000"/>
          </a:xfrm>
          <a:prstGeom prst="rect">
            <a:avLst/>
          </a:prstGeom>
          <a:noFill/>
          <a:ln>
            <a:noFill/>
          </a:ln>
        </p:spPr>
        <p:txBody>
          <a:bodyPr lIns="0" tIns="359938" rIns="359938" bIns="0" anchor="b" anchorCtr="0">
            <a:noAutofit/>
          </a:bodyPr>
          <a:lstStyle>
            <a:lvl1pPr algn="l">
              <a:lnSpc>
                <a:spcPts val="5000"/>
              </a:lnSpc>
              <a:defRPr sz="4000" b="0" i="0">
                <a:ln>
                  <a:noFill/>
                </a:ln>
                <a:solidFill>
                  <a:srgbClr val="CE2C45"/>
                </a:solidFill>
                <a:latin typeface="Arial"/>
                <a:cs typeface="Arial"/>
              </a:defRPr>
            </a:lvl1pPr>
          </a:lstStyle>
          <a:p>
            <a:r>
              <a:rPr lang="de-AT" noProof="0" dirty="0"/>
              <a:t>Click </a:t>
            </a:r>
            <a:r>
              <a:rPr lang="de-AT" noProof="0" dirty="0" err="1"/>
              <a:t>to</a:t>
            </a:r>
            <a:r>
              <a:rPr lang="de-AT" noProof="0" dirty="0"/>
              <a:t> </a:t>
            </a:r>
            <a:r>
              <a:rPr lang="de-AT" noProof="0" dirty="0" err="1"/>
              <a:t>edit</a:t>
            </a:r>
            <a:r>
              <a:rPr lang="de-AT" noProof="0" dirty="0"/>
              <a:t>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idx="11"/>
          </p:nvPr>
        </p:nvSpPr>
        <p:spPr>
          <a:xfrm>
            <a:off x="1079998" y="2411999"/>
            <a:ext cx="11880001" cy="684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20400" indent="-392400">
              <a:lnSpc>
                <a:spcPts val="4000"/>
              </a:lnSpc>
              <a:spcBef>
                <a:spcPts val="0"/>
              </a:spcBef>
              <a:spcAft>
                <a:spcPts val="600"/>
              </a:spcAft>
              <a:buSzPct val="70000"/>
              <a:buFont typeface="Lucida Grande"/>
              <a:buChar char="♦"/>
              <a:defRPr sz="3000">
                <a:latin typeface="Arial"/>
                <a:cs typeface="Arial"/>
              </a:defRPr>
            </a:lvl1pPr>
            <a:lvl2pPr marL="680400" indent="-285701">
              <a:lnSpc>
                <a:spcPts val="4000"/>
              </a:lnSpc>
              <a:spcBef>
                <a:spcPts val="0"/>
              </a:spcBef>
              <a:spcAft>
                <a:spcPts val="600"/>
              </a:spcAft>
              <a:buSzPct val="70000"/>
              <a:buFont typeface="Lucida Grande"/>
              <a:buChar char="-"/>
              <a:defRPr sz="3000">
                <a:latin typeface="Arial"/>
                <a:cs typeface="Arial"/>
              </a:defRPr>
            </a:lvl2pPr>
          </a:lstStyle>
          <a:p>
            <a:pPr lvl="0"/>
            <a:r>
              <a:rPr lang="de-AT" dirty="0"/>
              <a:t>Click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edit</a:t>
            </a:r>
            <a:r>
              <a:rPr lang="de-AT" dirty="0"/>
              <a:t> Master </a:t>
            </a:r>
            <a:r>
              <a:rPr lang="de-AT" dirty="0" err="1"/>
              <a:t>text</a:t>
            </a:r>
            <a:r>
              <a:rPr lang="de-AT" dirty="0"/>
              <a:t> </a:t>
            </a:r>
            <a:r>
              <a:rPr lang="de-AT" dirty="0" err="1"/>
              <a:t>styles</a:t>
            </a:r>
            <a:endParaRPr lang="de-AT" dirty="0"/>
          </a:p>
          <a:p>
            <a:pPr lvl="1"/>
            <a:r>
              <a:rPr lang="de-AT" dirty="0"/>
              <a:t>Second </a:t>
            </a:r>
            <a:r>
              <a:rPr lang="de-AT" dirty="0" err="1"/>
              <a:t>level</a:t>
            </a:r>
            <a:endParaRPr lang="de-AT" dirty="0"/>
          </a:p>
        </p:txBody>
      </p:sp>
      <p:cxnSp>
        <p:nvCxnSpPr>
          <p:cNvPr id="11" name="Gerade Verbindung 7"/>
          <p:cNvCxnSpPr/>
          <p:nvPr userDrawn="1"/>
        </p:nvCxnSpPr>
        <p:spPr>
          <a:xfrm>
            <a:off x="1080000" y="1656000"/>
            <a:ext cx="15177588" cy="0"/>
          </a:xfrm>
          <a:prstGeom prst="line">
            <a:avLst/>
          </a:prstGeom>
          <a:ln w="1270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488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folie-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4054" y="3769112"/>
            <a:ext cx="4763798" cy="1072643"/>
          </a:xfrm>
          <a:prstGeom prst="rect">
            <a:avLst/>
          </a:prstGeom>
        </p:spPr>
      </p:pic>
      <p:sp>
        <p:nvSpPr>
          <p:cNvPr id="11" name="Textfeld 5"/>
          <p:cNvSpPr txBox="1"/>
          <p:nvPr userDrawn="1"/>
        </p:nvSpPr>
        <p:spPr>
          <a:xfrm>
            <a:off x="0" y="5352761"/>
            <a:ext cx="16257588" cy="2564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de-DE" sz="1800" b="0" i="0" u="none" kern="1200" spc="40" dirty="0" err="1">
                <a:solidFill>
                  <a:schemeClr val="tx1"/>
                </a:solidFill>
                <a:latin typeface="Arial"/>
                <a:cs typeface="Arial"/>
              </a:rPr>
              <a:t>www.fhv.at</a:t>
            </a:r>
            <a:endParaRPr lang="de-DE" sz="1800" b="0" i="0" u="none" kern="1200" spc="4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Textfeld 3"/>
          <p:cNvSpPr txBox="1"/>
          <p:nvPr userDrawn="1"/>
        </p:nvSpPr>
        <p:spPr>
          <a:xfrm>
            <a:off x="2202127" y="6748002"/>
            <a:ext cx="118533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latin typeface="Arial" charset="0"/>
                <a:ea typeface="Arial" charset="0"/>
                <a:cs typeface="Arial" charset="0"/>
              </a:rPr>
              <a:t>Andreas Nenning</a:t>
            </a:r>
          </a:p>
          <a:p>
            <a:r>
              <a:rPr lang="en-US" noProof="0" dirty="0">
                <a:latin typeface="Arial" charset="0"/>
                <a:ea typeface="Arial" charset="0"/>
                <a:cs typeface="Arial" charset="0"/>
              </a:rPr>
              <a:t>Winter Term 2026</a:t>
            </a:r>
          </a:p>
          <a:p>
            <a:r>
              <a:rPr lang="en-US" noProof="0" dirty="0">
                <a:latin typeface="Arial" charset="0"/>
                <a:ea typeface="Arial" charset="0"/>
                <a:cs typeface="Arial" charset="0"/>
              </a:rPr>
              <a:t>Course Number 074742056201</a:t>
            </a:r>
          </a:p>
        </p:txBody>
      </p:sp>
    </p:spTree>
    <p:extLst>
      <p:ext uri="{BB962C8B-B14F-4D97-AF65-F5344CB8AC3E}">
        <p14:creationId xmlns:p14="http://schemas.microsoft.com/office/powerpoint/2010/main" val="658099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BFEABC-610E-4685-FDF8-FD75333DD2C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7879525" y="9972993"/>
            <a:ext cx="5270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859599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C0 - Public</a:t>
            </a:r>
          </a:p>
        </p:txBody>
      </p:sp>
    </p:spTree>
    <p:extLst>
      <p:ext uri="{BB962C8B-B14F-4D97-AF65-F5344CB8AC3E}">
        <p14:creationId xmlns:p14="http://schemas.microsoft.com/office/powerpoint/2010/main" val="2781461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58" r:id="rId2"/>
    <p:sldLayoutId id="2147483660" r:id="rId3"/>
    <p:sldLayoutId id="2147483661" r:id="rId4"/>
    <p:sldLayoutId id="2147483682" r:id="rId5"/>
  </p:sldLayoutIdLst>
  <p:txStyles>
    <p:titleStyle>
      <a:lvl1pPr algn="l" defTabSz="754700" rtl="0" eaLnBrk="1" latinLnBrk="0" hangingPunct="1">
        <a:lnSpc>
          <a:spcPts val="5000"/>
        </a:lnSpc>
        <a:spcBef>
          <a:spcPct val="0"/>
        </a:spcBef>
        <a:buNone/>
        <a:defRPr sz="400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566025" indent="-566025" algn="l" defTabSz="754700" rtl="0" eaLnBrk="1" latinLnBrk="0" hangingPunct="1">
        <a:lnSpc>
          <a:spcPts val="4000"/>
        </a:lnSpc>
        <a:spcBef>
          <a:spcPts val="0"/>
        </a:spcBef>
        <a:buFont typeface="Arial"/>
        <a:buChar char="•"/>
        <a:defRPr sz="3000" kern="1200">
          <a:solidFill>
            <a:schemeClr val="tx1"/>
          </a:solidFill>
          <a:latin typeface="Arial"/>
          <a:ea typeface="+mn-ea"/>
          <a:cs typeface="Arial"/>
        </a:defRPr>
      </a:lvl1pPr>
      <a:lvl2pPr marL="1226388" indent="-471688" algn="l" defTabSz="754700" rtl="0" eaLnBrk="1" latinLnBrk="0" hangingPunct="1">
        <a:lnSpc>
          <a:spcPts val="4000"/>
        </a:lnSpc>
        <a:spcBef>
          <a:spcPts val="0"/>
        </a:spcBef>
        <a:buFont typeface="Arial"/>
        <a:buChar char="–"/>
        <a:defRPr sz="3000" kern="1200">
          <a:solidFill>
            <a:schemeClr val="tx1"/>
          </a:solidFill>
          <a:latin typeface="Arial"/>
          <a:ea typeface="+mn-ea"/>
          <a:cs typeface="Arial"/>
        </a:defRPr>
      </a:lvl2pPr>
      <a:lvl3pPr marL="1886750" indent="-377350" algn="l" defTabSz="754700" rtl="0" eaLnBrk="1" latinLnBrk="0" hangingPunct="1">
        <a:lnSpc>
          <a:spcPts val="4000"/>
        </a:lnSpc>
        <a:spcBef>
          <a:spcPts val="0"/>
        </a:spcBef>
        <a:buFont typeface="Arial"/>
        <a:buChar char="•"/>
        <a:defRPr sz="3000" kern="1200">
          <a:solidFill>
            <a:schemeClr val="tx1"/>
          </a:solidFill>
          <a:latin typeface="Arial"/>
          <a:ea typeface="+mn-ea"/>
          <a:cs typeface="Arial"/>
        </a:defRPr>
      </a:lvl3pPr>
      <a:lvl4pPr marL="2641450" indent="-377350" algn="l" defTabSz="754700" rtl="0" eaLnBrk="1" latinLnBrk="0" hangingPunct="1">
        <a:lnSpc>
          <a:spcPts val="4000"/>
        </a:lnSpc>
        <a:spcBef>
          <a:spcPts val="0"/>
        </a:spcBef>
        <a:buFont typeface="Arial"/>
        <a:buChar char="–"/>
        <a:defRPr sz="3000" kern="1200">
          <a:solidFill>
            <a:schemeClr val="tx1"/>
          </a:solidFill>
          <a:latin typeface="Arial"/>
          <a:ea typeface="+mn-ea"/>
          <a:cs typeface="Arial"/>
        </a:defRPr>
      </a:lvl4pPr>
      <a:lvl5pPr marL="3396150" indent="-377350" algn="l" defTabSz="754700" rtl="0" eaLnBrk="1" latinLnBrk="0" hangingPunct="1">
        <a:lnSpc>
          <a:spcPts val="4000"/>
        </a:lnSpc>
        <a:spcBef>
          <a:spcPts val="0"/>
        </a:spcBef>
        <a:buFont typeface="Arial"/>
        <a:buChar char="»"/>
        <a:defRPr sz="3000" kern="1200">
          <a:solidFill>
            <a:schemeClr val="tx1"/>
          </a:solidFill>
          <a:latin typeface="Arial"/>
          <a:ea typeface="+mn-ea"/>
          <a:cs typeface="Arial"/>
        </a:defRPr>
      </a:lvl5pPr>
      <a:lvl6pPr marL="4150850" indent="-377350" algn="l" defTabSz="754700" rtl="0" eaLnBrk="1" latinLnBrk="0" hangingPunct="1">
        <a:spcBef>
          <a:spcPct val="20000"/>
        </a:spcBef>
        <a:buFont typeface="Arial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6pPr>
      <a:lvl7pPr marL="4905550" indent="-377350" algn="l" defTabSz="754700" rtl="0" eaLnBrk="1" latinLnBrk="0" hangingPunct="1">
        <a:spcBef>
          <a:spcPct val="20000"/>
        </a:spcBef>
        <a:buFont typeface="Arial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7pPr>
      <a:lvl8pPr marL="5660250" indent="-377350" algn="l" defTabSz="754700" rtl="0" eaLnBrk="1" latinLnBrk="0" hangingPunct="1">
        <a:spcBef>
          <a:spcPct val="20000"/>
        </a:spcBef>
        <a:buFont typeface="Arial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8pPr>
      <a:lvl9pPr marL="6414950" indent="-377350" algn="l" defTabSz="754700" rtl="0" eaLnBrk="1" latinLnBrk="0" hangingPunct="1">
        <a:spcBef>
          <a:spcPct val="20000"/>
        </a:spcBef>
        <a:buFont typeface="Arial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7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54700" algn="l" defTabSz="7547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509400" algn="l" defTabSz="7547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264100" algn="l" defTabSz="7547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18800" algn="l" defTabSz="7547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3500" algn="l" defTabSz="7547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528200" algn="l" defTabSz="7547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282900" algn="l" defTabSz="7547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037600" algn="l" defTabSz="7547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0p03UTgpnDU" TargetMode="Externa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665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_DSC5501 sw.tif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Renewable Power Plants</a:t>
            </a:r>
          </a:p>
        </p:txBody>
      </p:sp>
    </p:spTree>
    <p:extLst>
      <p:ext uri="{BB962C8B-B14F-4D97-AF65-F5344CB8AC3E}">
        <p14:creationId xmlns:p14="http://schemas.microsoft.com/office/powerpoint/2010/main" val="2263640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Hydro Power Plants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Since the beginning of civilization</a:t>
            </a:r>
          </a:p>
          <a:p>
            <a:r>
              <a:rPr lang="en-US" dirty="0"/>
              <a:t>Mainly used to generate mechanical driving power</a:t>
            </a:r>
          </a:p>
          <a:p>
            <a:endParaRPr lang="en-US" dirty="0"/>
          </a:p>
          <a:p>
            <a:r>
              <a:rPr lang="en-US" dirty="0"/>
              <a:t>Water has potential energy stored (altitude)</a:t>
            </a:r>
          </a:p>
          <a:p>
            <a:r>
              <a:rPr lang="en-US" dirty="0"/>
              <a:t>By flowing downwards – converted to kinetic energy</a:t>
            </a:r>
          </a:p>
          <a:p>
            <a:endParaRPr lang="en-US" dirty="0"/>
          </a:p>
          <a:p>
            <a:r>
              <a:rPr lang="en-US" dirty="0"/>
              <a:t>Types</a:t>
            </a:r>
          </a:p>
          <a:p>
            <a:pPr lvl="1"/>
            <a:r>
              <a:rPr lang="en-US" dirty="0"/>
              <a:t>River power plant</a:t>
            </a:r>
          </a:p>
          <a:p>
            <a:pPr lvl="1"/>
            <a:r>
              <a:rPr lang="en-US" dirty="0"/>
              <a:t>Storage power plant (incl. pump storage)</a:t>
            </a:r>
          </a:p>
          <a:p>
            <a:pPr lvl="1"/>
            <a:r>
              <a:rPr lang="en-US" dirty="0"/>
              <a:t>Oceanic power plant</a:t>
            </a:r>
          </a:p>
        </p:txBody>
      </p:sp>
    </p:spTree>
    <p:extLst>
      <p:ext uri="{BB962C8B-B14F-4D97-AF65-F5344CB8AC3E}">
        <p14:creationId xmlns:p14="http://schemas.microsoft.com/office/powerpoint/2010/main" val="908337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hydro power plants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248" y="2006851"/>
            <a:ext cx="12697058" cy="801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444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River Power Plant (</a:t>
            </a:r>
            <a:r>
              <a:rPr lang="en-US" dirty="0" err="1"/>
              <a:t>dt.</a:t>
            </a:r>
            <a:r>
              <a:rPr lang="en-US" dirty="0"/>
              <a:t> </a:t>
            </a:r>
            <a:r>
              <a:rPr lang="en-US" dirty="0" err="1"/>
              <a:t>Flusskraftwerke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Also known as run-of-river power plants</a:t>
            </a:r>
          </a:p>
          <a:p>
            <a:r>
              <a:rPr lang="en-US" dirty="0"/>
              <a:t>Natural flow of water is used to generate electricity</a:t>
            </a:r>
          </a:p>
          <a:p>
            <a:endParaRPr lang="en-US" dirty="0"/>
          </a:p>
          <a:p>
            <a:r>
              <a:rPr lang="en-US" dirty="0"/>
              <a:t>Can be</a:t>
            </a:r>
          </a:p>
          <a:p>
            <a:pPr lvl="1"/>
            <a:r>
              <a:rPr lang="en-US" dirty="0"/>
              <a:t>Build directly into the river</a:t>
            </a:r>
          </a:p>
          <a:p>
            <a:pPr lvl="1"/>
            <a:r>
              <a:rPr lang="en-US" dirty="0"/>
              <a:t>Fed by diversion canal</a:t>
            </a:r>
          </a:p>
          <a:p>
            <a:pPr lvl="1"/>
            <a:endParaRPr lang="en-US" dirty="0"/>
          </a:p>
          <a:p>
            <a:r>
              <a:rPr lang="en-US" dirty="0"/>
              <a:t>Directly in the river</a:t>
            </a:r>
          </a:p>
          <a:p>
            <a:pPr lvl="1"/>
            <a:r>
              <a:rPr lang="en-US" dirty="0"/>
              <a:t>Can produce more power</a:t>
            </a:r>
          </a:p>
          <a:p>
            <a:r>
              <a:rPr lang="en-US" dirty="0"/>
              <a:t>Diversion canal</a:t>
            </a:r>
          </a:p>
          <a:p>
            <a:pPr lvl="1"/>
            <a:r>
              <a:rPr lang="en-US" dirty="0"/>
              <a:t>Water is separated and led to the power house</a:t>
            </a:r>
          </a:p>
          <a:p>
            <a:pPr lvl="1"/>
            <a:r>
              <a:rPr lang="en-US" dirty="0"/>
              <a:t>Activities on the river are not influenced</a:t>
            </a:r>
          </a:p>
        </p:txBody>
      </p:sp>
    </p:spTree>
    <p:extLst>
      <p:ext uri="{BB962C8B-B14F-4D97-AF65-F5344CB8AC3E}">
        <p14:creationId xmlns:p14="http://schemas.microsoft.com/office/powerpoint/2010/main" val="2620510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River Power Plant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9" y="2411999"/>
            <a:ext cx="6655826" cy="6840000"/>
          </a:xfrm>
        </p:spPr>
        <p:txBody>
          <a:bodyPr/>
          <a:lstStyle/>
          <a:p>
            <a:r>
              <a:rPr lang="en-US" dirty="0"/>
              <a:t>Several possibilities to place the power house within the river</a:t>
            </a:r>
          </a:p>
          <a:p>
            <a:pPr marL="909049" lvl="1" indent="-514350">
              <a:buFont typeface="+mj-lt"/>
              <a:buAutoNum type="alphaLcPeriod"/>
            </a:pPr>
            <a:r>
              <a:rPr lang="en-US" dirty="0"/>
              <a:t>In an artificial bay. Optimal passage of floods</a:t>
            </a:r>
          </a:p>
          <a:p>
            <a:pPr marL="909049" lvl="1" indent="-514350">
              <a:buFont typeface="+mj-lt"/>
              <a:buAutoNum type="alphaLcPeriod"/>
            </a:pPr>
            <a:r>
              <a:rPr lang="en-US" dirty="0"/>
              <a:t>Two power houses at the river banks. Shared operation</a:t>
            </a:r>
          </a:p>
          <a:p>
            <a:pPr marL="909049" lvl="1" indent="-514350">
              <a:buFont typeface="+mj-lt"/>
              <a:buAutoNum type="alphaLcPeriod"/>
            </a:pPr>
            <a:r>
              <a:rPr lang="en-US" dirty="0"/>
              <a:t>Foundations conditions better in the river</a:t>
            </a:r>
          </a:p>
          <a:p>
            <a:pPr marL="909049" lvl="1" indent="-514350">
              <a:buFont typeface="+mj-lt"/>
              <a:buAutoNum type="alphaLcPeriod"/>
            </a:pPr>
            <a:r>
              <a:rPr lang="en-US" dirty="0"/>
              <a:t>Each turbine / generator has its own power house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339" y="2588675"/>
            <a:ext cx="8723809" cy="41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041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River Power Plant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8" y="2411999"/>
            <a:ext cx="7629899" cy="6840000"/>
          </a:xfrm>
        </p:spPr>
        <p:txBody>
          <a:bodyPr/>
          <a:lstStyle/>
          <a:p>
            <a:r>
              <a:rPr lang="en-US" dirty="0"/>
              <a:t>Sediment transportation needs to be considered</a:t>
            </a:r>
          </a:p>
          <a:p>
            <a:r>
              <a:rPr lang="en-US" dirty="0"/>
              <a:t>River bends</a:t>
            </a:r>
          </a:p>
          <a:p>
            <a:pPr lvl="1"/>
            <a:r>
              <a:rPr lang="en-US" dirty="0"/>
              <a:t>Inside: silting of sand and gravel</a:t>
            </a:r>
          </a:p>
          <a:p>
            <a:pPr lvl="1"/>
            <a:r>
              <a:rPr lang="en-US" dirty="0"/>
              <a:t>Outside: rotating currents are removing sediments</a:t>
            </a:r>
          </a:p>
          <a:p>
            <a:r>
              <a:rPr lang="en-US" dirty="0"/>
              <a:t>Protect inlet channel from silting</a:t>
            </a:r>
          </a:p>
          <a:p>
            <a:pPr lvl="1"/>
            <a:r>
              <a:rPr lang="en-US" dirty="0"/>
              <a:t>power house at outside</a:t>
            </a:r>
          </a:p>
          <a:p>
            <a:r>
              <a:rPr lang="en-US" dirty="0"/>
              <a:t>Usually Kaplan turbines used</a:t>
            </a:r>
          </a:p>
          <a:p>
            <a:pPr lvl="1"/>
            <a:r>
              <a:rPr lang="en-US" dirty="0"/>
              <a:t>work very well up to 25 m fall height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897" y="2649763"/>
            <a:ext cx="7547691" cy="636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081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Cascaded river power plants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9" y="2411999"/>
            <a:ext cx="8249486" cy="6840000"/>
          </a:xfrm>
        </p:spPr>
        <p:txBody>
          <a:bodyPr/>
          <a:lstStyle/>
          <a:p>
            <a:r>
              <a:rPr lang="en-US" dirty="0"/>
              <a:t>Suitable places</a:t>
            </a:r>
          </a:p>
          <a:p>
            <a:pPr lvl="1"/>
            <a:r>
              <a:rPr lang="en-US" dirty="0"/>
              <a:t>Large quantity of water</a:t>
            </a:r>
          </a:p>
          <a:p>
            <a:pPr lvl="1"/>
            <a:r>
              <a:rPr lang="en-US" dirty="0"/>
              <a:t>Good head over a large distance</a:t>
            </a:r>
          </a:p>
          <a:p>
            <a:pPr lvl="1"/>
            <a:endParaRPr lang="en-US" dirty="0"/>
          </a:p>
          <a:p>
            <a:r>
              <a:rPr lang="en-US" dirty="0"/>
              <a:t>Possible operation modes</a:t>
            </a:r>
          </a:p>
          <a:p>
            <a:pPr lvl="1"/>
            <a:r>
              <a:rPr lang="en-US" dirty="0"/>
              <a:t>Tipping operation (</a:t>
            </a:r>
            <a:r>
              <a:rPr lang="en-US" dirty="0" err="1"/>
              <a:t>dt.</a:t>
            </a:r>
            <a:r>
              <a:rPr lang="en-US" dirty="0"/>
              <a:t> </a:t>
            </a:r>
            <a:r>
              <a:rPr lang="en-US" dirty="0" err="1"/>
              <a:t>Kippbetrieb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Swell operation (</a:t>
            </a:r>
            <a:r>
              <a:rPr lang="en-US" dirty="0" err="1"/>
              <a:t>dt</a:t>
            </a:r>
            <a:r>
              <a:rPr lang="en-US" dirty="0"/>
              <a:t> </a:t>
            </a:r>
            <a:r>
              <a:rPr lang="en-US" dirty="0" err="1"/>
              <a:t>Schwellbetrieb</a:t>
            </a:r>
            <a:r>
              <a:rPr lang="en-US" dirty="0"/>
              <a:t>)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484" y="3401568"/>
            <a:ext cx="6928104" cy="459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441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Cascaded river power plants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9" y="2411999"/>
            <a:ext cx="8249486" cy="6840000"/>
          </a:xfrm>
        </p:spPr>
        <p:txBody>
          <a:bodyPr/>
          <a:lstStyle/>
          <a:p>
            <a:r>
              <a:rPr lang="en-US" dirty="0"/>
              <a:t>Tipping operation</a:t>
            </a:r>
          </a:p>
          <a:p>
            <a:pPr lvl="1"/>
            <a:r>
              <a:rPr lang="en-US" dirty="0"/>
              <a:t>All operating at the same time</a:t>
            </a:r>
          </a:p>
          <a:p>
            <a:pPr lvl="1"/>
            <a:r>
              <a:rPr lang="en-US" dirty="0"/>
              <a:t>Surface of water </a:t>
            </a:r>
            <a:r>
              <a:rPr lang="en-US" i="1" dirty="0"/>
              <a:t>tips</a:t>
            </a:r>
          </a:p>
          <a:p>
            <a:pPr lvl="1"/>
            <a:r>
              <a:rPr lang="en-US" dirty="0"/>
              <a:t>Maximum output immediately available</a:t>
            </a:r>
          </a:p>
          <a:p>
            <a:pPr lvl="1"/>
            <a:endParaRPr lang="en-US" dirty="0"/>
          </a:p>
          <a:p>
            <a:r>
              <a:rPr lang="en-US" dirty="0"/>
              <a:t>Swell operation</a:t>
            </a:r>
          </a:p>
          <a:p>
            <a:pPr lvl="1"/>
            <a:r>
              <a:rPr lang="en-US" dirty="0"/>
              <a:t>Sequentially activating energy production</a:t>
            </a:r>
          </a:p>
          <a:p>
            <a:pPr lvl="1"/>
            <a:r>
              <a:rPr lang="en-US" dirty="0"/>
              <a:t>Water head swells from one plant to another</a:t>
            </a:r>
          </a:p>
          <a:p>
            <a:pPr lvl="1"/>
            <a:r>
              <a:rPr lang="en-US" dirty="0"/>
              <a:t>Water travels like a wave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484" y="3401568"/>
            <a:ext cx="6928104" cy="459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839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Power Plants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9" y="2411999"/>
            <a:ext cx="8100578" cy="6840000"/>
          </a:xfrm>
        </p:spPr>
        <p:txBody>
          <a:bodyPr/>
          <a:lstStyle/>
          <a:p>
            <a:r>
              <a:rPr lang="en-US" dirty="0"/>
              <a:t>Store potential energy until its usage is needed</a:t>
            </a:r>
          </a:p>
          <a:p>
            <a:pPr lvl="1"/>
            <a:r>
              <a:rPr lang="en-US" dirty="0"/>
              <a:t>E.g. for medium or peak load hours</a:t>
            </a:r>
          </a:p>
          <a:p>
            <a:r>
              <a:rPr lang="en-US" dirty="0"/>
              <a:t>May or may not have natural water influx</a:t>
            </a:r>
          </a:p>
          <a:p>
            <a:pPr lvl="1"/>
            <a:r>
              <a:rPr lang="en-US" dirty="0"/>
              <a:t>long distance pipes used in mountain areas to collect water</a:t>
            </a:r>
          </a:p>
          <a:p>
            <a:r>
              <a:rPr lang="en-US" dirty="0"/>
              <a:t>Used turbines</a:t>
            </a:r>
          </a:p>
          <a:p>
            <a:pPr lvl="1"/>
            <a:r>
              <a:rPr lang="en-US" dirty="0"/>
              <a:t>Usually Francis turbines used </a:t>
            </a:r>
          </a:p>
          <a:p>
            <a:pPr lvl="2"/>
            <a:r>
              <a:rPr lang="en-US" dirty="0"/>
              <a:t>up to 2000 m fall height</a:t>
            </a:r>
          </a:p>
          <a:p>
            <a:pPr lvl="2"/>
            <a:r>
              <a:rPr lang="en-US" dirty="0"/>
              <a:t>Hugh amount of water</a:t>
            </a:r>
          </a:p>
          <a:p>
            <a:pPr lvl="1"/>
            <a:r>
              <a:rPr lang="en-US" dirty="0"/>
              <a:t>Occasionally also Pelton turbines</a:t>
            </a:r>
          </a:p>
          <a:p>
            <a:pPr lvl="2"/>
            <a:r>
              <a:rPr lang="en-US" dirty="0"/>
              <a:t>15 to 500 m fall height</a:t>
            </a:r>
          </a:p>
          <a:p>
            <a:pPr lvl="2"/>
            <a:r>
              <a:rPr lang="en-US" dirty="0"/>
              <a:t>Work with smaller water flow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015" y="3401568"/>
            <a:ext cx="7158998" cy="450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172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Pump Storage Power Plants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Located at high altitude</a:t>
            </a:r>
          </a:p>
          <a:p>
            <a:r>
              <a:rPr lang="en-US" dirty="0"/>
              <a:t>Have not enough water influx</a:t>
            </a:r>
          </a:p>
          <a:p>
            <a:r>
              <a:rPr lang="en-US" dirty="0"/>
              <a:t>Two water reservoirs are build</a:t>
            </a:r>
          </a:p>
          <a:p>
            <a:pPr lvl="1"/>
            <a:r>
              <a:rPr lang="en-US" dirty="0"/>
              <a:t>One on the bottom of the valley</a:t>
            </a:r>
          </a:p>
          <a:p>
            <a:pPr lvl="1"/>
            <a:r>
              <a:rPr lang="en-US" dirty="0"/>
              <a:t>One in the mountain</a:t>
            </a:r>
          </a:p>
          <a:p>
            <a:r>
              <a:rPr lang="en-US" dirty="0"/>
              <a:t>Water in these reservoirs are used to generate electricity</a:t>
            </a:r>
          </a:p>
          <a:p>
            <a:r>
              <a:rPr lang="en-US" dirty="0"/>
              <a:t>If water is quickly needed, water is send  down through the turbine into the lower basin</a:t>
            </a:r>
          </a:p>
          <a:p>
            <a:r>
              <a:rPr lang="en-US" dirty="0"/>
              <a:t>Water in the lower basin is pumped up when cheap energy is available</a:t>
            </a:r>
          </a:p>
          <a:p>
            <a:r>
              <a:rPr lang="en-US" dirty="0"/>
              <a:t>Usually operating in a cyclic manner (</a:t>
            </a:r>
            <a:r>
              <a:rPr lang="en-US" dirty="0" err="1"/>
              <a:t>dt.</a:t>
            </a:r>
            <a:r>
              <a:rPr lang="en-US" dirty="0"/>
              <a:t> </a:t>
            </a:r>
            <a:r>
              <a:rPr lang="en-US" dirty="0" err="1"/>
              <a:t>Wälzbetrieb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8872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Pump Storage Power Plant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093" y="2651451"/>
            <a:ext cx="10455571" cy="720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161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Pump Storage Power Plants -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8" y="2411999"/>
            <a:ext cx="13897874" cy="6840000"/>
          </a:xfrm>
        </p:spPr>
        <p:txBody>
          <a:bodyPr/>
          <a:lstStyle/>
          <a:p>
            <a:r>
              <a:rPr lang="en-US" dirty="0"/>
              <a:t>Upgrading (</a:t>
            </a:r>
            <a:r>
              <a:rPr lang="en-US" dirty="0" err="1"/>
              <a:t>dt.</a:t>
            </a:r>
            <a:r>
              <a:rPr lang="en-US" dirty="0"/>
              <a:t> </a:t>
            </a:r>
            <a:r>
              <a:rPr lang="en-US" dirty="0" err="1"/>
              <a:t>Veredelung</a:t>
            </a:r>
            <a:r>
              <a:rPr lang="en-US" dirty="0"/>
              <a:t>) of base load energy to peak load energy</a:t>
            </a:r>
          </a:p>
          <a:p>
            <a:r>
              <a:rPr lang="en-US" dirty="0"/>
              <a:t>Use of excess power (</a:t>
            </a:r>
            <a:r>
              <a:rPr lang="en-US" dirty="0" err="1"/>
              <a:t>dt.</a:t>
            </a:r>
            <a:r>
              <a:rPr lang="en-US" dirty="0"/>
              <a:t> </a:t>
            </a:r>
            <a:r>
              <a:rPr lang="en-US" dirty="0" err="1"/>
              <a:t>Überschussstrom</a:t>
            </a:r>
            <a:r>
              <a:rPr lang="en-US" dirty="0"/>
              <a:t>). E.g. from thermal power plants</a:t>
            </a:r>
          </a:p>
          <a:p>
            <a:r>
              <a:rPr lang="en-US" dirty="0"/>
              <a:t>Cover for peak load</a:t>
            </a:r>
          </a:p>
          <a:p>
            <a:r>
              <a:rPr lang="en-US" dirty="0"/>
              <a:t>Supports optimization of thermal power operation (Maximize their efficiency)</a:t>
            </a:r>
          </a:p>
          <a:p>
            <a:r>
              <a:rPr lang="en-US" dirty="0"/>
              <a:t>Supports power frequency control (</a:t>
            </a:r>
            <a:r>
              <a:rPr lang="en-US" dirty="0" err="1"/>
              <a:t>dt.</a:t>
            </a:r>
            <a:r>
              <a:rPr lang="en-US" dirty="0"/>
              <a:t> </a:t>
            </a:r>
            <a:r>
              <a:rPr lang="en-US" dirty="0" err="1"/>
              <a:t>Leistungsfrequenzregelung</a:t>
            </a:r>
            <a:r>
              <a:rPr lang="en-US" dirty="0"/>
              <a:t>) by quickly providing real power</a:t>
            </a:r>
          </a:p>
          <a:p>
            <a:r>
              <a:rPr lang="en-US" dirty="0"/>
              <a:t>Supports voltage control by providing reactive power (Phase shifting operation)</a:t>
            </a:r>
          </a:p>
          <a:p>
            <a:r>
              <a:rPr lang="en-US" dirty="0"/>
              <a:t>Supports black start of collapsed grid parts</a:t>
            </a:r>
          </a:p>
        </p:txBody>
      </p:sp>
    </p:spTree>
    <p:extLst>
      <p:ext uri="{BB962C8B-B14F-4D97-AF65-F5344CB8AC3E}">
        <p14:creationId xmlns:p14="http://schemas.microsoft.com/office/powerpoint/2010/main" val="4069465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Pump Storage Plants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9" y="2411999"/>
            <a:ext cx="6399794" cy="6840000"/>
          </a:xfrm>
        </p:spPr>
        <p:txBody>
          <a:bodyPr/>
          <a:lstStyle/>
          <a:p>
            <a:r>
              <a:rPr lang="en-US" dirty="0"/>
              <a:t>Classification</a:t>
            </a:r>
          </a:p>
          <a:p>
            <a:pPr lvl="1"/>
            <a:r>
              <a:rPr lang="en-US" dirty="0"/>
              <a:t>Pump storage power plant. Pump sees more than half of the water used by the turbine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Combined pump storage power plant. Natural influx is dominating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017" y="2876224"/>
            <a:ext cx="8628571" cy="5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488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Pump Storage Plants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9" y="2411999"/>
            <a:ext cx="6399794" cy="6840000"/>
          </a:xfrm>
        </p:spPr>
        <p:txBody>
          <a:bodyPr/>
          <a:lstStyle/>
          <a:p>
            <a:pPr marL="442350" indent="-514350">
              <a:buFont typeface="+mj-lt"/>
              <a:buAutoNum type="alphaLcPeriod"/>
            </a:pPr>
            <a:r>
              <a:rPr lang="en-US" dirty="0"/>
              <a:t>H</a:t>
            </a:r>
            <a:r>
              <a:rPr lang="en-US" baseline="-25000" dirty="0"/>
              <a:t>T </a:t>
            </a:r>
            <a:r>
              <a:rPr lang="en-US" dirty="0"/>
              <a:t>= H</a:t>
            </a:r>
            <a:r>
              <a:rPr lang="en-US" baseline="-25000" dirty="0"/>
              <a:t>P </a:t>
            </a:r>
            <a:r>
              <a:rPr lang="en-US" dirty="0"/>
              <a:t>; Classical Pump Storage</a:t>
            </a:r>
          </a:p>
          <a:p>
            <a:pPr marL="442350" indent="-514350">
              <a:buFont typeface="+mj-lt"/>
              <a:buAutoNum type="alphaLcPeriod"/>
            </a:pPr>
            <a:r>
              <a:rPr lang="en-US" dirty="0"/>
              <a:t>Natural water supply from several reservoirs</a:t>
            </a:r>
          </a:p>
          <a:p>
            <a:pPr marL="442350" indent="-514350">
              <a:buFont typeface="+mj-lt"/>
              <a:buAutoNum type="alphaLcPeriod"/>
            </a:pPr>
            <a:endParaRPr lang="en-US" dirty="0"/>
          </a:p>
          <a:p>
            <a:pPr marL="442350" indent="-514350">
              <a:buFont typeface="+mj-lt"/>
              <a:buAutoNum type="alphaLcPeriod"/>
            </a:pPr>
            <a:r>
              <a:rPr lang="en-US" dirty="0"/>
              <a:t>E.g. water collected from 3 side valleys in </a:t>
            </a:r>
            <a:r>
              <a:rPr lang="en-US" dirty="0" err="1"/>
              <a:t>Galtür-Wirl</a:t>
            </a:r>
            <a:r>
              <a:rPr lang="en-US" dirty="0"/>
              <a:t> is pumped to Kops basin H</a:t>
            </a:r>
            <a:r>
              <a:rPr lang="en-US" baseline="-25000" dirty="0"/>
              <a:t>P </a:t>
            </a:r>
            <a:r>
              <a:rPr lang="en-US" dirty="0"/>
              <a:t>= 130 m. Connected to </a:t>
            </a:r>
            <a:r>
              <a:rPr lang="en-US" dirty="0" err="1"/>
              <a:t>Caverne</a:t>
            </a:r>
            <a:r>
              <a:rPr lang="en-US" dirty="0"/>
              <a:t> power station in </a:t>
            </a:r>
            <a:r>
              <a:rPr lang="en-US" dirty="0" err="1"/>
              <a:t>Partenen</a:t>
            </a:r>
            <a:r>
              <a:rPr lang="en-US" dirty="0"/>
              <a:t> H</a:t>
            </a:r>
            <a:r>
              <a:rPr lang="en-US" baseline="-25000" dirty="0"/>
              <a:t>T </a:t>
            </a:r>
            <a:r>
              <a:rPr lang="en-US" dirty="0"/>
              <a:t>= 800 m</a:t>
            </a:r>
          </a:p>
          <a:p>
            <a:pPr marL="442350" indent="-514350">
              <a:buFont typeface="+mj-lt"/>
              <a:buAutoNum type="alphaLcPeriod"/>
            </a:pPr>
            <a:endParaRPr lang="en-US" dirty="0"/>
          </a:p>
          <a:p>
            <a:pPr marL="442350" indent="-514350">
              <a:buFont typeface="+mj-lt"/>
              <a:buAutoNum type="alphaLcPeriod"/>
            </a:pPr>
            <a:r>
              <a:rPr lang="en-US" dirty="0"/>
              <a:t>In case of high water</a:t>
            </a:r>
          </a:p>
          <a:p>
            <a:pPr lvl="1"/>
            <a:r>
              <a:rPr lang="en-US" dirty="0"/>
              <a:t>water is pumped to higher altitude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017" y="2876224"/>
            <a:ext cx="8628571" cy="5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994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Pump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Modern storage pump have a pump head H</a:t>
            </a:r>
            <a:r>
              <a:rPr lang="en-US" baseline="-25000" dirty="0"/>
              <a:t>P </a:t>
            </a:r>
            <a:r>
              <a:rPr lang="en-US" dirty="0"/>
              <a:t>of 500 to 800 m</a:t>
            </a:r>
          </a:p>
          <a:p>
            <a:endParaRPr lang="en-US" dirty="0"/>
          </a:p>
          <a:p>
            <a:r>
              <a:rPr lang="en-US" dirty="0"/>
              <a:t>Pump / turbine combinations</a:t>
            </a:r>
          </a:p>
          <a:p>
            <a:pPr lvl="1"/>
            <a:r>
              <a:rPr lang="en-US" dirty="0"/>
              <a:t>Francis turbines which can be used in both directions</a:t>
            </a:r>
          </a:p>
          <a:p>
            <a:pPr lvl="1"/>
            <a:r>
              <a:rPr lang="en-US" dirty="0"/>
              <a:t>They are reducing the construction costs by 30%</a:t>
            </a:r>
          </a:p>
          <a:p>
            <a:pPr lvl="1"/>
            <a:endParaRPr lang="en-US" dirty="0"/>
          </a:p>
          <a:p>
            <a:r>
              <a:rPr lang="en-US" dirty="0"/>
              <a:t>Pump and turbine separated -&gt; Tandem sets (</a:t>
            </a:r>
            <a:r>
              <a:rPr lang="en-US" dirty="0" err="1"/>
              <a:t>dt.</a:t>
            </a:r>
            <a:r>
              <a:rPr lang="en-US" dirty="0"/>
              <a:t> </a:t>
            </a:r>
            <a:r>
              <a:rPr lang="en-US" dirty="0" err="1"/>
              <a:t>Tandemsatz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Pelton or Francis turbines</a:t>
            </a:r>
          </a:p>
        </p:txBody>
      </p:sp>
    </p:spTree>
    <p:extLst>
      <p:ext uri="{BB962C8B-B14F-4D97-AF65-F5344CB8AC3E}">
        <p14:creationId xmlns:p14="http://schemas.microsoft.com/office/powerpoint/2010/main" val="1973170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Pump Storage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9" y="2411999"/>
            <a:ext cx="8137154" cy="6840000"/>
          </a:xfrm>
        </p:spPr>
        <p:txBody>
          <a:bodyPr/>
          <a:lstStyle/>
          <a:p>
            <a:r>
              <a:rPr lang="en-US" dirty="0"/>
              <a:t>Efficiency – up to 80 %</a:t>
            </a:r>
          </a:p>
          <a:p>
            <a:r>
              <a:rPr lang="en-US" dirty="0"/>
              <a:t>Efficiency dramatically better than thermal power plants</a:t>
            </a:r>
          </a:p>
          <a:p>
            <a:pPr lvl="1"/>
            <a:r>
              <a:rPr lang="en-US" dirty="0"/>
              <a:t>Conventional coal power plants 40 to 45%</a:t>
            </a:r>
          </a:p>
          <a:p>
            <a:pPr lvl="1"/>
            <a:r>
              <a:rPr lang="en-US" dirty="0"/>
              <a:t>Nuclear power plants 30 to 34 %</a:t>
            </a:r>
          </a:p>
          <a:p>
            <a:pPr lvl="1"/>
            <a:r>
              <a:rPr lang="en-US" dirty="0"/>
              <a:t>Combined cycle gas turbines (CCGT) reaching 60%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874" y="4979381"/>
            <a:ext cx="8085714" cy="40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38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Pump Storage Operation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Cyclic Operation (</a:t>
            </a:r>
            <a:r>
              <a:rPr lang="en-US" dirty="0" err="1"/>
              <a:t>dt.</a:t>
            </a:r>
            <a:r>
              <a:rPr lang="en-US" dirty="0"/>
              <a:t> </a:t>
            </a:r>
            <a:r>
              <a:rPr lang="en-US" dirty="0" err="1"/>
              <a:t>Wälzbetrieb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i="1" dirty="0"/>
              <a:t>Classical</a:t>
            </a:r>
            <a:r>
              <a:rPr lang="en-US" dirty="0"/>
              <a:t> operation mode</a:t>
            </a:r>
          </a:p>
          <a:p>
            <a:pPr lvl="1"/>
            <a:r>
              <a:rPr lang="en-US" dirty="0"/>
              <a:t>Provide energy for peak load</a:t>
            </a:r>
          </a:p>
          <a:p>
            <a:endParaRPr lang="en-US" dirty="0"/>
          </a:p>
          <a:p>
            <a:r>
              <a:rPr lang="en-US" dirty="0"/>
              <a:t>Doing </a:t>
            </a:r>
            <a:r>
              <a:rPr lang="en-US" i="1" dirty="0"/>
              <a:t>energy upgrading </a:t>
            </a:r>
            <a:r>
              <a:rPr lang="en-US" dirty="0"/>
              <a:t>(</a:t>
            </a:r>
            <a:r>
              <a:rPr lang="en-US" dirty="0" err="1"/>
              <a:t>dt.</a:t>
            </a:r>
            <a:r>
              <a:rPr lang="en-US" dirty="0"/>
              <a:t> </a:t>
            </a:r>
            <a:r>
              <a:rPr lang="en-US" dirty="0" err="1"/>
              <a:t>Veredelung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Use base load energy to pump up the water</a:t>
            </a:r>
          </a:p>
          <a:p>
            <a:endParaRPr lang="en-US" dirty="0"/>
          </a:p>
          <a:p>
            <a:r>
              <a:rPr lang="en-US" dirty="0"/>
              <a:t>Usually the basins are big enough having water for 3 to 5 hours</a:t>
            </a:r>
          </a:p>
        </p:txBody>
      </p:sp>
    </p:spTree>
    <p:extLst>
      <p:ext uri="{BB962C8B-B14F-4D97-AF65-F5344CB8AC3E}">
        <p14:creationId xmlns:p14="http://schemas.microsoft.com/office/powerpoint/2010/main" val="2773237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Pump Storage Operation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Liberalized electrical market – trade products</a:t>
            </a:r>
          </a:p>
          <a:p>
            <a:pPr lvl="1"/>
            <a:r>
              <a:rPr lang="en-US" dirty="0"/>
              <a:t>intraday trading</a:t>
            </a:r>
          </a:p>
          <a:p>
            <a:pPr lvl="1"/>
            <a:r>
              <a:rPr lang="en-US" dirty="0"/>
              <a:t>Increased share of fluctuating energy producers (WT, PV)</a:t>
            </a:r>
          </a:p>
          <a:p>
            <a:r>
              <a:rPr lang="en-US" dirty="0"/>
              <a:t>Price of peak load has decreased (Classical operation)</a:t>
            </a:r>
          </a:p>
          <a:p>
            <a:pPr lvl="1"/>
            <a:r>
              <a:rPr lang="en-US" dirty="0"/>
              <a:t>More thermal power plants are able to participate (spinning reserve)</a:t>
            </a:r>
          </a:p>
          <a:p>
            <a:r>
              <a:rPr lang="en-US" dirty="0"/>
              <a:t>Tertiary control (</a:t>
            </a:r>
            <a:r>
              <a:rPr lang="en-US" dirty="0" err="1"/>
              <a:t>dt.</a:t>
            </a:r>
            <a:r>
              <a:rPr lang="en-US" dirty="0"/>
              <a:t> </a:t>
            </a:r>
            <a:r>
              <a:rPr lang="en-US" dirty="0" err="1"/>
              <a:t>Minutenreserven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Low gas price – pump storage technology is competing with gas turbines</a:t>
            </a:r>
          </a:p>
          <a:p>
            <a:r>
              <a:rPr lang="en-US" dirty="0"/>
              <a:t>New measures needs to be established to ensure profitable operation</a:t>
            </a:r>
          </a:p>
          <a:p>
            <a:pPr lvl="1"/>
            <a:r>
              <a:rPr lang="en-US" dirty="0"/>
              <a:t>Capacity market ?</a:t>
            </a:r>
          </a:p>
        </p:txBody>
      </p:sp>
    </p:spTree>
    <p:extLst>
      <p:ext uri="{BB962C8B-B14F-4D97-AF65-F5344CB8AC3E}">
        <p14:creationId xmlns:p14="http://schemas.microsoft.com/office/powerpoint/2010/main" val="407587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Pump Storage – Phase shifting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Pump storage can be used to provide reactive power (phase shifting)</a:t>
            </a:r>
          </a:p>
          <a:p>
            <a:r>
              <a:rPr lang="en-US" dirty="0"/>
              <a:t>Reactive power is required for magnetizing</a:t>
            </a:r>
          </a:p>
          <a:p>
            <a:pPr lvl="1"/>
            <a:r>
              <a:rPr lang="en-US" dirty="0"/>
              <a:t>Transformer</a:t>
            </a:r>
          </a:p>
          <a:p>
            <a:pPr lvl="1"/>
            <a:r>
              <a:rPr lang="en-US" dirty="0"/>
              <a:t>Induction machines (</a:t>
            </a:r>
            <a:r>
              <a:rPr lang="en-US" dirty="0" err="1"/>
              <a:t>dt.</a:t>
            </a:r>
            <a:r>
              <a:rPr lang="en-US" dirty="0"/>
              <a:t> </a:t>
            </a:r>
            <a:r>
              <a:rPr lang="en-US" dirty="0" err="1"/>
              <a:t>Asynchronmaschinen</a:t>
            </a:r>
            <a:r>
              <a:rPr lang="en-US" dirty="0"/>
              <a:t>)</a:t>
            </a:r>
          </a:p>
          <a:p>
            <a:r>
              <a:rPr lang="en-US" dirty="0"/>
              <a:t>Big synchronous machines are used </a:t>
            </a:r>
          </a:p>
          <a:p>
            <a:pPr lvl="1"/>
            <a:r>
              <a:rPr lang="en-US" dirty="0"/>
              <a:t>Manipulating excitation current</a:t>
            </a:r>
          </a:p>
          <a:p>
            <a:pPr lvl="1"/>
            <a:r>
              <a:rPr lang="en-US" dirty="0"/>
              <a:t>Thus changing the phase angle between voltage and current in the stator windings</a:t>
            </a:r>
          </a:p>
          <a:p>
            <a:r>
              <a:rPr lang="en-US" dirty="0"/>
              <a:t>During phase shifting</a:t>
            </a:r>
          </a:p>
          <a:p>
            <a:pPr lvl="1"/>
            <a:r>
              <a:rPr lang="en-US" dirty="0"/>
              <a:t>No mechanical power supplied or consumed via rotor</a:t>
            </a:r>
          </a:p>
        </p:txBody>
      </p:sp>
    </p:spTree>
    <p:extLst>
      <p:ext uri="{BB962C8B-B14F-4D97-AF65-F5344CB8AC3E}">
        <p14:creationId xmlns:p14="http://schemas.microsoft.com/office/powerpoint/2010/main" val="2106095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Pump Storage Power Plant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8" y="2411999"/>
            <a:ext cx="7732439" cy="6840000"/>
          </a:xfrm>
        </p:spPr>
        <p:txBody>
          <a:bodyPr/>
          <a:lstStyle/>
          <a:p>
            <a:pPr marL="442350" indent="-514350">
              <a:buFont typeface="+mj-lt"/>
              <a:buAutoNum type="alphaLcParenR"/>
            </a:pPr>
            <a:r>
              <a:rPr lang="en-US" dirty="0"/>
              <a:t>Pump mode</a:t>
            </a:r>
          </a:p>
          <a:p>
            <a:pPr marL="442350" indent="-514350">
              <a:buFont typeface="+mj-lt"/>
              <a:buAutoNum type="alphaLcParenR"/>
            </a:pPr>
            <a:r>
              <a:rPr lang="en-US" dirty="0"/>
              <a:t>Generator mode</a:t>
            </a:r>
          </a:p>
          <a:p>
            <a:pPr marL="442350" indent="-514350">
              <a:buFont typeface="+mj-lt"/>
              <a:buAutoNum type="alphaLcParenR"/>
            </a:pPr>
            <a:r>
              <a:rPr lang="en-US" dirty="0"/>
              <a:t>Hydraulic short circuit (</a:t>
            </a:r>
            <a:r>
              <a:rPr lang="en-US" dirty="0" err="1"/>
              <a:t>dt.</a:t>
            </a:r>
            <a:r>
              <a:rPr lang="en-US" dirty="0"/>
              <a:t> </a:t>
            </a:r>
            <a:r>
              <a:rPr lang="en-US" dirty="0" err="1"/>
              <a:t>Hydraulischer</a:t>
            </a:r>
            <a:r>
              <a:rPr lang="en-US" dirty="0"/>
              <a:t> </a:t>
            </a:r>
            <a:r>
              <a:rPr lang="en-US" dirty="0" err="1"/>
              <a:t>Kurzschluss</a:t>
            </a:r>
            <a:r>
              <a:rPr lang="en-US" dirty="0"/>
              <a:t>)</a:t>
            </a:r>
          </a:p>
          <a:p>
            <a:pPr marL="442350" indent="-514350">
              <a:buFont typeface="+mj-lt"/>
              <a:buAutoNum type="alphaLcParenR"/>
            </a:pPr>
            <a:endParaRPr lang="en-US" dirty="0"/>
          </a:p>
          <a:p>
            <a:r>
              <a:rPr lang="en-US" dirty="0"/>
              <a:t>A fraction of the water flowing through the turbine during pumping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2437" y="3328416"/>
            <a:ext cx="7445151" cy="4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918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Pump Storage Power Plant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8" y="2411999"/>
            <a:ext cx="7732439" cy="6840000"/>
          </a:xfrm>
        </p:spPr>
        <p:txBody>
          <a:bodyPr/>
          <a:lstStyle/>
          <a:p>
            <a:r>
              <a:rPr lang="en-US" dirty="0"/>
              <a:t>Requires</a:t>
            </a:r>
          </a:p>
          <a:p>
            <a:pPr lvl="1"/>
            <a:r>
              <a:rPr lang="en-US" dirty="0"/>
              <a:t>Regulating pump</a:t>
            </a:r>
          </a:p>
          <a:p>
            <a:pPr lvl="1"/>
            <a:r>
              <a:rPr lang="en-US" dirty="0"/>
              <a:t>Tandem set</a:t>
            </a:r>
          </a:p>
          <a:p>
            <a:pPr lvl="1"/>
            <a:r>
              <a:rPr lang="en-US" dirty="0"/>
              <a:t>Low losses in pipes and joints</a:t>
            </a:r>
          </a:p>
          <a:p>
            <a:r>
              <a:rPr lang="en-US" dirty="0"/>
              <a:t>Advantage</a:t>
            </a:r>
          </a:p>
          <a:p>
            <a:pPr lvl="1"/>
            <a:r>
              <a:rPr lang="en-US" dirty="0"/>
              <a:t>Entire output power of the plant can be used within seconds for</a:t>
            </a:r>
          </a:p>
          <a:p>
            <a:pPr lvl="2"/>
            <a:r>
              <a:rPr lang="en-US" dirty="0"/>
              <a:t>Primary control</a:t>
            </a:r>
          </a:p>
          <a:p>
            <a:pPr lvl="2"/>
            <a:r>
              <a:rPr lang="en-US" dirty="0"/>
              <a:t>Secondary control</a:t>
            </a:r>
          </a:p>
          <a:p>
            <a:pPr lvl="2"/>
            <a:r>
              <a:rPr lang="en-US" dirty="0"/>
              <a:t>Power frequency support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2437" y="3328416"/>
            <a:ext cx="7445151" cy="4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0971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Pump Storage Power Plant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8" y="2411999"/>
            <a:ext cx="8082290" cy="6840000"/>
          </a:xfrm>
        </p:spPr>
        <p:txBody>
          <a:bodyPr/>
          <a:lstStyle/>
          <a:p>
            <a:r>
              <a:rPr lang="en-US" dirty="0"/>
              <a:t>Turbine control is used to steer the level of the upper basin (const.; increase, decrease)</a:t>
            </a:r>
          </a:p>
          <a:p>
            <a:endParaRPr lang="en-US" dirty="0"/>
          </a:p>
          <a:p>
            <a:r>
              <a:rPr lang="en-US" dirty="0"/>
              <a:t>Kops II can perform such operation</a:t>
            </a:r>
          </a:p>
          <a:p>
            <a:pPr lvl="1"/>
            <a:r>
              <a:rPr lang="en-US" dirty="0"/>
              <a:t>3 machines</a:t>
            </a:r>
          </a:p>
          <a:p>
            <a:pPr lvl="1"/>
            <a:r>
              <a:rPr lang="en-US" dirty="0"/>
              <a:t>Each 150 MW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2437" y="3328416"/>
            <a:ext cx="7445151" cy="4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5972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6826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Oceanic Power Plants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Great variety of types</a:t>
            </a:r>
          </a:p>
          <a:p>
            <a:pPr lvl="1"/>
            <a:r>
              <a:rPr lang="en-US" dirty="0"/>
              <a:t>Wave power plants</a:t>
            </a:r>
          </a:p>
          <a:p>
            <a:pPr lvl="1"/>
            <a:r>
              <a:rPr lang="en-US" dirty="0"/>
              <a:t>Tidal Power plants (</a:t>
            </a:r>
            <a:r>
              <a:rPr lang="en-US" dirty="0" err="1"/>
              <a:t>dt.</a:t>
            </a:r>
            <a:r>
              <a:rPr lang="en-US" dirty="0"/>
              <a:t> </a:t>
            </a:r>
            <a:r>
              <a:rPr lang="en-US" dirty="0" err="1"/>
              <a:t>Gezeitenkraftwerk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Oceanic heat power plant</a:t>
            </a:r>
          </a:p>
          <a:p>
            <a:pPr lvl="1"/>
            <a:r>
              <a:rPr lang="en-US" dirty="0"/>
              <a:t>Current power plant</a:t>
            </a:r>
          </a:p>
          <a:p>
            <a:endParaRPr lang="en-US" dirty="0"/>
          </a:p>
          <a:p>
            <a:r>
              <a:rPr lang="en-US" dirty="0"/>
              <a:t>Besides tidal turbines, they are all in a stage of technical development</a:t>
            </a:r>
          </a:p>
        </p:txBody>
      </p:sp>
    </p:spTree>
    <p:extLst>
      <p:ext uri="{BB962C8B-B14F-4D97-AF65-F5344CB8AC3E}">
        <p14:creationId xmlns:p14="http://schemas.microsoft.com/office/powerpoint/2010/main" val="10768620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 Power Plant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9" y="2411999"/>
            <a:ext cx="7369058" cy="6840000"/>
          </a:xfrm>
        </p:spPr>
        <p:txBody>
          <a:bodyPr/>
          <a:lstStyle/>
          <a:p>
            <a:r>
              <a:rPr lang="en-US" dirty="0"/>
              <a:t>Mechanically converts wave energy</a:t>
            </a:r>
          </a:p>
          <a:p>
            <a:r>
              <a:rPr lang="en-US" dirty="0"/>
              <a:t>Wave energy converted to pressure of fluid </a:t>
            </a:r>
          </a:p>
          <a:p>
            <a:endParaRPr lang="en-US" dirty="0"/>
          </a:p>
          <a:p>
            <a:r>
              <a:rPr lang="en-US" dirty="0"/>
              <a:t>Using a pendulum door (left scheme)</a:t>
            </a:r>
          </a:p>
          <a:p>
            <a:r>
              <a:rPr lang="en-US" dirty="0"/>
              <a:t>Wave water pressed air through a wind propeller (right scheme)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4450" y="3017520"/>
            <a:ext cx="8123138" cy="403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8201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Tidal Power Plants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8" y="2411999"/>
            <a:ext cx="13843009" cy="6840000"/>
          </a:xfrm>
        </p:spPr>
        <p:txBody>
          <a:bodyPr/>
          <a:lstStyle/>
          <a:p>
            <a:r>
              <a:rPr lang="en-US" dirty="0"/>
              <a:t>Similar constructed like river power plants</a:t>
            </a:r>
          </a:p>
          <a:p>
            <a:endParaRPr lang="en-US" dirty="0"/>
          </a:p>
          <a:p>
            <a:r>
              <a:rPr lang="en-US" dirty="0"/>
              <a:t>Have a dam</a:t>
            </a:r>
          </a:p>
          <a:p>
            <a:endParaRPr lang="en-US" dirty="0"/>
          </a:p>
          <a:p>
            <a:r>
              <a:rPr lang="en-US" dirty="0"/>
              <a:t>Water is stored on one side and during low tide on the other side</a:t>
            </a:r>
          </a:p>
        </p:txBody>
      </p:sp>
    </p:spTree>
    <p:extLst>
      <p:ext uri="{BB962C8B-B14F-4D97-AF65-F5344CB8AC3E}">
        <p14:creationId xmlns:p14="http://schemas.microsoft.com/office/powerpoint/2010/main" val="28397728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Oceanic heat power plants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Working principle Ocean Thermal Energy Conversion (OTEC)</a:t>
            </a:r>
          </a:p>
          <a:p>
            <a:endParaRPr lang="en-US" dirty="0"/>
          </a:p>
          <a:p>
            <a:r>
              <a:rPr lang="en-US" dirty="0"/>
              <a:t>Temperature differences between surface water and deep water</a:t>
            </a:r>
          </a:p>
          <a:p>
            <a:r>
              <a:rPr lang="en-US" dirty="0"/>
              <a:t>Difference is used to run a circuit which is used to produce electric energy</a:t>
            </a:r>
          </a:p>
          <a:p>
            <a:endParaRPr lang="en-US" dirty="0"/>
          </a:p>
          <a:p>
            <a:r>
              <a:rPr lang="en-US" dirty="0"/>
              <a:t>No OTEC power plant in commercial use</a:t>
            </a:r>
          </a:p>
        </p:txBody>
      </p:sp>
    </p:spTree>
    <p:extLst>
      <p:ext uri="{BB962C8B-B14F-4D97-AF65-F5344CB8AC3E}">
        <p14:creationId xmlns:p14="http://schemas.microsoft.com/office/powerpoint/2010/main" val="18944896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power plant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Works like under water wind energy plants</a:t>
            </a:r>
          </a:p>
          <a:p>
            <a:endParaRPr lang="en-US" dirty="0"/>
          </a:p>
          <a:p>
            <a:r>
              <a:rPr lang="en-US" dirty="0"/>
              <a:t>Energy of streaming water is converted by the rotor like a wind converter onshore</a:t>
            </a:r>
          </a:p>
        </p:txBody>
      </p:sp>
    </p:spTree>
    <p:extLst>
      <p:ext uri="{BB962C8B-B14F-4D97-AF65-F5344CB8AC3E}">
        <p14:creationId xmlns:p14="http://schemas.microsoft.com/office/powerpoint/2010/main" val="11651733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022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Fluid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Water (H</a:t>
            </a:r>
            <a:r>
              <a:rPr lang="en-US" baseline="-25000" dirty="0"/>
              <a:t>2</a:t>
            </a:r>
            <a:r>
              <a:rPr lang="en-US" dirty="0"/>
              <a:t>O) consists of one oxygen and two hydrogen atoms</a:t>
            </a:r>
          </a:p>
          <a:p>
            <a:endParaRPr lang="en-US" dirty="0"/>
          </a:p>
          <a:p>
            <a:r>
              <a:rPr lang="en-US" dirty="0"/>
              <a:t>Properties needs to be considered when constructing and operating a hydro power plant</a:t>
            </a:r>
          </a:p>
          <a:p>
            <a:endParaRPr lang="en-US" dirty="0"/>
          </a:p>
          <a:p>
            <a:r>
              <a:rPr lang="en-US" dirty="0"/>
              <a:t>Incompressible fluid</a:t>
            </a:r>
          </a:p>
          <a:p>
            <a:pPr lvl="1"/>
            <a:r>
              <a:rPr lang="en-US" dirty="0"/>
              <a:t>Increasing the pressure of water also increases the pressure to its surroundings</a:t>
            </a:r>
          </a:p>
          <a:p>
            <a:pPr lvl="1"/>
            <a:r>
              <a:rPr lang="en-US" dirty="0"/>
              <a:t>10 meters head is equal 1 bar</a:t>
            </a:r>
          </a:p>
          <a:p>
            <a:pPr lvl="1"/>
            <a:r>
              <a:rPr lang="en-US" dirty="0"/>
              <a:t>Water height of 800 m will result in 80 bar at the turbine</a:t>
            </a:r>
          </a:p>
        </p:txBody>
      </p:sp>
    </p:spTree>
    <p:extLst>
      <p:ext uri="{BB962C8B-B14F-4D97-AF65-F5344CB8AC3E}">
        <p14:creationId xmlns:p14="http://schemas.microsoft.com/office/powerpoint/2010/main" val="10006848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Fluid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8" y="2411999"/>
            <a:ext cx="13404098" cy="6840000"/>
          </a:xfrm>
        </p:spPr>
        <p:txBody>
          <a:bodyPr/>
          <a:lstStyle/>
          <a:p>
            <a:r>
              <a:rPr lang="en-US" dirty="0"/>
              <a:t>Density 1 gram per cm</a:t>
            </a:r>
            <a:r>
              <a:rPr lang="en-US" baseline="30000" dirty="0"/>
              <a:t>3</a:t>
            </a:r>
          </a:p>
          <a:p>
            <a:r>
              <a:rPr lang="en-US" dirty="0"/>
              <a:t>Increases volume between -4°C to -4°C</a:t>
            </a:r>
          </a:p>
          <a:p>
            <a:pPr lvl="1"/>
            <a:r>
              <a:rPr lang="en-US" dirty="0"/>
              <a:t>Could destroy machine parts</a:t>
            </a:r>
          </a:p>
          <a:p>
            <a:pPr lvl="1"/>
            <a:r>
              <a:rPr lang="en-US" dirty="0"/>
              <a:t>Heating required to avoid freezing</a:t>
            </a:r>
          </a:p>
          <a:p>
            <a:r>
              <a:rPr lang="en-US" dirty="0"/>
              <a:t>Evaporation</a:t>
            </a:r>
          </a:p>
          <a:p>
            <a:pPr lvl="1"/>
            <a:r>
              <a:rPr lang="en-US" dirty="0"/>
              <a:t>at 1 bar at 100°C</a:t>
            </a:r>
          </a:p>
          <a:p>
            <a:pPr lvl="1"/>
            <a:r>
              <a:rPr lang="en-US" dirty="0"/>
              <a:t>at 200 mbar already at 18°C</a:t>
            </a:r>
          </a:p>
          <a:p>
            <a:r>
              <a:rPr lang="en-US" dirty="0"/>
              <a:t>Solvent</a:t>
            </a:r>
          </a:p>
          <a:p>
            <a:pPr lvl="1"/>
            <a:r>
              <a:rPr lang="en-US" i="1" dirty="0"/>
              <a:t>Universal</a:t>
            </a:r>
            <a:r>
              <a:rPr lang="en-US" dirty="0"/>
              <a:t> solvent, dissolves more substances then any other liquid</a:t>
            </a:r>
          </a:p>
          <a:p>
            <a:pPr lvl="1"/>
            <a:r>
              <a:rPr lang="en-US" dirty="0"/>
              <a:t>Results in leaches (</a:t>
            </a:r>
            <a:r>
              <a:rPr lang="en-US" dirty="0" err="1"/>
              <a:t>dt.</a:t>
            </a:r>
            <a:r>
              <a:rPr lang="en-US" dirty="0"/>
              <a:t> </a:t>
            </a:r>
            <a:r>
              <a:rPr lang="en-US" dirty="0" err="1"/>
              <a:t>Laugen</a:t>
            </a:r>
            <a:r>
              <a:rPr lang="en-US" dirty="0"/>
              <a:t>) or acids</a:t>
            </a:r>
          </a:p>
          <a:p>
            <a:pPr lvl="1"/>
            <a:r>
              <a:rPr lang="en-US" dirty="0"/>
              <a:t>Might cause damage by corrosion</a:t>
            </a:r>
          </a:p>
        </p:txBody>
      </p:sp>
    </p:spTree>
    <p:extLst>
      <p:ext uri="{BB962C8B-B14F-4D97-AF65-F5344CB8AC3E}">
        <p14:creationId xmlns:p14="http://schemas.microsoft.com/office/powerpoint/2010/main" val="22154169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Flowing velocity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High energy in flowing water</a:t>
            </a:r>
          </a:p>
          <a:p>
            <a:pPr lvl="1"/>
            <a:r>
              <a:rPr lang="en-US" dirty="0"/>
              <a:t>Sand starts moving at 0.3 m/s</a:t>
            </a:r>
          </a:p>
          <a:p>
            <a:pPr lvl="1"/>
            <a:r>
              <a:rPr lang="en-US" dirty="0"/>
              <a:t>Smaller gravel: 1 m/s onwards</a:t>
            </a:r>
          </a:p>
          <a:p>
            <a:pPr lvl="1"/>
            <a:r>
              <a:rPr lang="en-US" dirty="0"/>
              <a:t>Bigger gravel: 1.3 m/s</a:t>
            </a:r>
          </a:p>
          <a:p>
            <a:r>
              <a:rPr lang="en-US" dirty="0"/>
              <a:t>Past</a:t>
            </a:r>
          </a:p>
          <a:p>
            <a:pPr lvl="1"/>
            <a:r>
              <a:rPr lang="en-US" dirty="0"/>
              <a:t>River straighten to protect areas from flooding</a:t>
            </a:r>
          </a:p>
          <a:p>
            <a:pPr lvl="1"/>
            <a:r>
              <a:rPr lang="en-US" dirty="0"/>
              <a:t>Also increased flow velocity –&gt; deepened the river bed</a:t>
            </a:r>
          </a:p>
          <a:p>
            <a:pPr lvl="1"/>
            <a:r>
              <a:rPr lang="en-US" dirty="0"/>
              <a:t>Lowering the groundwater level</a:t>
            </a:r>
          </a:p>
          <a:p>
            <a:r>
              <a:rPr lang="en-US" dirty="0"/>
              <a:t>Nowadays</a:t>
            </a:r>
          </a:p>
          <a:p>
            <a:pPr lvl="1"/>
            <a:r>
              <a:rPr lang="en-US" dirty="0"/>
              <a:t>Countermeasure – dam</a:t>
            </a:r>
          </a:p>
          <a:p>
            <a:pPr lvl="1"/>
            <a:r>
              <a:rPr lang="en-US" dirty="0"/>
              <a:t>Important argument for enabling hydro power plants</a:t>
            </a:r>
          </a:p>
        </p:txBody>
      </p:sp>
    </p:spTree>
    <p:extLst>
      <p:ext uri="{BB962C8B-B14F-4D97-AF65-F5344CB8AC3E}">
        <p14:creationId xmlns:p14="http://schemas.microsoft.com/office/powerpoint/2010/main" val="17874034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Flowing velocity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Basic working principle</a:t>
            </a:r>
          </a:p>
          <a:p>
            <a:pPr lvl="1"/>
            <a:r>
              <a:rPr lang="en-US" dirty="0"/>
              <a:t>potential energy due to its elevation </a:t>
            </a:r>
            <a:r>
              <a:rPr lang="en-US" i="1" dirty="0"/>
              <a:t>h </a:t>
            </a:r>
            <a:r>
              <a:rPr lang="en-US" dirty="0"/>
              <a:t>converted to kinetic energy</a:t>
            </a:r>
          </a:p>
          <a:p>
            <a:r>
              <a:rPr lang="en-US" dirty="0"/>
              <a:t>Amount of extracted energy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m: mass of water falling</a:t>
            </a:r>
          </a:p>
          <a:p>
            <a:pPr marL="0" indent="0">
              <a:buNone/>
            </a:pPr>
            <a:r>
              <a:rPr lang="en-US" dirty="0"/>
              <a:t>v: velocity</a:t>
            </a:r>
          </a:p>
          <a:p>
            <a:pPr marL="0" indent="0">
              <a:buNone/>
            </a:pPr>
            <a:r>
              <a:rPr lang="en-US" dirty="0"/>
              <a:t>g: </a:t>
            </a:r>
            <a:r>
              <a:rPr lang="en-US" dirty="0" err="1"/>
              <a:t>accel</a:t>
            </a:r>
            <a:r>
              <a:rPr lang="en-US" dirty="0"/>
              <a:t>. due to gravity</a:t>
            </a:r>
          </a:p>
          <a:p>
            <a:pPr marL="0" indent="0">
              <a:buNone/>
            </a:pPr>
            <a:r>
              <a:rPr lang="en-US" dirty="0"/>
              <a:t>h: height</a:t>
            </a:r>
          </a:p>
          <a:p>
            <a:pPr marL="0" indent="0">
              <a:buNone/>
            </a:pPr>
            <a:r>
              <a:rPr lang="en-US" dirty="0"/>
              <a:t>rho: density of water</a:t>
            </a:r>
          </a:p>
          <a:p>
            <a:pPr marL="0" indent="0">
              <a:buNone/>
            </a:pPr>
            <a:r>
              <a:rPr lang="en-US" dirty="0"/>
              <a:t>V: Volume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431" y="4462272"/>
            <a:ext cx="10791517" cy="120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535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Flowing velocity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Previous equation can be re-written as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equation shows that the velocity increases with the square root of the height.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9769" y="3305735"/>
            <a:ext cx="4323809" cy="1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5595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Extractable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b="1" dirty="0"/>
              <a:t>Bernoulli’s principle</a:t>
            </a:r>
          </a:p>
          <a:p>
            <a:pPr lvl="1"/>
            <a:r>
              <a:rPr lang="en-US" dirty="0"/>
              <a:t>Increase of velocity of a fluid causes</a:t>
            </a:r>
          </a:p>
          <a:p>
            <a:pPr lvl="1"/>
            <a:r>
              <a:rPr lang="en-US" dirty="0"/>
              <a:t>Decrease in pressure or a decrease in the fluids potential energy</a:t>
            </a:r>
          </a:p>
          <a:p>
            <a:pPr lvl="1"/>
            <a:r>
              <a:rPr lang="en-US" dirty="0"/>
              <a:t>Kinetic energy + pressure energy + potential energy = constant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9" y="5419101"/>
            <a:ext cx="9594574" cy="448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3226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Extractable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Water stored in an open reservoir at a height </a:t>
            </a:r>
            <a:r>
              <a:rPr lang="en-US" i="1" dirty="0"/>
              <a:t>h</a:t>
            </a:r>
            <a:r>
              <a:rPr lang="en-US" dirty="0"/>
              <a:t> has only one component for potential energy</a:t>
            </a:r>
          </a:p>
          <a:p>
            <a:r>
              <a:rPr lang="en-US" dirty="0"/>
              <a:t>Pressure and kinetic energy are absent</a:t>
            </a:r>
          </a:p>
          <a:p>
            <a:r>
              <a:rPr lang="en-US" dirty="0"/>
              <a:t>Thus, total power generated from water due its heights: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246" y="4699618"/>
            <a:ext cx="8657143" cy="4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3874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Extractable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This equation shows, power output depends mainly on</a:t>
            </a:r>
          </a:p>
          <a:p>
            <a:pPr lvl="1"/>
            <a:r>
              <a:rPr lang="en-US" dirty="0"/>
              <a:t>Volume of flow</a:t>
            </a:r>
          </a:p>
          <a:p>
            <a:pPr lvl="1"/>
            <a:r>
              <a:rPr lang="en-US" dirty="0"/>
              <a:t>Height</a:t>
            </a:r>
          </a:p>
          <a:p>
            <a:r>
              <a:rPr lang="en-US" dirty="0"/>
              <a:t>Overall efficiency eta is dominated by the generator and turbine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246" y="4699618"/>
            <a:ext cx="8657143" cy="4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6778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501" y="2355396"/>
            <a:ext cx="11398498" cy="717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4009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Continuity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Continuity equation (</a:t>
            </a:r>
            <a:r>
              <a:rPr lang="en-US" dirty="0" err="1"/>
              <a:t>dt.</a:t>
            </a:r>
            <a:r>
              <a:rPr lang="en-US" dirty="0"/>
              <a:t> </a:t>
            </a:r>
            <a:r>
              <a:rPr lang="en-US" dirty="0" err="1"/>
              <a:t>Kontinuitätsgleichung</a:t>
            </a:r>
            <a:r>
              <a:rPr lang="en-US" dirty="0"/>
              <a:t>) states</a:t>
            </a:r>
          </a:p>
          <a:p>
            <a:pPr lvl="1"/>
            <a:r>
              <a:rPr lang="en-US" dirty="0"/>
              <a:t>Product of velocity v and cross section area A of flow remains constant</a:t>
            </a:r>
          </a:p>
          <a:p>
            <a:pPr lvl="1"/>
            <a:r>
              <a:rPr lang="en-US" dirty="0"/>
              <a:t>Incompressible is a property of water</a:t>
            </a:r>
          </a:p>
          <a:p>
            <a:r>
              <a:rPr lang="en-US" dirty="0"/>
              <a:t>For smaller cross section the water flow velocity increases</a:t>
            </a:r>
          </a:p>
          <a:p>
            <a:r>
              <a:rPr lang="en-US" dirty="0"/>
              <a:t>For larger cross section the water flow velocity decreases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331" y="6528816"/>
            <a:ext cx="10756232" cy="170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0558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Cavitation erosion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9" y="2411999"/>
            <a:ext cx="10072280" cy="6840000"/>
          </a:xfrm>
        </p:spPr>
        <p:txBody>
          <a:bodyPr/>
          <a:lstStyle/>
          <a:p>
            <a:r>
              <a:rPr lang="en-US" dirty="0"/>
              <a:t>Phenomenon cavitation erosion happens close to hydro power plant equipment</a:t>
            </a:r>
          </a:p>
          <a:p>
            <a:endParaRPr lang="en-US" dirty="0"/>
          </a:p>
          <a:p>
            <a:r>
              <a:rPr lang="en-US" dirty="0"/>
              <a:t>Water boils at low pressure. </a:t>
            </a:r>
          </a:p>
          <a:p>
            <a:endParaRPr lang="en-US" dirty="0"/>
          </a:p>
          <a:p>
            <a:r>
              <a:rPr lang="en-US" dirty="0"/>
              <a:t>Causes vapor bubbles</a:t>
            </a:r>
          </a:p>
          <a:p>
            <a:endParaRPr lang="en-US" dirty="0"/>
          </a:p>
          <a:p>
            <a:r>
              <a:rPr lang="en-US" dirty="0"/>
              <a:t>Water with bubbles travel toward low pressure zones</a:t>
            </a:r>
          </a:p>
          <a:p>
            <a:endParaRPr lang="en-US" dirty="0"/>
          </a:p>
          <a:p>
            <a:r>
              <a:rPr lang="en-US" dirty="0"/>
              <a:t>They collapse causing a rush of water fill the empty space and causing dents (</a:t>
            </a:r>
            <a:r>
              <a:rPr lang="en-US" dirty="0" err="1"/>
              <a:t>dt.</a:t>
            </a:r>
            <a:r>
              <a:rPr lang="en-US" dirty="0"/>
              <a:t> </a:t>
            </a:r>
            <a:r>
              <a:rPr lang="en-US" dirty="0" err="1"/>
              <a:t>dellen</a:t>
            </a:r>
            <a:r>
              <a:rPr lang="en-US" dirty="0"/>
              <a:t>) on the equipment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2278" y="3493007"/>
            <a:ext cx="4906973" cy="356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41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Cavitation erosion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9" y="2411999"/>
            <a:ext cx="10072280" cy="6840000"/>
          </a:xfrm>
        </p:spPr>
        <p:txBody>
          <a:bodyPr/>
          <a:lstStyle/>
          <a:p>
            <a:r>
              <a:rPr lang="en-US" dirty="0"/>
              <a:t>Occurs under</a:t>
            </a:r>
          </a:p>
          <a:p>
            <a:pPr lvl="1"/>
            <a:r>
              <a:rPr lang="en-US" dirty="0"/>
              <a:t>high velocity</a:t>
            </a:r>
          </a:p>
          <a:p>
            <a:pPr lvl="1"/>
            <a:r>
              <a:rPr lang="en-US" dirty="0"/>
              <a:t>low pressure flow conditions</a:t>
            </a:r>
          </a:p>
          <a:p>
            <a:pPr lvl="1"/>
            <a:endParaRPr lang="en-US" dirty="0"/>
          </a:p>
          <a:p>
            <a:r>
              <a:rPr lang="en-US" dirty="0"/>
              <a:t>For instance a pump storage power plant</a:t>
            </a:r>
          </a:p>
          <a:p>
            <a:pPr lvl="1"/>
            <a:r>
              <a:rPr lang="en-US" dirty="0"/>
              <a:t>water is sucked in</a:t>
            </a:r>
          </a:p>
          <a:p>
            <a:pPr lvl="2"/>
            <a:r>
              <a:rPr lang="en-US" dirty="0"/>
              <a:t>pressure reduced to 20 mbar</a:t>
            </a:r>
          </a:p>
          <a:p>
            <a:pPr lvl="2"/>
            <a:r>
              <a:rPr lang="en-US" dirty="0"/>
              <a:t>water starts to evaporate at 18 °C</a:t>
            </a:r>
          </a:p>
          <a:p>
            <a:pPr lvl="1"/>
            <a:r>
              <a:rPr lang="en-US" dirty="0"/>
              <a:t>Pressure starts to rise at the pumping blades and pipes</a:t>
            </a:r>
          </a:p>
          <a:p>
            <a:pPr lvl="1"/>
            <a:r>
              <a:rPr lang="en-US" dirty="0"/>
              <a:t>Vapor condenses and becomes </a:t>
            </a:r>
            <a:r>
              <a:rPr lang="en-US" dirty="0" err="1"/>
              <a:t>thiny</a:t>
            </a:r>
            <a:r>
              <a:rPr lang="en-US" dirty="0"/>
              <a:t> drops</a:t>
            </a:r>
          </a:p>
          <a:p>
            <a:pPr lvl="1"/>
            <a:r>
              <a:rPr lang="en-US" dirty="0"/>
              <a:t>This drops have a very high velocity -&gt; cause erosion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2278" y="3493007"/>
            <a:ext cx="4906973" cy="356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22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Cavitation erosion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9" y="2411999"/>
            <a:ext cx="10072280" cy="6840000"/>
          </a:xfrm>
        </p:spPr>
        <p:txBody>
          <a:bodyPr/>
          <a:lstStyle/>
          <a:p>
            <a:r>
              <a:rPr lang="en-US" dirty="0"/>
              <a:t>Happens also when within pipes when the cross section </a:t>
            </a:r>
            <a:r>
              <a:rPr lang="en-US" i="1" dirty="0"/>
              <a:t>A</a:t>
            </a:r>
            <a:r>
              <a:rPr lang="en-US" dirty="0"/>
              <a:t> changes and thus also the pressure </a:t>
            </a:r>
            <a:r>
              <a:rPr lang="en-US" i="1" dirty="0"/>
              <a:t>p</a:t>
            </a:r>
          </a:p>
          <a:p>
            <a:endParaRPr lang="en-US" i="1" dirty="0"/>
          </a:p>
          <a:p>
            <a:r>
              <a:rPr lang="en-US" dirty="0"/>
              <a:t>Computer Fluid Dynamics (CFD) software used for designing hydro power plants</a:t>
            </a:r>
          </a:p>
          <a:p>
            <a:endParaRPr lang="en-US" dirty="0"/>
          </a:p>
          <a:p>
            <a:r>
              <a:rPr lang="en-US" dirty="0"/>
              <a:t>In the daily operation cavitation cannot be avoided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2278" y="3493007"/>
            <a:ext cx="4906973" cy="356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8435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8098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Hydro turbines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Names after their inventors</a:t>
            </a:r>
          </a:p>
          <a:p>
            <a:pPr lvl="1"/>
            <a:r>
              <a:rPr lang="en-US" dirty="0"/>
              <a:t>Francis turbine</a:t>
            </a:r>
          </a:p>
          <a:p>
            <a:pPr lvl="1"/>
            <a:r>
              <a:rPr lang="en-US" dirty="0"/>
              <a:t>Pelton turbine</a:t>
            </a:r>
          </a:p>
          <a:p>
            <a:pPr lvl="1"/>
            <a:r>
              <a:rPr lang="en-US" dirty="0"/>
              <a:t>Kaplan turbine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https://www.youtube.com/watch?v=k0BLOKEZ3KU</a:t>
            </a:r>
          </a:p>
        </p:txBody>
      </p:sp>
    </p:spTree>
    <p:extLst>
      <p:ext uri="{BB962C8B-B14F-4D97-AF65-F5344CB8AC3E}">
        <p14:creationId xmlns:p14="http://schemas.microsoft.com/office/powerpoint/2010/main" val="39091469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Francis turbine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James Francis</a:t>
            </a:r>
          </a:p>
          <a:p>
            <a:r>
              <a:rPr lang="en-US" dirty="0"/>
              <a:t>British-American civil engineer</a:t>
            </a:r>
          </a:p>
          <a:p>
            <a:r>
              <a:rPr lang="en-US" dirty="0"/>
              <a:t>Invented the Francis turbine 1849</a:t>
            </a:r>
          </a:p>
          <a:p>
            <a:endParaRPr lang="en-US" dirty="0"/>
          </a:p>
          <a:p>
            <a:r>
              <a:rPr lang="en-US" dirty="0"/>
              <a:t>Reaction machine</a:t>
            </a:r>
          </a:p>
          <a:p>
            <a:pPr lvl="1"/>
            <a:r>
              <a:rPr lang="en-US" dirty="0"/>
              <a:t>water flow changes its momentum</a:t>
            </a:r>
          </a:p>
          <a:p>
            <a:pPr lvl="1"/>
            <a:r>
              <a:rPr lang="en-US" dirty="0"/>
              <a:t>gives energy to the surface of the turbine blades</a:t>
            </a:r>
          </a:p>
          <a:p>
            <a:pPr lvl="1"/>
            <a:r>
              <a:rPr lang="en-US" dirty="0"/>
              <a:t>causes change of pressure due to their profile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https://www.youtube.com/watch?v=3BCiFeykRzo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1826783"/>
            <a:ext cx="3578843" cy="479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806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Francis turbine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9" y="2411999"/>
            <a:ext cx="8594354" cy="6840000"/>
          </a:xfrm>
        </p:spPr>
        <p:txBody>
          <a:bodyPr/>
          <a:lstStyle/>
          <a:p>
            <a:r>
              <a:rPr lang="en-US" dirty="0"/>
              <a:t>Adjustable blades causing the water flow to enter at Inlet point 2</a:t>
            </a:r>
          </a:p>
          <a:p>
            <a:r>
              <a:rPr lang="en-US" dirty="0"/>
              <a:t>With an angular momentum in the direction of rotation</a:t>
            </a:r>
          </a:p>
          <a:p>
            <a:r>
              <a:rPr lang="en-US" dirty="0"/>
              <a:t>The curve shape of the rotor blades force the water to leave at Outlet point 1</a:t>
            </a:r>
          </a:p>
          <a:p>
            <a:r>
              <a:rPr lang="en-US" dirty="0"/>
              <a:t>The change of angular momentum of the fluid between runner inlet and outlet causes torque on the shaft</a:t>
            </a:r>
          </a:p>
          <a:p>
            <a:r>
              <a:rPr lang="en-US" dirty="0"/>
              <a:t>Guide vanes (in the stator) are directing the water tangentially to the turbine wheel</a:t>
            </a:r>
          </a:p>
          <a:p>
            <a:r>
              <a:rPr lang="en-US" dirty="0"/>
              <a:t>90° between inlet and outlet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1489" y="1828799"/>
            <a:ext cx="5231832" cy="4569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1824" y="6607529"/>
            <a:ext cx="5424174" cy="314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360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Pelton turbine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Lester Allan Pelton (1829 – 1908)</a:t>
            </a:r>
          </a:p>
          <a:p>
            <a:r>
              <a:rPr lang="en-US" dirty="0"/>
              <a:t>American inventor</a:t>
            </a:r>
          </a:p>
          <a:p>
            <a:r>
              <a:rPr lang="en-US" dirty="0"/>
              <a:t>Studied working principle during gold rush (mining)</a:t>
            </a:r>
          </a:p>
          <a:p>
            <a:r>
              <a:rPr lang="en-US" dirty="0"/>
              <a:t>Found out</a:t>
            </a:r>
          </a:p>
          <a:p>
            <a:pPr lvl="1"/>
            <a:r>
              <a:rPr lang="en-US" dirty="0"/>
              <a:t>Split double cup</a:t>
            </a:r>
          </a:p>
          <a:p>
            <a:pPr lvl="1"/>
            <a:r>
              <a:rPr lang="en-US" dirty="0"/>
              <a:t>Splitting the jet directly onto the common vane</a:t>
            </a:r>
          </a:p>
          <a:p>
            <a:pPr lvl="1"/>
            <a:r>
              <a:rPr lang="en-US" dirty="0"/>
              <a:t>stream kinetic energy is captured more efficiently</a:t>
            </a:r>
          </a:p>
          <a:p>
            <a:r>
              <a:rPr lang="en-US" dirty="0"/>
              <a:t>First turbine 1870</a:t>
            </a:r>
          </a:p>
          <a:p>
            <a:r>
              <a:rPr lang="en-US" dirty="0"/>
              <a:t>Impulse machine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8652" y="2411999"/>
            <a:ext cx="3228571" cy="4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0570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Pelton turbine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9" y="2411999"/>
            <a:ext cx="7241042" cy="6840000"/>
          </a:xfrm>
        </p:spPr>
        <p:txBody>
          <a:bodyPr/>
          <a:lstStyle/>
          <a:p>
            <a:r>
              <a:rPr lang="en-US" dirty="0"/>
              <a:t>Circular disk mounted on the rotating shaft or rotor</a:t>
            </a:r>
          </a:p>
          <a:p>
            <a:r>
              <a:rPr lang="en-US" dirty="0"/>
              <a:t>Disk carries cup shaped blades (called buckets)</a:t>
            </a:r>
          </a:p>
          <a:p>
            <a:r>
              <a:rPr lang="en-US" dirty="0"/>
              <a:t>Single or multiple nozzles are arranged around the wheel</a:t>
            </a:r>
          </a:p>
          <a:p>
            <a:r>
              <a:rPr lang="en-US" dirty="0"/>
              <a:t>High speed jets striking the buckets at the splitter in the middle of the bucket</a:t>
            </a:r>
          </a:p>
          <a:p>
            <a:r>
              <a:rPr lang="en-US" dirty="0"/>
              <a:t>Stream divided into two equal streams</a:t>
            </a:r>
          </a:p>
          <a:p>
            <a:r>
              <a:rPr lang="en-US" dirty="0"/>
              <a:t>These streams flow along the inner curve</a:t>
            </a:r>
          </a:p>
          <a:p>
            <a:r>
              <a:rPr lang="en-US" dirty="0"/>
              <a:t>Leave it in a almost opposite directions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76347"/>
            <a:ext cx="5332960" cy="46790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4155" y="5211951"/>
            <a:ext cx="4026604" cy="404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6594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Pelton turbine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The change in momentum due to the loss in velocity and change in direction of the water stream produces an impulse</a:t>
            </a:r>
          </a:p>
          <a:p>
            <a:r>
              <a:rPr lang="en-US" dirty="0"/>
              <a:t>This impulse generates the torque and causes the shaft rotation</a:t>
            </a:r>
          </a:p>
          <a:p>
            <a:endParaRPr lang="en-US" dirty="0"/>
          </a:p>
          <a:p>
            <a:r>
              <a:rPr lang="en-US" dirty="0"/>
              <a:t>Power generator directly coupled on the same shaft</a:t>
            </a:r>
          </a:p>
          <a:p>
            <a:pPr lvl="1"/>
            <a:r>
              <a:rPr lang="en-US" dirty="0"/>
              <a:t>constant frequency required</a:t>
            </a:r>
          </a:p>
          <a:p>
            <a:pPr lvl="1"/>
            <a:r>
              <a:rPr lang="en-US" dirty="0"/>
              <a:t>Servo controlled spear valves (Speer </a:t>
            </a:r>
            <a:r>
              <a:rPr lang="en-US" dirty="0" err="1"/>
              <a:t>Ventile</a:t>
            </a:r>
            <a:r>
              <a:rPr lang="en-US" dirty="0"/>
              <a:t>) are used to adapt the flow rate</a:t>
            </a:r>
          </a:p>
          <a:p>
            <a:endParaRPr lang="en-US" dirty="0"/>
          </a:p>
          <a:p>
            <a:r>
              <a:rPr lang="en-US" dirty="0"/>
              <a:t>Water is nearly incompressible</a:t>
            </a:r>
          </a:p>
          <a:p>
            <a:pPr lvl="1"/>
            <a:r>
              <a:rPr lang="en-US" dirty="0"/>
              <a:t>most of available energy is extracted at the first stage</a:t>
            </a:r>
          </a:p>
          <a:p>
            <a:pPr lvl="1"/>
            <a:r>
              <a:rPr lang="en-US" dirty="0"/>
              <a:t>Therefor Pelton turbines have only one stage (Unlike gas turbines)</a:t>
            </a:r>
          </a:p>
        </p:txBody>
      </p:sp>
    </p:spTree>
    <p:extLst>
      <p:ext uri="{BB962C8B-B14F-4D97-AF65-F5344CB8AC3E}">
        <p14:creationId xmlns:p14="http://schemas.microsoft.com/office/powerpoint/2010/main" val="2193317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Kaplan turbine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2"/>
              </a:rPr>
              <a:t>https://www.youtube.com/watch?v=0p03UTgpnDU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9497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Kaplan Turbine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9" y="2411999"/>
            <a:ext cx="9764786" cy="6840000"/>
          </a:xfrm>
        </p:spPr>
        <p:txBody>
          <a:bodyPr/>
          <a:lstStyle/>
          <a:p>
            <a:r>
              <a:rPr lang="en-US" dirty="0"/>
              <a:t>Victor Kaplan</a:t>
            </a:r>
          </a:p>
          <a:p>
            <a:endParaRPr lang="en-US" dirty="0"/>
          </a:p>
          <a:p>
            <a:r>
              <a:rPr lang="en-US" dirty="0"/>
              <a:t>Born 1876 in </a:t>
            </a:r>
            <a:r>
              <a:rPr lang="en-US" dirty="0" err="1"/>
              <a:t>Mürzzuschlag</a:t>
            </a:r>
            <a:r>
              <a:rPr lang="en-US" dirty="0"/>
              <a:t>, Austria</a:t>
            </a:r>
          </a:p>
          <a:p>
            <a:endParaRPr lang="en-US" dirty="0"/>
          </a:p>
          <a:p>
            <a:r>
              <a:rPr lang="en-US" dirty="0"/>
              <a:t>Civil Engineer (</a:t>
            </a:r>
            <a:r>
              <a:rPr lang="en-US" dirty="0" err="1"/>
              <a:t>dt.</a:t>
            </a:r>
            <a:r>
              <a:rPr lang="en-US" dirty="0"/>
              <a:t> </a:t>
            </a:r>
            <a:r>
              <a:rPr lang="en-US" dirty="0" err="1"/>
              <a:t>Maschinenbau-Ingeneur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Professorship at the institute of civil engineering in Brno</a:t>
            </a:r>
          </a:p>
          <a:p>
            <a:endParaRPr lang="en-US" dirty="0"/>
          </a:p>
          <a:p>
            <a:r>
              <a:rPr lang="en-US" dirty="0"/>
              <a:t>1912 he published his most notable work: the Kaplan turbine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254" y="2196097"/>
            <a:ext cx="4485458" cy="566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9431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Kaplan turbine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Rotor looks like a propeller of a ship</a:t>
            </a:r>
          </a:p>
          <a:p>
            <a:endParaRPr lang="en-US" dirty="0"/>
          </a:p>
          <a:p>
            <a:r>
              <a:rPr lang="en-US" dirty="0"/>
              <a:t>Movable rotor blades</a:t>
            </a:r>
          </a:p>
          <a:p>
            <a:endParaRPr lang="en-US" dirty="0"/>
          </a:p>
          <a:p>
            <a:r>
              <a:rPr lang="en-US" dirty="0"/>
              <a:t>Specially suitable for low heights</a:t>
            </a:r>
          </a:p>
          <a:p>
            <a:endParaRPr lang="en-US" dirty="0"/>
          </a:p>
          <a:p>
            <a:r>
              <a:rPr lang="en-US" dirty="0"/>
              <a:t>Reaction turbine</a:t>
            </a:r>
          </a:p>
          <a:p>
            <a:endParaRPr lang="en-US" dirty="0"/>
          </a:p>
          <a:p>
            <a:r>
              <a:rPr lang="en-US" dirty="0"/>
              <a:t>Can be used horizontally or vertically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2358" y="2411999"/>
            <a:ext cx="7019048" cy="50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0196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Propeller turbine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Same as Kaplan turbine, but with fixed blades</a:t>
            </a:r>
          </a:p>
        </p:txBody>
      </p:sp>
    </p:spTree>
    <p:extLst>
      <p:ext uri="{BB962C8B-B14F-4D97-AF65-F5344CB8AC3E}">
        <p14:creationId xmlns:p14="http://schemas.microsoft.com/office/powerpoint/2010/main" val="17411538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9" y="2411999"/>
            <a:ext cx="6783842" cy="6840000"/>
          </a:xfrm>
        </p:spPr>
        <p:txBody>
          <a:bodyPr/>
          <a:lstStyle/>
          <a:p>
            <a:r>
              <a:rPr lang="en-US" dirty="0"/>
              <a:t>Depends on water flow and turbine type</a:t>
            </a:r>
          </a:p>
          <a:p>
            <a:endParaRPr lang="en-US" dirty="0"/>
          </a:p>
          <a:p>
            <a:r>
              <a:rPr lang="en-US" dirty="0"/>
              <a:t>Kaplan and Pelton have high efficiency over a wide range of water flow</a:t>
            </a:r>
          </a:p>
          <a:p>
            <a:endParaRPr lang="en-US" dirty="0"/>
          </a:p>
          <a:p>
            <a:r>
              <a:rPr lang="en-US" dirty="0"/>
              <a:t>Propeller turbines are presenting a distinct optimum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793" y="2457526"/>
            <a:ext cx="7257143" cy="5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510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12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Biofuels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Derived from vegetable matter</a:t>
            </a:r>
          </a:p>
          <a:p>
            <a:pPr lvl="1"/>
            <a:r>
              <a:rPr lang="en-US" dirty="0"/>
              <a:t>agriculture</a:t>
            </a:r>
          </a:p>
          <a:p>
            <a:pPr lvl="1"/>
            <a:r>
              <a:rPr lang="en-US" dirty="0"/>
              <a:t>waste materials</a:t>
            </a:r>
          </a:p>
          <a:p>
            <a:r>
              <a:rPr lang="en-US" dirty="0"/>
              <a:t>Burning</a:t>
            </a:r>
          </a:p>
          <a:p>
            <a:pPr lvl="1"/>
            <a:r>
              <a:rPr lang="en-US" dirty="0"/>
              <a:t>wood, dung, ...</a:t>
            </a:r>
          </a:p>
          <a:p>
            <a:r>
              <a:rPr lang="en-US" dirty="0"/>
              <a:t>Produce electricity in two ways</a:t>
            </a:r>
          </a:p>
          <a:p>
            <a:pPr lvl="1"/>
            <a:r>
              <a:rPr lang="en-US" dirty="0"/>
              <a:t>Burning in a furnace to produce steam </a:t>
            </a:r>
          </a:p>
          <a:p>
            <a:pPr lvl="1"/>
            <a:r>
              <a:rPr lang="en-US" dirty="0"/>
              <a:t>used as fuel for ignite engine or gas turbine</a:t>
            </a:r>
          </a:p>
          <a:p>
            <a:pPr lvl="1"/>
            <a:r>
              <a:rPr lang="en-US" dirty="0"/>
              <a:t>co-fired with coal in large steam power plants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8763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Solar Energy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Photovoltaic conversion </a:t>
            </a:r>
          </a:p>
          <a:p>
            <a:pPr lvl="1"/>
            <a:r>
              <a:rPr lang="en-US" dirty="0"/>
              <a:t>thin layer of suitable material (typical silicon)</a:t>
            </a:r>
          </a:p>
          <a:p>
            <a:pPr lvl="1"/>
            <a:r>
              <a:rPr lang="en-US" dirty="0"/>
              <a:t>Discontinuity in electrochemical potential creates a potential differences</a:t>
            </a:r>
          </a:p>
          <a:p>
            <a:pPr lvl="1"/>
            <a:endParaRPr lang="en-US" dirty="0"/>
          </a:p>
          <a:p>
            <a:r>
              <a:rPr lang="en-US" dirty="0"/>
              <a:t>Theoretical efficiency is about 25%</a:t>
            </a:r>
          </a:p>
          <a:p>
            <a:endParaRPr lang="en-US" dirty="0"/>
          </a:p>
          <a:p>
            <a:r>
              <a:rPr lang="en-US" dirty="0"/>
              <a:t>Occupy large areas in order to produce MW outputs</a:t>
            </a:r>
          </a:p>
        </p:txBody>
      </p:sp>
    </p:spTree>
    <p:extLst>
      <p:ext uri="{BB962C8B-B14F-4D97-AF65-F5344CB8AC3E}">
        <p14:creationId xmlns:p14="http://schemas.microsoft.com/office/powerpoint/2010/main" val="9395170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8376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 Power Plants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1"/>
          </p:nvPr>
        </p:nvPicPr>
        <p:blipFill>
          <a:blip r:embed="rId2"/>
          <a:stretch>
            <a:fillRect/>
          </a:stretch>
        </p:blipFill>
        <p:spPr>
          <a:xfrm>
            <a:off x="7848832" y="2128414"/>
            <a:ext cx="7702277" cy="52416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636" y="7878478"/>
            <a:ext cx="5552232" cy="2141810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1079999" y="2411999"/>
            <a:ext cx="7167890" cy="684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20400" indent="-392400" algn="l" defTabSz="754700" rtl="0" eaLnBrk="1" latinLnBrk="0" hangingPunct="1">
              <a:lnSpc>
                <a:spcPts val="4000"/>
              </a:lnSpc>
              <a:spcBef>
                <a:spcPts val="0"/>
              </a:spcBef>
              <a:spcAft>
                <a:spcPts val="600"/>
              </a:spcAft>
              <a:buSzPct val="70000"/>
              <a:buFont typeface="Lucida Grande"/>
              <a:buChar char="♦"/>
              <a:defRPr sz="3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680400" indent="-285701" algn="l" defTabSz="754700" rtl="0" eaLnBrk="1" latinLnBrk="0" hangingPunct="1">
              <a:lnSpc>
                <a:spcPts val="4000"/>
              </a:lnSpc>
              <a:spcBef>
                <a:spcPts val="0"/>
              </a:spcBef>
              <a:spcAft>
                <a:spcPts val="600"/>
              </a:spcAft>
              <a:buSzPct val="70000"/>
              <a:buFont typeface="Lucida Grande"/>
              <a:buChar char="-"/>
              <a:defRPr sz="3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886750" indent="-377350" algn="l" defTabSz="754700" rtl="0" eaLnBrk="1" latinLnBrk="0" hangingPunct="1">
              <a:lnSpc>
                <a:spcPts val="4000"/>
              </a:lnSpc>
              <a:spcBef>
                <a:spcPts val="0"/>
              </a:spcBef>
              <a:buFont typeface="Arial"/>
              <a:buChar char="•"/>
              <a:defRPr sz="3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2641450" indent="-377350" algn="l" defTabSz="754700" rtl="0" eaLnBrk="1" latinLnBrk="0" hangingPunct="1">
              <a:lnSpc>
                <a:spcPts val="4000"/>
              </a:lnSpc>
              <a:spcBef>
                <a:spcPts val="0"/>
              </a:spcBef>
              <a:buFont typeface="Arial"/>
              <a:buChar char="–"/>
              <a:defRPr sz="3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3396150" indent="-377350" algn="l" defTabSz="754700" rtl="0" eaLnBrk="1" latinLnBrk="0" hangingPunct="1">
              <a:lnSpc>
                <a:spcPts val="4000"/>
              </a:lnSpc>
              <a:spcBef>
                <a:spcPts val="0"/>
              </a:spcBef>
              <a:buFont typeface="Arial"/>
              <a:buChar char="»"/>
              <a:defRPr sz="3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4150850" indent="-377350" algn="l" defTabSz="754700" rtl="0" eaLnBrk="1" latinLnBrk="0" hangingPunct="1">
              <a:spcBef>
                <a:spcPct val="20000"/>
              </a:spcBef>
              <a:buFont typeface="Arial"/>
              <a:buChar char="•"/>
              <a:defRPr sz="3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5550" indent="-377350" algn="l" defTabSz="754700" rtl="0" eaLnBrk="1" latinLnBrk="0" hangingPunct="1">
              <a:spcBef>
                <a:spcPct val="20000"/>
              </a:spcBef>
              <a:buFont typeface="Arial"/>
              <a:buChar char="•"/>
              <a:defRPr sz="3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60250" indent="-377350" algn="l" defTabSz="754700" rtl="0" eaLnBrk="1" latinLnBrk="0" hangingPunct="1">
              <a:spcBef>
                <a:spcPct val="20000"/>
              </a:spcBef>
              <a:buFont typeface="Arial"/>
              <a:buChar char="•"/>
              <a:defRPr sz="3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14950" indent="-377350" algn="l" defTabSz="754700" rtl="0" eaLnBrk="1" latinLnBrk="0" hangingPunct="1">
              <a:spcBef>
                <a:spcPct val="20000"/>
              </a:spcBef>
              <a:buFont typeface="Arial"/>
              <a:buChar char="•"/>
              <a:defRPr sz="3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recent years the output power increased</a:t>
            </a:r>
          </a:p>
          <a:p>
            <a:pPr lvl="1"/>
            <a:r>
              <a:rPr lang="en-US" dirty="0"/>
              <a:t>Increasing the rotor size</a:t>
            </a:r>
          </a:p>
          <a:p>
            <a:pPr lvl="1"/>
            <a:r>
              <a:rPr lang="en-US" dirty="0"/>
              <a:t>1980 – 15 meter</a:t>
            </a:r>
          </a:p>
          <a:p>
            <a:pPr lvl="1"/>
            <a:r>
              <a:rPr lang="en-US" dirty="0"/>
              <a:t>2005 – 115 meter</a:t>
            </a:r>
          </a:p>
          <a:p>
            <a:pPr lvl="1"/>
            <a:endParaRPr lang="en-US" dirty="0"/>
          </a:p>
          <a:p>
            <a:r>
              <a:rPr lang="en-US" dirty="0"/>
              <a:t>Getting taller</a:t>
            </a:r>
          </a:p>
          <a:p>
            <a:endParaRPr lang="en-US" dirty="0"/>
          </a:p>
          <a:p>
            <a:r>
              <a:rPr lang="en-US" dirty="0"/>
              <a:t>Most of the components in the nacelle</a:t>
            </a:r>
          </a:p>
          <a:p>
            <a:pPr lvl="1"/>
            <a:r>
              <a:rPr lang="en-US" dirty="0"/>
              <a:t>Drive train</a:t>
            </a:r>
          </a:p>
          <a:p>
            <a:pPr lvl="1"/>
            <a:r>
              <a:rPr lang="en-US" dirty="0"/>
              <a:t>Gear box</a:t>
            </a:r>
          </a:p>
          <a:p>
            <a:pPr lvl="1"/>
            <a:r>
              <a:rPr lang="en-US" dirty="0"/>
              <a:t>Generator</a:t>
            </a:r>
          </a:p>
        </p:txBody>
      </p:sp>
    </p:spTree>
    <p:extLst>
      <p:ext uri="{BB962C8B-B14F-4D97-AF65-F5344CB8AC3E}">
        <p14:creationId xmlns:p14="http://schemas.microsoft.com/office/powerpoint/2010/main" val="3011562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 Turbine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As the output power increases also the grid connection requirements are increasing</a:t>
            </a:r>
          </a:p>
          <a:p>
            <a:endParaRPr lang="en-US" dirty="0"/>
          </a:p>
          <a:p>
            <a:r>
              <a:rPr lang="en-US" dirty="0"/>
              <a:t>They have to stay connected even during a grid fault</a:t>
            </a:r>
          </a:p>
          <a:p>
            <a:pPr lvl="1"/>
            <a:r>
              <a:rPr lang="en-US" dirty="0"/>
              <a:t>They have to support the grid</a:t>
            </a:r>
          </a:p>
          <a:p>
            <a:pPr lvl="1"/>
            <a:r>
              <a:rPr lang="en-US" dirty="0"/>
              <a:t>In early days the simply switched off</a:t>
            </a:r>
          </a:p>
          <a:p>
            <a:pPr lvl="1"/>
            <a:r>
              <a:rPr lang="en-US" dirty="0"/>
              <a:t>E.g. they have to stay connected during low voltage conditions for up to 150 </a:t>
            </a:r>
            <a:r>
              <a:rPr lang="en-US" dirty="0" err="1"/>
              <a:t>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6420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8" y="2411998"/>
            <a:ext cx="7698242" cy="7573249"/>
          </a:xfrm>
        </p:spPr>
        <p:txBody>
          <a:bodyPr/>
          <a:lstStyle/>
          <a:p>
            <a:r>
              <a:rPr lang="en-US" dirty="0"/>
              <a:t>Energy conversion systems</a:t>
            </a:r>
          </a:p>
          <a:p>
            <a:r>
              <a:rPr lang="en-US" dirty="0"/>
              <a:t>Converting kinetic energy from moving air into mechanical rotation</a:t>
            </a:r>
          </a:p>
          <a:p>
            <a:r>
              <a:rPr lang="en-US" dirty="0"/>
              <a:t>Most used type</a:t>
            </a:r>
          </a:p>
          <a:p>
            <a:pPr lvl="1"/>
            <a:r>
              <a:rPr lang="en-US" dirty="0"/>
              <a:t>Three blades</a:t>
            </a:r>
          </a:p>
          <a:p>
            <a:pPr lvl="1"/>
            <a:r>
              <a:rPr lang="en-US" dirty="0"/>
              <a:t>Horizontal axis (HAWT)</a:t>
            </a:r>
          </a:p>
          <a:p>
            <a:r>
              <a:rPr lang="en-US" dirty="0"/>
              <a:t>Wind drives the blades</a:t>
            </a:r>
          </a:p>
          <a:p>
            <a:r>
              <a:rPr lang="en-US" dirty="0"/>
              <a:t>Connected via hub to the slow moving shaft</a:t>
            </a:r>
          </a:p>
          <a:p>
            <a:r>
              <a:rPr lang="en-US" dirty="0"/>
              <a:t>Over the gear box connected to the fast moving shaft</a:t>
            </a:r>
          </a:p>
          <a:p>
            <a:r>
              <a:rPr lang="en-US" dirty="0"/>
              <a:t>Drives the rotor of the generator</a:t>
            </a:r>
          </a:p>
          <a:p>
            <a:r>
              <a:rPr lang="en-US" dirty="0"/>
              <a:t>Connected to the grid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537" y="3857120"/>
            <a:ext cx="7924443" cy="364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2615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Mechanical system / Electrical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Mechanical system and electrical system are influencing each other</a:t>
            </a:r>
          </a:p>
          <a:p>
            <a:endParaRPr lang="en-US" dirty="0"/>
          </a:p>
          <a:p>
            <a:r>
              <a:rPr lang="en-US" dirty="0"/>
              <a:t>Wind is fluctuating, therefore changing conditions are applied to the mechanical structure</a:t>
            </a:r>
          </a:p>
        </p:txBody>
      </p:sp>
    </p:spTree>
    <p:extLst>
      <p:ext uri="{BB962C8B-B14F-4D97-AF65-F5344CB8AC3E}">
        <p14:creationId xmlns:p14="http://schemas.microsoft.com/office/powerpoint/2010/main" val="26019093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components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9123" y="1620000"/>
            <a:ext cx="6001754" cy="811080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9" y="2411999"/>
            <a:ext cx="9380738" cy="6840000"/>
          </a:xfrm>
        </p:spPr>
        <p:txBody>
          <a:bodyPr/>
          <a:lstStyle/>
          <a:p>
            <a:r>
              <a:rPr lang="en-US" dirty="0"/>
              <a:t>Rotor blades, </a:t>
            </a:r>
            <a:r>
              <a:rPr lang="en-US" dirty="0" err="1"/>
              <a:t>aerodynamical</a:t>
            </a:r>
            <a:r>
              <a:rPr lang="en-US" dirty="0"/>
              <a:t> brake and hub</a:t>
            </a:r>
          </a:p>
          <a:p>
            <a:endParaRPr lang="en-US" dirty="0"/>
          </a:p>
          <a:p>
            <a:r>
              <a:rPr lang="en-US" dirty="0"/>
              <a:t>Drive train, bearings, break, gearbox, generator</a:t>
            </a:r>
          </a:p>
          <a:p>
            <a:endParaRPr lang="en-US" dirty="0"/>
          </a:p>
          <a:p>
            <a:r>
              <a:rPr lang="en-US" dirty="0"/>
              <a:t>Yaw drive to move the nacelle into the wind</a:t>
            </a:r>
          </a:p>
          <a:p>
            <a:endParaRPr lang="en-US" dirty="0"/>
          </a:p>
          <a:p>
            <a:r>
              <a:rPr lang="en-US" dirty="0"/>
              <a:t>Tower and foundation</a:t>
            </a:r>
          </a:p>
          <a:p>
            <a:endParaRPr lang="en-US" dirty="0"/>
          </a:p>
          <a:p>
            <a:r>
              <a:rPr lang="en-US" dirty="0"/>
              <a:t>Electrical components for control and grid connection</a:t>
            </a:r>
          </a:p>
        </p:txBody>
      </p:sp>
    </p:spTree>
    <p:extLst>
      <p:ext uri="{BB962C8B-B14F-4D97-AF65-F5344CB8AC3E}">
        <p14:creationId xmlns:p14="http://schemas.microsoft.com/office/powerpoint/2010/main" val="10907976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Aerodynamics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8" y="2411999"/>
            <a:ext cx="10075682" cy="6840000"/>
          </a:xfrm>
        </p:spPr>
        <p:txBody>
          <a:bodyPr/>
          <a:lstStyle/>
          <a:p>
            <a:r>
              <a:rPr lang="en-US" dirty="0"/>
              <a:t>Most WT have two or three bladed horizontal axis</a:t>
            </a:r>
          </a:p>
          <a:p>
            <a:pPr lvl="1"/>
            <a:r>
              <a:rPr lang="en-US" dirty="0"/>
              <a:t>Two blades</a:t>
            </a:r>
          </a:p>
          <a:p>
            <a:pPr lvl="2"/>
            <a:r>
              <a:rPr lang="en-US" dirty="0"/>
              <a:t>Easier to assemble</a:t>
            </a:r>
          </a:p>
          <a:p>
            <a:pPr lvl="2"/>
            <a:r>
              <a:rPr lang="en-US" dirty="0"/>
              <a:t>Have to spin faster</a:t>
            </a:r>
          </a:p>
          <a:p>
            <a:pPr lvl="2"/>
            <a:r>
              <a:rPr lang="en-US" dirty="0"/>
              <a:t>Higher noise emission</a:t>
            </a:r>
          </a:p>
          <a:p>
            <a:pPr lvl="2"/>
            <a:r>
              <a:rPr lang="en-US" dirty="0"/>
              <a:t>More mechanical stress (tower shadow)</a:t>
            </a:r>
          </a:p>
          <a:p>
            <a:pPr lvl="2"/>
            <a:endParaRPr lang="en-US" dirty="0"/>
          </a:p>
          <a:p>
            <a:r>
              <a:rPr lang="en-US" dirty="0"/>
              <a:t>Rotor is mounted on top</a:t>
            </a:r>
          </a:p>
          <a:p>
            <a:pPr lvl="1"/>
            <a:r>
              <a:rPr lang="en-US" dirty="0"/>
              <a:t>Wind speeds are higher</a:t>
            </a:r>
          </a:p>
          <a:p>
            <a:pPr lvl="1"/>
            <a:r>
              <a:rPr lang="en-US" dirty="0"/>
              <a:t>Thus more energy can be extracted</a:t>
            </a:r>
          </a:p>
        </p:txBody>
      </p:sp>
    </p:spTree>
    <p:extLst>
      <p:ext uri="{BB962C8B-B14F-4D97-AF65-F5344CB8AC3E}">
        <p14:creationId xmlns:p14="http://schemas.microsoft.com/office/powerpoint/2010/main" val="21031437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Aerodynamics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8" y="2411999"/>
            <a:ext cx="9819650" cy="6840000"/>
          </a:xfrm>
        </p:spPr>
        <p:txBody>
          <a:bodyPr/>
          <a:lstStyle/>
          <a:p>
            <a:r>
              <a:rPr lang="en-US" dirty="0"/>
              <a:t>Air velocity V moving through the area A is proportional the air density rho and the third power of the velocity V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155" y="4699162"/>
            <a:ext cx="4557689" cy="226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20980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Aerodynamics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707" y="3095158"/>
            <a:ext cx="7352381" cy="3200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8" y="2411999"/>
            <a:ext cx="6966722" cy="6840000"/>
          </a:xfrm>
        </p:spPr>
        <p:txBody>
          <a:bodyPr/>
          <a:lstStyle/>
          <a:p>
            <a:r>
              <a:rPr lang="en-US" dirty="0"/>
              <a:t>Only a part of the energy can be extracted</a:t>
            </a:r>
          </a:p>
          <a:p>
            <a:endParaRPr lang="en-US" dirty="0"/>
          </a:p>
          <a:p>
            <a:r>
              <a:rPr lang="en-US" dirty="0"/>
              <a:t>Described in the model of Albert Betz</a:t>
            </a:r>
          </a:p>
          <a:p>
            <a:pPr lvl="1"/>
            <a:r>
              <a:rPr lang="en-US" dirty="0"/>
              <a:t>undisturbed air stream in V in front</a:t>
            </a:r>
          </a:p>
          <a:p>
            <a:pPr lvl="1"/>
            <a:r>
              <a:rPr lang="en-US" dirty="0"/>
              <a:t>after passing the downstream velocity is V</a:t>
            </a:r>
            <a:r>
              <a:rPr lang="en-US" baseline="-25000" dirty="0"/>
              <a:t>-Infinity</a:t>
            </a:r>
          </a:p>
          <a:p>
            <a:pPr lvl="1"/>
            <a:endParaRPr lang="en-US" baseline="-25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6231" y="642118"/>
            <a:ext cx="4557689" cy="226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8076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Betz model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3773" y="2411999"/>
            <a:ext cx="7619048" cy="654285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9" y="2411999"/>
            <a:ext cx="7350770" cy="6840000"/>
          </a:xfrm>
        </p:spPr>
        <p:txBody>
          <a:bodyPr/>
          <a:lstStyle/>
          <a:p>
            <a:r>
              <a:rPr lang="en-US" dirty="0"/>
              <a:t>Based on the described Betz model</a:t>
            </a:r>
          </a:p>
          <a:p>
            <a:endParaRPr lang="en-US" dirty="0"/>
          </a:p>
          <a:p>
            <a:r>
              <a:rPr lang="en-US" dirty="0"/>
              <a:t>Power extracted from the moving wind is the power within the wind multiplied by the so called Betz coefficient</a:t>
            </a:r>
          </a:p>
          <a:p>
            <a:endParaRPr lang="en-US" dirty="0"/>
          </a:p>
          <a:p>
            <a:r>
              <a:rPr lang="en-US" dirty="0"/>
              <a:t>Power coefficient C</a:t>
            </a:r>
            <a:r>
              <a:rPr lang="en-US" baseline="-25000" dirty="0"/>
              <a:t>P</a:t>
            </a:r>
            <a:r>
              <a:rPr lang="en-US" dirty="0"/>
              <a:t> cannot be higher than 16/27</a:t>
            </a:r>
          </a:p>
          <a:p>
            <a:endParaRPr lang="en-US" dirty="0"/>
          </a:p>
          <a:p>
            <a:r>
              <a:rPr lang="en-US" dirty="0"/>
              <a:t>Modern WT get as close as 70 to 80% of the calculated maximum Betz coefficient</a:t>
            </a:r>
          </a:p>
        </p:txBody>
      </p:sp>
    </p:spTree>
    <p:extLst>
      <p:ext uri="{BB962C8B-B14F-4D97-AF65-F5344CB8AC3E}">
        <p14:creationId xmlns:p14="http://schemas.microsoft.com/office/powerpoint/2010/main" val="4888383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Aerodynamic profile</a:t>
            </a:r>
          </a:p>
          <a:p>
            <a:endParaRPr lang="en-US" dirty="0"/>
          </a:p>
          <a:p>
            <a:r>
              <a:rPr lang="en-US" dirty="0"/>
              <a:t>Pressure difference caused by moving the air with different velocities along the surface of the blades </a:t>
            </a:r>
          </a:p>
          <a:p>
            <a:endParaRPr lang="en-US" dirty="0"/>
          </a:p>
          <a:p>
            <a:r>
              <a:rPr lang="en-US" dirty="0"/>
              <a:t>Creates a lifting force</a:t>
            </a:r>
          </a:p>
          <a:p>
            <a:endParaRPr lang="en-US" dirty="0"/>
          </a:p>
          <a:p>
            <a:r>
              <a:rPr lang="en-US" dirty="0"/>
              <a:t>This force accelerated the blades up to a speed three to four times faster than the </a:t>
            </a:r>
            <a:r>
              <a:rPr lang="en-US"/>
              <a:t>wind speed</a:t>
            </a:r>
          </a:p>
          <a:p>
            <a:endParaRPr lang="en-US" dirty="0"/>
          </a:p>
          <a:p>
            <a:r>
              <a:rPr lang="en-US" dirty="0"/>
              <a:t>Having the blades connected via hub to the drive train converts the lifting forces to a torque at the drive train.</a:t>
            </a:r>
          </a:p>
        </p:txBody>
      </p:sp>
    </p:spTree>
    <p:extLst>
      <p:ext uri="{BB962C8B-B14F-4D97-AF65-F5344CB8AC3E}">
        <p14:creationId xmlns:p14="http://schemas.microsoft.com/office/powerpoint/2010/main" val="79487016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Force 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Two major approaches</a:t>
            </a:r>
          </a:p>
          <a:p>
            <a:pPr lvl="1"/>
            <a:r>
              <a:rPr lang="en-US" dirty="0"/>
              <a:t>Actuator disc theory</a:t>
            </a:r>
          </a:p>
          <a:p>
            <a:pPr lvl="1"/>
            <a:r>
              <a:rPr lang="en-US" dirty="0"/>
              <a:t>Blade element method (BEM)</a:t>
            </a:r>
          </a:p>
          <a:p>
            <a:pPr lvl="1"/>
            <a:endParaRPr lang="en-US" dirty="0"/>
          </a:p>
          <a:p>
            <a:r>
              <a:rPr lang="en-US" dirty="0"/>
              <a:t>Actuator Disc Theory</a:t>
            </a:r>
          </a:p>
          <a:p>
            <a:pPr lvl="1"/>
            <a:r>
              <a:rPr lang="en-US" dirty="0"/>
              <a:t>Area swept by the blades are seen as disk</a:t>
            </a:r>
          </a:p>
          <a:p>
            <a:pPr lvl="1"/>
            <a:r>
              <a:rPr lang="en-US" dirty="0"/>
              <a:t>Air flow through disk causes an air velocity decrease</a:t>
            </a:r>
          </a:p>
          <a:p>
            <a:pPr lvl="1"/>
            <a:r>
              <a:rPr lang="en-US" dirty="0"/>
              <a:t>Thus the force at the disc is the velocity drop multiplied by the mass flow rate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899" y="7977459"/>
            <a:ext cx="10074290" cy="127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67550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Force calculations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5714" y="3208189"/>
            <a:ext cx="6228571" cy="524761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9" y="2411999"/>
            <a:ext cx="9622638" cy="6840000"/>
          </a:xfrm>
        </p:spPr>
        <p:txBody>
          <a:bodyPr/>
          <a:lstStyle/>
          <a:p>
            <a:r>
              <a:rPr lang="en-US" dirty="0"/>
              <a:t>Blade element method (BEM)</a:t>
            </a:r>
          </a:p>
          <a:p>
            <a:r>
              <a:rPr lang="en-US" dirty="0"/>
              <a:t>Widely used by wind turbine control design</a:t>
            </a:r>
          </a:p>
          <a:p>
            <a:r>
              <a:rPr lang="en-US" dirty="0"/>
              <a:t>Based on applying aerodynamic forces on axial blade elements</a:t>
            </a:r>
          </a:p>
          <a:p>
            <a:r>
              <a:rPr lang="en-US" dirty="0"/>
              <a:t>Blade is divided into N number of elements (between 10 – 20)</a:t>
            </a:r>
          </a:p>
          <a:p>
            <a:r>
              <a:rPr lang="en-US" dirty="0"/>
              <a:t>Forces applied to each element is determined by the lift and drag coefficients</a:t>
            </a:r>
          </a:p>
          <a:p>
            <a:r>
              <a:rPr lang="en-US" dirty="0"/>
              <a:t>Each single element experiences a different air flow</a:t>
            </a:r>
          </a:p>
          <a:p>
            <a:pPr lvl="1"/>
            <a:r>
              <a:rPr lang="en-US" dirty="0"/>
              <a:t>different speed rotation </a:t>
            </a:r>
            <a:r>
              <a:rPr lang="el-GR" dirty="0"/>
              <a:t>Ω</a:t>
            </a:r>
            <a:r>
              <a:rPr lang="de-DE" dirty="0"/>
              <a:t>r</a:t>
            </a:r>
          </a:p>
          <a:p>
            <a:pPr lvl="1"/>
            <a:r>
              <a:rPr lang="de-DE" dirty="0"/>
              <a:t>different blade </a:t>
            </a:r>
            <a:r>
              <a:rPr lang="de-DE" dirty="0" err="1"/>
              <a:t>profile</a:t>
            </a:r>
            <a:r>
              <a:rPr lang="de-DE" dirty="0"/>
              <a:t> (</a:t>
            </a:r>
            <a:r>
              <a:rPr lang="de-DE" dirty="0" err="1"/>
              <a:t>cord</a:t>
            </a:r>
            <a:r>
              <a:rPr lang="de-DE" dirty="0"/>
              <a:t> </a:t>
            </a:r>
            <a:r>
              <a:rPr lang="de-DE" dirty="0" err="1"/>
              <a:t>length</a:t>
            </a:r>
            <a:r>
              <a:rPr lang="de-DE" dirty="0"/>
              <a:t> c, </a:t>
            </a:r>
            <a:r>
              <a:rPr lang="de-DE" dirty="0" err="1"/>
              <a:t>twist</a:t>
            </a:r>
            <a:r>
              <a:rPr lang="de-DE" dirty="0"/>
              <a:t> angle </a:t>
            </a:r>
            <a:r>
              <a:rPr lang="de-DE" dirty="0" err="1"/>
              <a:t>gamma</a:t>
            </a:r>
            <a:r>
              <a:rPr lang="de-DE" dirty="0"/>
              <a:t>)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26358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Blade element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206" y="2594430"/>
            <a:ext cx="6359382" cy="675815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8" y="2411999"/>
            <a:ext cx="9414819" cy="7746414"/>
          </a:xfrm>
        </p:spPr>
        <p:txBody>
          <a:bodyPr/>
          <a:lstStyle/>
          <a:p>
            <a:r>
              <a:rPr lang="en-US" dirty="0"/>
              <a:t>Upstream point of view</a:t>
            </a:r>
          </a:p>
          <a:p>
            <a:pPr lvl="1"/>
            <a:r>
              <a:rPr lang="en-US" dirty="0"/>
              <a:t>blades are turning clockwise</a:t>
            </a:r>
          </a:p>
          <a:p>
            <a:r>
              <a:rPr lang="en-US" dirty="0"/>
              <a:t>Airplane wing like shapes – turning faster then the wind blows</a:t>
            </a:r>
          </a:p>
          <a:p>
            <a:r>
              <a:rPr lang="en-US" dirty="0"/>
              <a:t>Because air stream velocities moving along the blades surface causing under pressure and thus forces</a:t>
            </a:r>
          </a:p>
          <a:p>
            <a:r>
              <a:rPr lang="en-US" dirty="0" err="1"/>
              <a:t>f</a:t>
            </a:r>
            <a:r>
              <a:rPr lang="en-US" baseline="-25000" dirty="0" err="1"/>
              <a:t>Lift</a:t>
            </a:r>
            <a:r>
              <a:rPr lang="en-US" dirty="0"/>
              <a:t> causes the blade to move</a:t>
            </a:r>
          </a:p>
          <a:p>
            <a:r>
              <a:rPr lang="en-US" dirty="0" err="1"/>
              <a:t>f</a:t>
            </a:r>
            <a:r>
              <a:rPr lang="en-US" baseline="-25000" dirty="0" err="1"/>
              <a:t>Lift</a:t>
            </a:r>
            <a:r>
              <a:rPr lang="en-US" baseline="-25000" dirty="0"/>
              <a:t> </a:t>
            </a:r>
            <a:r>
              <a:rPr lang="en-US" dirty="0"/>
              <a:t>is perpendicular to relative air stream </a:t>
            </a:r>
            <a:r>
              <a:rPr lang="en-US" dirty="0" err="1"/>
              <a:t>V</a:t>
            </a:r>
            <a:r>
              <a:rPr lang="en-US" baseline="-25000" dirty="0" err="1"/>
              <a:t>Rel</a:t>
            </a:r>
            <a:endParaRPr lang="en-US" baseline="-25000" dirty="0"/>
          </a:p>
          <a:p>
            <a:r>
              <a:rPr lang="en-US" dirty="0" err="1"/>
              <a:t>f</a:t>
            </a:r>
            <a:r>
              <a:rPr lang="en-US" baseline="-25000" dirty="0" err="1"/>
              <a:t>Drag</a:t>
            </a:r>
            <a:r>
              <a:rPr lang="en-US" dirty="0"/>
              <a:t> is parallel to the relative air stream</a:t>
            </a:r>
          </a:p>
          <a:p>
            <a:r>
              <a:rPr lang="en-US" dirty="0"/>
              <a:t>Sum of </a:t>
            </a:r>
            <a:r>
              <a:rPr lang="en-US" dirty="0" err="1"/>
              <a:t>f</a:t>
            </a:r>
            <a:r>
              <a:rPr lang="en-US" baseline="-25000" dirty="0" err="1"/>
              <a:t>Lift</a:t>
            </a:r>
            <a:r>
              <a:rPr lang="en-US" dirty="0"/>
              <a:t> and </a:t>
            </a:r>
            <a:r>
              <a:rPr lang="en-US" dirty="0" err="1"/>
              <a:t>f</a:t>
            </a:r>
            <a:r>
              <a:rPr lang="en-US" baseline="-25000" dirty="0" err="1"/>
              <a:t>Drag</a:t>
            </a:r>
            <a:r>
              <a:rPr lang="en-US" baseline="-25000" dirty="0"/>
              <a:t> </a:t>
            </a:r>
            <a:r>
              <a:rPr lang="en-US" dirty="0"/>
              <a:t>can be divided into</a:t>
            </a:r>
          </a:p>
          <a:p>
            <a:pPr lvl="1"/>
            <a:r>
              <a:rPr lang="en-US" dirty="0"/>
              <a:t>Rotor plane direction </a:t>
            </a:r>
            <a:r>
              <a:rPr lang="en-US" dirty="0" err="1"/>
              <a:t>f</a:t>
            </a:r>
            <a:r>
              <a:rPr lang="en-US" baseline="-25000" dirty="0" err="1"/>
              <a:t>Rotor</a:t>
            </a:r>
            <a:endParaRPr lang="en-US" dirty="0"/>
          </a:p>
          <a:p>
            <a:pPr lvl="1"/>
            <a:r>
              <a:rPr lang="en-US" dirty="0"/>
              <a:t>Axial direction </a:t>
            </a:r>
            <a:r>
              <a:rPr lang="en-US" dirty="0" err="1"/>
              <a:t>f</a:t>
            </a:r>
            <a:r>
              <a:rPr lang="en-US" baseline="-25000" dirty="0" err="1"/>
              <a:t>Thrust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8327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Aerofoil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Forces </a:t>
            </a:r>
            <a:r>
              <a:rPr lang="en-US" dirty="0" err="1"/>
              <a:t>f</a:t>
            </a:r>
            <a:r>
              <a:rPr lang="en-US" baseline="-25000" dirty="0" err="1"/>
              <a:t>Lift</a:t>
            </a:r>
            <a:r>
              <a:rPr lang="en-US" dirty="0"/>
              <a:t> and </a:t>
            </a:r>
            <a:r>
              <a:rPr lang="en-US" dirty="0" err="1"/>
              <a:t>f</a:t>
            </a:r>
            <a:r>
              <a:rPr lang="en-US" baseline="-25000" dirty="0" err="1"/>
              <a:t>Drag</a:t>
            </a:r>
            <a:r>
              <a:rPr lang="en-US" dirty="0"/>
              <a:t> are depending on </a:t>
            </a:r>
          </a:p>
          <a:p>
            <a:pPr lvl="1"/>
            <a:r>
              <a:rPr lang="en-US" dirty="0"/>
              <a:t>The air stream velocity </a:t>
            </a:r>
            <a:r>
              <a:rPr lang="en-US" dirty="0" err="1"/>
              <a:t>V</a:t>
            </a:r>
            <a:r>
              <a:rPr lang="en-US" baseline="-25000" dirty="0" err="1"/>
              <a:t>rel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Blade shape</a:t>
            </a:r>
          </a:p>
          <a:p>
            <a:pPr lvl="1"/>
            <a:r>
              <a:rPr lang="en-US" dirty="0"/>
              <a:t>Angle alpha of the airfoil in the air stream.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253" y="5384110"/>
            <a:ext cx="5080515" cy="263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3345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airfoil NACA 0012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079998" y="2411999"/>
            <a:ext cx="9061529" cy="6840000"/>
          </a:xfrm>
        </p:spPr>
        <p:txBody>
          <a:bodyPr/>
          <a:lstStyle/>
          <a:p>
            <a:r>
              <a:rPr lang="en-US" dirty="0"/>
              <a:t>Lift and drag coefficients of a typical </a:t>
            </a:r>
            <a:r>
              <a:rPr lang="en-US" dirty="0" err="1"/>
              <a:t>aerofoil</a:t>
            </a:r>
            <a:endParaRPr lang="en-US" dirty="0"/>
          </a:p>
          <a:p>
            <a:endParaRPr lang="en-US" dirty="0"/>
          </a:p>
          <a:p>
            <a:r>
              <a:rPr lang="en-US" dirty="0"/>
              <a:t>Designed in such a way that between 0 – 10°</a:t>
            </a:r>
          </a:p>
          <a:p>
            <a:pPr lvl="1"/>
            <a:r>
              <a:rPr lang="en-US" dirty="0" err="1"/>
              <a:t>C</a:t>
            </a:r>
            <a:r>
              <a:rPr lang="en-US" baseline="-25000" dirty="0" err="1"/>
              <a:t>Lift</a:t>
            </a:r>
            <a:r>
              <a:rPr lang="en-US" dirty="0"/>
              <a:t> = linear</a:t>
            </a:r>
          </a:p>
          <a:p>
            <a:pPr lvl="1"/>
            <a:r>
              <a:rPr lang="en-US" dirty="0" err="1"/>
              <a:t>C</a:t>
            </a:r>
            <a:r>
              <a:rPr lang="en-US" baseline="-25000" dirty="0" err="1"/>
              <a:t>Drag</a:t>
            </a:r>
            <a:r>
              <a:rPr lang="en-US" dirty="0"/>
              <a:t> = close to zero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271" y="5069682"/>
            <a:ext cx="19045" cy="190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8656" y="2914857"/>
            <a:ext cx="5209524" cy="67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9567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Mechanical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Lattice tower</a:t>
            </a:r>
          </a:p>
          <a:p>
            <a:r>
              <a:rPr lang="en-US" dirty="0"/>
              <a:t>Tubular steel tower</a:t>
            </a:r>
          </a:p>
          <a:p>
            <a:endParaRPr lang="en-US" dirty="0"/>
          </a:p>
          <a:p>
            <a:r>
              <a:rPr lang="en-US" dirty="0"/>
              <a:t>Oscillating forces are acting</a:t>
            </a:r>
          </a:p>
          <a:p>
            <a:pPr lvl="1"/>
            <a:r>
              <a:rPr lang="en-US" dirty="0"/>
              <a:t>Aerodynamic excitations; e.g. tower shadow</a:t>
            </a:r>
          </a:p>
          <a:p>
            <a:pPr lvl="1"/>
            <a:r>
              <a:rPr lang="en-US" dirty="0"/>
              <a:t>Hydrodynamic excitations; waves at offshore wind turbines</a:t>
            </a:r>
          </a:p>
          <a:p>
            <a:pPr lvl="1"/>
            <a:r>
              <a:rPr lang="en-US" dirty="0"/>
              <a:t>Operational excitations; caused by pitch or generator controller</a:t>
            </a:r>
          </a:p>
          <a:p>
            <a:pPr lvl="1"/>
            <a:r>
              <a:rPr lang="en-US" dirty="0"/>
              <a:t>Unbalanced loads; e.g. damaged blade caused by lightning, ice</a:t>
            </a:r>
          </a:p>
        </p:txBody>
      </p:sp>
    </p:spTree>
    <p:extLst>
      <p:ext uri="{BB962C8B-B14F-4D97-AF65-F5344CB8AC3E}">
        <p14:creationId xmlns:p14="http://schemas.microsoft.com/office/powerpoint/2010/main" val="417096486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Directly coupled induction generator systems</a:t>
            </a:r>
          </a:p>
          <a:p>
            <a:r>
              <a:rPr lang="en-US" dirty="0"/>
              <a:t>Doubly fed induction generator systems</a:t>
            </a:r>
          </a:p>
          <a:p>
            <a:r>
              <a:rPr lang="en-US" dirty="0"/>
              <a:t>Synchronous generator systems</a:t>
            </a:r>
          </a:p>
          <a:p>
            <a:endParaRPr lang="en-US" dirty="0"/>
          </a:p>
          <a:p>
            <a:r>
              <a:rPr lang="en-US" dirty="0"/>
              <a:t>In the past</a:t>
            </a:r>
          </a:p>
          <a:p>
            <a:pPr lvl="1"/>
            <a:r>
              <a:rPr lang="en-US" dirty="0"/>
              <a:t>Generators directly connected to the grid frequencies</a:t>
            </a:r>
          </a:p>
          <a:p>
            <a:pPr lvl="1"/>
            <a:r>
              <a:rPr lang="en-US" dirty="0"/>
              <a:t>Called fixed-speed wind turbines</a:t>
            </a:r>
          </a:p>
          <a:p>
            <a:pPr lvl="1"/>
            <a:r>
              <a:rPr lang="en-US" dirty="0"/>
              <a:t>Reliable, low cost</a:t>
            </a:r>
          </a:p>
          <a:p>
            <a:pPr lvl="1"/>
            <a:r>
              <a:rPr lang="en-US" dirty="0"/>
              <a:t>Do not adapt to wind variations</a:t>
            </a:r>
          </a:p>
        </p:txBody>
      </p:sp>
    </p:spTree>
    <p:extLst>
      <p:ext uri="{BB962C8B-B14F-4D97-AF65-F5344CB8AC3E}">
        <p14:creationId xmlns:p14="http://schemas.microsoft.com/office/powerpoint/2010/main" val="241468436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Variable speed wind turbines</a:t>
            </a:r>
          </a:p>
          <a:p>
            <a:pPr lvl="1"/>
            <a:r>
              <a:rPr lang="en-US" dirty="0"/>
              <a:t>not directly coupling their rotational frequency to the grid frequency</a:t>
            </a:r>
          </a:p>
          <a:p>
            <a:pPr lvl="1"/>
            <a:r>
              <a:rPr lang="en-US" dirty="0"/>
              <a:t>Operate the wind turbine always at the most efficient speed</a:t>
            </a:r>
          </a:p>
          <a:p>
            <a:pPr lvl="1"/>
            <a:endParaRPr lang="en-US" dirty="0"/>
          </a:p>
          <a:p>
            <a:r>
              <a:rPr lang="en-US" dirty="0"/>
              <a:t>Decoupling via</a:t>
            </a:r>
          </a:p>
          <a:p>
            <a:pPr lvl="1"/>
            <a:r>
              <a:rPr lang="en-US" dirty="0"/>
              <a:t>Gear box</a:t>
            </a:r>
          </a:p>
          <a:p>
            <a:pPr lvl="1"/>
            <a:r>
              <a:rPr lang="en-US" dirty="0"/>
              <a:t>Converters</a:t>
            </a:r>
          </a:p>
          <a:p>
            <a:pPr lvl="1"/>
            <a:endParaRPr lang="en-US" dirty="0"/>
          </a:p>
          <a:p>
            <a:r>
              <a:rPr lang="en-US" dirty="0"/>
              <a:t>Used generators</a:t>
            </a:r>
          </a:p>
          <a:p>
            <a:pPr lvl="1"/>
            <a:r>
              <a:rPr lang="en-US" dirty="0"/>
              <a:t>Induction</a:t>
            </a:r>
          </a:p>
          <a:p>
            <a:pPr lvl="1"/>
            <a:r>
              <a:rPr lang="en-US" dirty="0"/>
              <a:t>Synchronous</a:t>
            </a:r>
          </a:p>
        </p:txBody>
      </p:sp>
    </p:spTree>
    <p:extLst>
      <p:ext uri="{BB962C8B-B14F-4D97-AF65-F5344CB8AC3E}">
        <p14:creationId xmlns:p14="http://schemas.microsoft.com/office/powerpoint/2010/main" val="114104443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Directly coupled induction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Induction generator tied to the grid</a:t>
            </a:r>
          </a:p>
          <a:p>
            <a:r>
              <a:rPr lang="en-US" dirty="0"/>
              <a:t>Gearbox needed</a:t>
            </a:r>
          </a:p>
          <a:p>
            <a:r>
              <a:rPr lang="en-US" dirty="0"/>
              <a:t>Constant speed concept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823" y="4593903"/>
            <a:ext cx="12720185" cy="465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4812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Doubly fed induction generator (DFIG)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Changeable generator input speeds</a:t>
            </a:r>
          </a:p>
          <a:p>
            <a:pPr lvl="1"/>
            <a:r>
              <a:rPr lang="en-US" dirty="0"/>
              <a:t>Stator directly connected to the grid</a:t>
            </a:r>
          </a:p>
          <a:p>
            <a:pPr lvl="1"/>
            <a:r>
              <a:rPr lang="en-US" dirty="0"/>
              <a:t>Rotor field manipulated by an back-to-back converter</a:t>
            </a:r>
          </a:p>
          <a:p>
            <a:pPr lvl="1"/>
            <a:r>
              <a:rPr lang="en-US" dirty="0"/>
              <a:t>Speed can change between +/- 40 % of the synchronous speed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269" y="4825673"/>
            <a:ext cx="11125028" cy="469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10507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Full variable speed concept</a:t>
            </a:r>
          </a:p>
          <a:p>
            <a:r>
              <a:rPr lang="en-US" dirty="0"/>
              <a:t>Decoupling the generator totally from the grid by using a back-to-back inverter</a:t>
            </a:r>
          </a:p>
          <a:p>
            <a:r>
              <a:rPr lang="en-US" dirty="0"/>
              <a:t>Permanent magnet synchronous generator mostly used</a:t>
            </a:r>
          </a:p>
          <a:p>
            <a:r>
              <a:rPr lang="en-US" dirty="0"/>
              <a:t>No gear box needed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636" y="5213465"/>
            <a:ext cx="12850693" cy="483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78543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connections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Generator voltage 690 V L-L RMS</a:t>
            </a:r>
          </a:p>
          <a:p>
            <a:r>
              <a:rPr lang="en-US" dirty="0"/>
              <a:t>Connected to the grid via point of common coupling (PCC)</a:t>
            </a:r>
          </a:p>
          <a:p>
            <a:r>
              <a:rPr lang="en-US" dirty="0"/>
              <a:t>Depending of the output power</a:t>
            </a:r>
          </a:p>
          <a:p>
            <a:pPr lvl="1"/>
            <a:r>
              <a:rPr lang="en-US" dirty="0"/>
              <a:t>Medium voltage</a:t>
            </a:r>
          </a:p>
          <a:p>
            <a:pPr lvl="1"/>
            <a:r>
              <a:rPr lang="en-US" dirty="0"/>
              <a:t>High voltage connection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074" y="6525491"/>
            <a:ext cx="11993651" cy="318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02622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Connection restrictions defined in the Grid Codes</a:t>
            </a:r>
          </a:p>
          <a:p>
            <a:pPr lvl="1"/>
            <a:r>
              <a:rPr lang="en-US" dirty="0"/>
              <a:t>Frequency control; Fast output power control</a:t>
            </a:r>
          </a:p>
          <a:p>
            <a:pPr lvl="1"/>
            <a:r>
              <a:rPr lang="en-US" dirty="0"/>
              <a:t>Voltage control; Reactive power control</a:t>
            </a:r>
          </a:p>
          <a:p>
            <a:pPr lvl="1"/>
            <a:r>
              <a:rPr lang="en-US" dirty="0"/>
              <a:t>Black start </a:t>
            </a:r>
            <a:r>
              <a:rPr lang="en-US" dirty="0" err="1"/>
              <a:t>capabilties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10794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Target</a:t>
            </a:r>
          </a:p>
          <a:p>
            <a:pPr lvl="1"/>
            <a:r>
              <a:rPr lang="en-US" dirty="0"/>
              <a:t>Maximum energy can be extracted</a:t>
            </a:r>
          </a:p>
          <a:p>
            <a:pPr lvl="1"/>
            <a:r>
              <a:rPr lang="en-US" dirty="0"/>
              <a:t>Keep rotational speed for each wind speed at is optimum</a:t>
            </a:r>
          </a:p>
          <a:p>
            <a:r>
              <a:rPr lang="en-US" dirty="0"/>
              <a:t>If the wind gets too strong, two methods to limit power capture</a:t>
            </a:r>
          </a:p>
          <a:p>
            <a:pPr lvl="1"/>
            <a:r>
              <a:rPr lang="en-US" dirty="0"/>
              <a:t>Pitch control; move blades</a:t>
            </a:r>
          </a:p>
          <a:p>
            <a:pPr lvl="1"/>
            <a:r>
              <a:rPr lang="en-US" dirty="0"/>
              <a:t>Stall control; blade design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480" y="5226904"/>
            <a:ext cx="7809138" cy="493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05081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42698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280049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Custom 2">
      <a:dk1>
        <a:srgbClr val="262626"/>
      </a:dk1>
      <a:lt1>
        <a:sysClr val="window" lastClr="FFFFFF"/>
      </a:lt1>
      <a:dk2>
        <a:srgbClr val="262626"/>
      </a:dk2>
      <a:lt2>
        <a:srgbClr val="FFFFFF"/>
      </a:lt2>
      <a:accent1>
        <a:srgbClr val="C11635"/>
      </a:accent1>
      <a:accent2>
        <a:srgbClr val="C02745"/>
      </a:accent2>
      <a:accent3>
        <a:srgbClr val="DE8091"/>
      </a:accent3>
      <a:accent4>
        <a:srgbClr val="EBB0BB"/>
      </a:accent4>
      <a:accent5>
        <a:srgbClr val="777777"/>
      </a:accent5>
      <a:accent6>
        <a:srgbClr val="A5A5A5"/>
      </a:accent6>
      <a:hlink>
        <a:srgbClr val="C11635"/>
      </a:hlink>
      <a:folHlink>
        <a:srgbClr val="C1163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KeywordTaxHTField xmlns="deeb6e42-b4f9-4f46-b644-a572311f86bf">
      <Terms xmlns="http://schemas.microsoft.com/office/infopath/2007/PartnerControls"/>
    </TaxKeywordTaxHTField>
    <TaxCatchAll xmlns="071c7225-a172-4b05-9f41-b623799f4988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CAF5269FFB274592109337D31D90B1" ma:contentTypeVersion="" ma:contentTypeDescription="Create a new document." ma:contentTypeScope="" ma:versionID="9f96e1ce2dbad87f7eb167baa4ae7cd6">
  <xsd:schema xmlns:xsd="http://www.w3.org/2001/XMLSchema" xmlns:xs="http://www.w3.org/2001/XMLSchema" xmlns:p="http://schemas.microsoft.com/office/2006/metadata/properties" xmlns:ns2="071c7225-a172-4b05-9f41-b623799f4988" xmlns:ns3="deeb6e42-b4f9-4f46-b644-a572311f86bf" targetNamespace="http://schemas.microsoft.com/office/2006/metadata/properties" ma:root="true" ma:fieldsID="d01e4cc90bc1cd28224100bfb0b8ca91" ns2:_="" ns3:_="">
    <xsd:import namespace="071c7225-a172-4b05-9f41-b623799f4988"/>
    <xsd:import namespace="deeb6e42-b4f9-4f46-b644-a572311f86bf"/>
    <xsd:element name="properties">
      <xsd:complexType>
        <xsd:sequence>
          <xsd:element name="documentManagement">
            <xsd:complexType>
              <xsd:all>
                <xsd:element ref="ns3:TaxKeywordTaxHTField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1c7225-a172-4b05-9f41-b623799f4988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b7d85b70-e7cc-47a8-9b76-add8ccb91ae4}" ma:internalName="TaxCatchAll" ma:showField="CatchAllData" ma:web="071c7225-a172-4b05-9f41-b623799f49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eb6e42-b4f9-4f46-b644-a572311f86bf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9" nillable="true" ma:taxonomy="true" ma:internalName="TaxKeywordTaxHTField" ma:taxonomyFieldName="TaxKeyword" ma:displayName="Enterprise Keywords" ma:fieldId="{23f27201-bee3-471e-b2e7-b64fd8b7ca38}" ma:taxonomyMulti="true" ma:sspId="5b5317e0-26a9-4448-82a8-30c5212f9d5d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DAA58F-F164-4F74-8688-8B7799034FF8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elements/1.1/"/>
    <ds:schemaRef ds:uri="http://schemas.microsoft.com/office/2006/metadata/properties"/>
    <ds:schemaRef ds:uri="deeb6e42-b4f9-4f46-b644-a572311f86bf"/>
    <ds:schemaRef ds:uri="071c7225-a172-4b05-9f41-b623799f4988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FB8188A-9BDD-4861-81A1-762B23D3EA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1c7225-a172-4b05-9f41-b623799f4988"/>
    <ds:schemaRef ds:uri="deeb6e42-b4f9-4f46-b644-a572311f86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CE89FBD-93B5-4DE8-862C-2A6608E0924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5dcad5a-88e7-4fe6-a99c-bb012d92db6b}" enabled="1" method="Privileged" siteId="{1357ca9e-a1a5-404b-bb16-554d5d05c5c9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1582</TotalTime>
  <Words>3233</Words>
  <Application>Microsoft Office PowerPoint</Application>
  <PresentationFormat>Custom</PresentationFormat>
  <Paragraphs>593</Paragraphs>
  <Slides>85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9" baseType="lpstr">
      <vt:lpstr>Arial</vt:lpstr>
      <vt:lpstr>Calibri</vt:lpstr>
      <vt:lpstr>Lucida Grande</vt:lpstr>
      <vt:lpstr>Default Theme</vt:lpstr>
      <vt:lpstr>PowerPoint Presentation</vt:lpstr>
      <vt:lpstr>Renewable Power Plants</vt:lpstr>
      <vt:lpstr>Hydro Power Plants</vt:lpstr>
      <vt:lpstr>Overview of hydro power plants</vt:lpstr>
      <vt:lpstr>River Power Plant (dt. Flusskraftwerke)</vt:lpstr>
      <vt:lpstr>River Power Plant</vt:lpstr>
      <vt:lpstr>River Power Plant</vt:lpstr>
      <vt:lpstr>Cascaded river power plants</vt:lpstr>
      <vt:lpstr>Cascaded river power plants</vt:lpstr>
      <vt:lpstr>Storage Power Plants</vt:lpstr>
      <vt:lpstr>Pump Storage Power Plants</vt:lpstr>
      <vt:lpstr>Pump Storage Power Plant</vt:lpstr>
      <vt:lpstr>Pump Storage Power Plants - Objectives</vt:lpstr>
      <vt:lpstr>Pump Storage Plants</vt:lpstr>
      <vt:lpstr>Pump Storage Plants</vt:lpstr>
      <vt:lpstr>Pump Storage</vt:lpstr>
      <vt:lpstr>Pump Storage Efficiency</vt:lpstr>
      <vt:lpstr>Pump Storage Operation Modes</vt:lpstr>
      <vt:lpstr>Pump Storage Operation Modes</vt:lpstr>
      <vt:lpstr>Pump Storage – Phase shifting operation</vt:lpstr>
      <vt:lpstr>Pump Storage Power Plant</vt:lpstr>
      <vt:lpstr>Pump Storage Power Plant</vt:lpstr>
      <vt:lpstr>Pump Storage Power Plant</vt:lpstr>
      <vt:lpstr>PowerPoint Presentation</vt:lpstr>
      <vt:lpstr>Oceanic Power Plants</vt:lpstr>
      <vt:lpstr>Wave Power Plant</vt:lpstr>
      <vt:lpstr>Tidal Power Plants</vt:lpstr>
      <vt:lpstr>Oceanic heat power plants</vt:lpstr>
      <vt:lpstr>Current power plant</vt:lpstr>
      <vt:lpstr>PowerPoint Presentation</vt:lpstr>
      <vt:lpstr>Fluid Mechanics</vt:lpstr>
      <vt:lpstr>Fluid Mechanics</vt:lpstr>
      <vt:lpstr>Flowing velocity</vt:lpstr>
      <vt:lpstr>Flowing velocity</vt:lpstr>
      <vt:lpstr>Flowing velocity</vt:lpstr>
      <vt:lpstr>Extractable power</vt:lpstr>
      <vt:lpstr>Extractable power</vt:lpstr>
      <vt:lpstr>Extractable power</vt:lpstr>
      <vt:lpstr>Calculation example</vt:lpstr>
      <vt:lpstr>Continuity Equation</vt:lpstr>
      <vt:lpstr>Cavitation erosion</vt:lpstr>
      <vt:lpstr>Cavitation erosion</vt:lpstr>
      <vt:lpstr>Cavitation erosion</vt:lpstr>
      <vt:lpstr>PowerPoint Presentation</vt:lpstr>
      <vt:lpstr>Hydro turbines</vt:lpstr>
      <vt:lpstr>Francis turbine</vt:lpstr>
      <vt:lpstr>Francis turbine</vt:lpstr>
      <vt:lpstr>Pelton turbine</vt:lpstr>
      <vt:lpstr>Pelton turbine</vt:lpstr>
      <vt:lpstr>Pelton turbine</vt:lpstr>
      <vt:lpstr>Kaplan turbine</vt:lpstr>
      <vt:lpstr>Kaplan Turbine</vt:lpstr>
      <vt:lpstr>Kaplan turbine</vt:lpstr>
      <vt:lpstr>Propeller turbine</vt:lpstr>
      <vt:lpstr>Efficiency</vt:lpstr>
      <vt:lpstr>PowerPoint Presentation</vt:lpstr>
      <vt:lpstr>Biofuels</vt:lpstr>
      <vt:lpstr>Solar Energy</vt:lpstr>
      <vt:lpstr>PowerPoint Presentation</vt:lpstr>
      <vt:lpstr>Wind Power Plants</vt:lpstr>
      <vt:lpstr>Wind Turbine</vt:lpstr>
      <vt:lpstr>Energy conversion</vt:lpstr>
      <vt:lpstr>Mechanical system / Electrical system</vt:lpstr>
      <vt:lpstr>Important components</vt:lpstr>
      <vt:lpstr>Aerodynamics </vt:lpstr>
      <vt:lpstr>Aerodynamics </vt:lpstr>
      <vt:lpstr>Aerodynamics </vt:lpstr>
      <vt:lpstr>Betz model</vt:lpstr>
      <vt:lpstr>Working principles</vt:lpstr>
      <vt:lpstr>Force calculations</vt:lpstr>
      <vt:lpstr>Force calculations</vt:lpstr>
      <vt:lpstr>Blade element</vt:lpstr>
      <vt:lpstr>Aerofoil</vt:lpstr>
      <vt:lpstr>Typical airfoil NACA 0012</vt:lpstr>
      <vt:lpstr>Mechanical Structure</vt:lpstr>
      <vt:lpstr>Generator</vt:lpstr>
      <vt:lpstr>Generators</vt:lpstr>
      <vt:lpstr>Directly coupled induction generator</vt:lpstr>
      <vt:lpstr>Doubly fed induction generator (DFIG)</vt:lpstr>
      <vt:lpstr>Synchronous generator</vt:lpstr>
      <vt:lpstr>Grid connections</vt:lpstr>
      <vt:lpstr>Grid codes</vt:lpstr>
      <vt:lpstr>Control</vt:lpstr>
      <vt:lpstr>PowerPoint Presentation</vt:lpstr>
      <vt:lpstr>PowerPoint Presentation</vt:lpstr>
    </vt:vector>
  </TitlesOfParts>
  <Company>University of Applied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Information Services</dc:creator>
  <cp:lastModifiedBy>Andreas Nenning</cp:lastModifiedBy>
  <cp:revision>303</cp:revision>
  <dcterms:created xsi:type="dcterms:W3CDTF">2015-08-04T13:07:46Z</dcterms:created>
  <dcterms:modified xsi:type="dcterms:W3CDTF">2026-05-17T18:03:14Z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0x010100B1CAF5269FFB274592109337D31D90B1</vt:lpwstr>
  </property>
  <property fmtid="{D5CDD505-2E9C-101B-9397-08002B2CF9AE}" pid="3" name="ClassificationContentMarkingFooterLocations">
    <vt:lpwstr>Default Theme:3</vt:lpwstr>
  </property>
  <property fmtid="{D5CDD505-2E9C-101B-9397-08002B2CF9AE}" pid="4" name="ClassificationContentMarkingFooterText">
    <vt:lpwstr>C0 - Public</vt:lpwstr>
  </property>
</Properties>
</file>
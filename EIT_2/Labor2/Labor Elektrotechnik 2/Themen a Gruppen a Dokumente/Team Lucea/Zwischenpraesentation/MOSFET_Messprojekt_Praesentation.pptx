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466" y="691092"/>
            <a:ext cx="4792133" cy="2069041"/>
          </a:xfrm>
        </p:spPr>
        <p:txBody>
          <a:bodyPr>
            <a:noAutofit/>
          </a:bodyPr>
          <a:lstStyle/>
          <a:p>
            <a:pPr algn="l"/>
            <a:r>
              <a:rPr lang="de-AT" sz="5400" dirty="0">
                <a:solidFill>
                  <a:schemeClr val="bg1"/>
                </a:solidFill>
              </a:rPr>
              <a:t>Verlustmessung</a:t>
            </a:r>
            <a:br>
              <a:rPr lang="de-AT" sz="5400" dirty="0">
                <a:solidFill>
                  <a:schemeClr val="bg1"/>
                </a:solidFill>
              </a:rPr>
            </a:br>
            <a:r>
              <a:rPr lang="de-AT" sz="5400" dirty="0">
                <a:solidFill>
                  <a:schemeClr val="bg1"/>
                </a:solidFill>
              </a:rPr>
              <a:t>von MOSFETs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93133" y="5105400"/>
            <a:ext cx="3716866" cy="1752600"/>
          </a:xfrm>
        </p:spPr>
        <p:txBody>
          <a:bodyPr>
            <a:normAutofit/>
          </a:bodyPr>
          <a:lstStyle/>
          <a:p>
            <a:r>
              <a:rPr lang="de-DE" sz="2400" dirty="0">
                <a:solidFill>
                  <a:schemeClr val="bg1"/>
                </a:solidFill>
              </a:rPr>
              <a:t>Projektübersicht und aktueller Stand</a:t>
            </a:r>
          </a:p>
          <a:p>
            <a:r>
              <a:rPr lang="de-DE" sz="2400" dirty="0">
                <a:solidFill>
                  <a:schemeClr val="bg1"/>
                </a:solidFill>
              </a:rPr>
              <a:t>Team </a:t>
            </a:r>
            <a:r>
              <a:rPr lang="de-DE" sz="2400" dirty="0" err="1">
                <a:solidFill>
                  <a:schemeClr val="bg1"/>
                </a:solidFill>
              </a:rPr>
              <a:t>Lucea</a:t>
            </a:r>
            <a:endParaRPr lang="de-DE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262467"/>
            <a:ext cx="4055533" cy="1143000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chemeClr val="bg1"/>
                </a:solidFill>
              </a:rPr>
              <a:t>Ziel des </a:t>
            </a:r>
            <a:r>
              <a:rPr sz="3600" dirty="0" err="1">
                <a:solidFill>
                  <a:schemeClr val="bg1"/>
                </a:solidFill>
              </a:rPr>
              <a:t>Projekts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4055533" cy="4525963"/>
          </a:xfrm>
        </p:spPr>
        <p:txBody>
          <a:bodyPr>
            <a:normAutofit/>
          </a:bodyPr>
          <a:lstStyle/>
          <a:p>
            <a:endParaRPr lang="de-AT" sz="3600"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lang="de-AT" sz="2000" dirty="0">
                <a:solidFill>
                  <a:schemeClr val="bg1"/>
                </a:solidFill>
              </a:rPr>
              <a:t>Ermitteln stationärer und dynamischer Verluste mittels:</a:t>
            </a:r>
          </a:p>
          <a:p>
            <a:pPr lvl="1">
              <a:defRPr sz="1800"/>
            </a:pPr>
            <a:r>
              <a:rPr lang="de-AT" sz="2000" dirty="0">
                <a:solidFill>
                  <a:schemeClr val="bg1"/>
                </a:solidFill>
              </a:rPr>
              <a:t>Messungen an einer Platine</a:t>
            </a:r>
          </a:p>
          <a:p>
            <a:pPr lvl="1">
              <a:defRPr sz="1800"/>
            </a:pPr>
            <a:r>
              <a:rPr lang="de-AT" sz="2000" dirty="0">
                <a:solidFill>
                  <a:schemeClr val="bg1"/>
                </a:solidFill>
              </a:rPr>
              <a:t>LT-Spice Simulation</a:t>
            </a:r>
          </a:p>
          <a:p>
            <a:pPr lvl="1">
              <a:defRPr sz="1800"/>
            </a:pPr>
            <a:endParaRPr lang="de-AT" sz="2000"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lang="de-AT" sz="2000" dirty="0">
                <a:solidFill>
                  <a:schemeClr val="bg1"/>
                </a:solidFill>
              </a:rPr>
              <a:t>Vergleichen verschiedener MOSFETs unter verschiedenen Bedingungen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74800" y="96838"/>
            <a:ext cx="8229600" cy="1143000"/>
          </a:xfrm>
        </p:spPr>
        <p:txBody>
          <a:bodyPr/>
          <a:lstStyle/>
          <a:p>
            <a:r>
              <a:rPr lang="de-AT" sz="3600" dirty="0">
                <a:solidFill>
                  <a:schemeClr val="bg1"/>
                </a:solidFill>
              </a:rPr>
              <a:t>Ausgewählte</a:t>
            </a:r>
            <a:r>
              <a:rPr lang="de-AT" dirty="0">
                <a:solidFill>
                  <a:schemeClr val="bg1"/>
                </a:solidFill>
              </a:rPr>
              <a:t> MOSFETs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000" dirty="0">
              <a:solidFill>
                <a:schemeClr val="bg1"/>
              </a:solidFill>
            </a:endParaRPr>
          </a:p>
          <a:p>
            <a:pPr algn="l" rtl="0">
              <a:lnSpc>
                <a:spcPts val="2040"/>
              </a:lnSpc>
              <a:buFont typeface="Arial" panose="020B0604020202020204" pitchFamily="34" charset="0"/>
              <a:buChar char="•"/>
            </a:pPr>
            <a:r>
              <a:rPr lang="de-AT" sz="20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Infineon IRLB8721 PBF</a:t>
            </a:r>
          </a:p>
          <a:p>
            <a:pPr lvl="1">
              <a:lnSpc>
                <a:spcPts val="2040"/>
              </a:lnSpc>
            </a:pPr>
            <a:r>
              <a:rPr lang="de-AT" sz="2000" dirty="0">
                <a:solidFill>
                  <a:schemeClr val="bg1"/>
                </a:solidFill>
                <a:latin typeface="Open Sans" panose="020F0502020204030204" pitchFamily="34" charset="0"/>
              </a:rPr>
              <a:t>V</a:t>
            </a:r>
            <a:r>
              <a:rPr lang="de-AT" sz="1000" dirty="0">
                <a:solidFill>
                  <a:schemeClr val="bg1"/>
                </a:solidFill>
                <a:latin typeface="Open Sans" panose="020F0502020204030204" pitchFamily="34" charset="0"/>
              </a:rPr>
              <a:t>DS</a:t>
            </a:r>
            <a:r>
              <a:rPr lang="de-AT" sz="900" dirty="0">
                <a:solidFill>
                  <a:schemeClr val="bg1"/>
                </a:solidFill>
                <a:latin typeface="Open Sans" panose="020F0502020204030204" pitchFamily="34" charset="0"/>
              </a:rPr>
              <a:t> </a:t>
            </a:r>
            <a:r>
              <a:rPr lang="de-AT" sz="2000" dirty="0">
                <a:solidFill>
                  <a:schemeClr val="bg1"/>
                </a:solidFill>
                <a:latin typeface="Open Sans" panose="020F0502020204030204" pitchFamily="34" charset="0"/>
              </a:rPr>
              <a:t>= 30V</a:t>
            </a:r>
          </a:p>
          <a:p>
            <a:pPr lvl="1">
              <a:lnSpc>
                <a:spcPts val="2040"/>
              </a:lnSpc>
            </a:pPr>
            <a:r>
              <a:rPr lang="de-AT" sz="20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I</a:t>
            </a:r>
            <a:r>
              <a:rPr lang="de-AT" sz="10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D </a:t>
            </a:r>
            <a:r>
              <a:rPr lang="de-AT" sz="20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= 62A</a:t>
            </a:r>
          </a:p>
          <a:p>
            <a:pPr lvl="1">
              <a:lnSpc>
                <a:spcPts val="2040"/>
              </a:lnSpc>
            </a:pPr>
            <a:endParaRPr lang="de-AT" b="0" i="0" dirty="0">
              <a:solidFill>
                <a:schemeClr val="bg1"/>
              </a:solidFill>
              <a:effectLst/>
              <a:latin typeface="Open Sans" panose="020F0502020204030204" pitchFamily="34" charset="0"/>
            </a:endParaRPr>
          </a:p>
          <a:p>
            <a:pPr algn="l" rtl="0">
              <a:lnSpc>
                <a:spcPts val="2040"/>
              </a:lnSpc>
              <a:buFont typeface="Arial" panose="020B0604020202020204" pitchFamily="34" charset="0"/>
              <a:buChar char="•"/>
            </a:pPr>
            <a:r>
              <a:rPr lang="de-AT" sz="2000" b="0" i="0" dirty="0" err="1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Nexperia</a:t>
            </a:r>
            <a:r>
              <a:rPr lang="de-AT" sz="20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 PHP79NQ08LT,127</a:t>
            </a:r>
          </a:p>
          <a:p>
            <a:pPr lvl="1">
              <a:lnSpc>
                <a:spcPts val="2040"/>
              </a:lnSpc>
            </a:pPr>
            <a:r>
              <a:rPr lang="de-AT" sz="2000" dirty="0">
                <a:solidFill>
                  <a:schemeClr val="bg1"/>
                </a:solidFill>
                <a:latin typeface="Open Sans" panose="020F0502020204030204" pitchFamily="34" charset="0"/>
              </a:rPr>
              <a:t>V</a:t>
            </a:r>
            <a:r>
              <a:rPr lang="de-AT" sz="1000" dirty="0">
                <a:solidFill>
                  <a:schemeClr val="bg1"/>
                </a:solidFill>
                <a:latin typeface="Open Sans" panose="020F0502020204030204" pitchFamily="34" charset="0"/>
              </a:rPr>
              <a:t>DS</a:t>
            </a:r>
            <a:r>
              <a:rPr lang="de-AT" sz="800" dirty="0">
                <a:solidFill>
                  <a:schemeClr val="bg1"/>
                </a:solidFill>
                <a:latin typeface="Open Sans" panose="020F0502020204030204" pitchFamily="34" charset="0"/>
              </a:rPr>
              <a:t> </a:t>
            </a:r>
            <a:r>
              <a:rPr lang="de-AT" sz="2000" dirty="0">
                <a:solidFill>
                  <a:schemeClr val="bg1"/>
                </a:solidFill>
                <a:latin typeface="Open Sans" panose="020F0502020204030204" pitchFamily="34" charset="0"/>
              </a:rPr>
              <a:t>= 80V</a:t>
            </a:r>
          </a:p>
          <a:p>
            <a:pPr lvl="1">
              <a:lnSpc>
                <a:spcPts val="2040"/>
              </a:lnSpc>
            </a:pPr>
            <a:r>
              <a:rPr lang="de-AT" sz="20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I</a:t>
            </a:r>
            <a:r>
              <a:rPr lang="de-AT" sz="10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D </a:t>
            </a:r>
            <a:r>
              <a:rPr lang="de-AT" sz="20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= 79A</a:t>
            </a:r>
          </a:p>
          <a:p>
            <a:pPr lvl="1">
              <a:lnSpc>
                <a:spcPts val="2040"/>
              </a:lnSpc>
            </a:pPr>
            <a:endParaRPr lang="de-AT" sz="2000" b="0" i="0" dirty="0">
              <a:solidFill>
                <a:schemeClr val="bg1"/>
              </a:solidFill>
              <a:effectLst/>
              <a:latin typeface="Open Sans" panose="020F0502020204030204" pitchFamily="34" charset="0"/>
            </a:endParaRPr>
          </a:p>
          <a:p>
            <a:pPr algn="l" rtl="0">
              <a:lnSpc>
                <a:spcPts val="2040"/>
              </a:lnSpc>
              <a:buFont typeface="Arial" panose="020B0604020202020204" pitchFamily="34" charset="0"/>
              <a:buChar char="•"/>
            </a:pPr>
            <a:r>
              <a:rPr lang="de-AT" sz="2000" b="0" i="0" dirty="0" err="1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Vishay</a:t>
            </a:r>
            <a:r>
              <a:rPr lang="de-AT" sz="20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 IRF840APBF</a:t>
            </a:r>
          </a:p>
          <a:p>
            <a:pPr lvl="1">
              <a:lnSpc>
                <a:spcPts val="2040"/>
              </a:lnSpc>
            </a:pPr>
            <a:r>
              <a:rPr lang="de-AT" sz="2000" dirty="0">
                <a:solidFill>
                  <a:schemeClr val="bg1"/>
                </a:solidFill>
                <a:latin typeface="Open Sans" panose="020F0502020204030204" pitchFamily="34" charset="0"/>
              </a:rPr>
              <a:t>V</a:t>
            </a:r>
            <a:r>
              <a:rPr lang="de-AT" sz="1000" dirty="0">
                <a:solidFill>
                  <a:schemeClr val="bg1"/>
                </a:solidFill>
                <a:latin typeface="Open Sans" panose="020F0502020204030204" pitchFamily="34" charset="0"/>
              </a:rPr>
              <a:t>DS</a:t>
            </a:r>
            <a:r>
              <a:rPr lang="de-AT" sz="800" dirty="0">
                <a:solidFill>
                  <a:schemeClr val="bg1"/>
                </a:solidFill>
                <a:latin typeface="Open Sans" panose="020F0502020204030204" pitchFamily="34" charset="0"/>
              </a:rPr>
              <a:t> </a:t>
            </a:r>
            <a:r>
              <a:rPr lang="de-AT" sz="2000" dirty="0">
                <a:solidFill>
                  <a:schemeClr val="bg1"/>
                </a:solidFill>
                <a:latin typeface="Open Sans" panose="020F0502020204030204" pitchFamily="34" charset="0"/>
              </a:rPr>
              <a:t>= 500V</a:t>
            </a:r>
          </a:p>
          <a:p>
            <a:pPr lvl="1">
              <a:lnSpc>
                <a:spcPts val="2040"/>
              </a:lnSpc>
            </a:pPr>
            <a:r>
              <a:rPr lang="de-AT" sz="20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I</a:t>
            </a:r>
            <a:r>
              <a:rPr lang="de-AT" sz="10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D </a:t>
            </a:r>
            <a:r>
              <a:rPr lang="de-AT" sz="20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= 8A</a:t>
            </a:r>
            <a:endParaRPr lang="de-AT" sz="2800" b="0" i="0" dirty="0">
              <a:solidFill>
                <a:schemeClr val="bg1"/>
              </a:solidFill>
              <a:effectLst/>
              <a:latin typeface="Open Sans" panose="020F0502020204030204" pitchFamily="34" charset="0"/>
            </a:endParaRPr>
          </a:p>
          <a:p>
            <a:pPr algn="l" rtl="0">
              <a:lnSpc>
                <a:spcPts val="2040"/>
              </a:lnSpc>
              <a:buFont typeface="Arial" panose="020B0604020202020204" pitchFamily="34" charset="0"/>
              <a:buChar char="•"/>
            </a:pPr>
            <a:endParaRPr lang="de-AT" sz="2000" b="0" i="0" dirty="0">
              <a:solidFill>
                <a:schemeClr val="bg1"/>
              </a:solidFill>
              <a:effectLst/>
              <a:latin typeface="Open Sans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489200" cy="1143000"/>
          </a:xfrm>
        </p:spPr>
        <p:txBody>
          <a:bodyPr/>
          <a:lstStyle/>
          <a:p>
            <a:r>
              <a:rPr lang="de-AT" sz="3600" dirty="0">
                <a:solidFill>
                  <a:schemeClr val="bg1"/>
                </a:solidFill>
              </a:rPr>
              <a:t>Platine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5" name="Grafik 4" descr="Ein Bild, das Text, Schaltung, Karte, Screenshot enthält.&#10;&#10;KI-generierte Inhalte können fehlerhaft sein.">
            <a:extLst>
              <a:ext uri="{FF2B5EF4-FFF2-40B4-BE49-F238E27FC236}">
                <a16:creationId xmlns:a16="http://schemas.microsoft.com/office/drawing/2014/main" id="{F0B7E91A-0B95-60EA-2222-7437B9FFC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99" y="1228921"/>
            <a:ext cx="5435602" cy="44346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0" y="159807"/>
            <a:ext cx="7425266" cy="1143000"/>
          </a:xfrm>
        </p:spPr>
        <p:txBody>
          <a:bodyPr/>
          <a:lstStyle/>
          <a:p>
            <a:r>
              <a:rPr lang="de-AT" dirty="0">
                <a:solidFill>
                  <a:schemeClr val="bg1"/>
                </a:solidFill>
              </a:rPr>
              <a:t>Schaltplan für die Simulationen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1EE7EFF-B653-2285-1C3C-040DF4891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9" t="8947" r="67315" b="14715"/>
          <a:stretch/>
        </p:blipFill>
        <p:spPr>
          <a:xfrm>
            <a:off x="863600" y="1676398"/>
            <a:ext cx="5892800" cy="4156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4F45C5BA-EFED-8BBF-A10A-956067277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26571"/>
            <a:ext cx="8424333" cy="444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23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3933" y="92075"/>
            <a:ext cx="3081867" cy="1143000"/>
          </a:xfrm>
        </p:spPr>
        <p:txBody>
          <a:bodyPr/>
          <a:lstStyle/>
          <a:p>
            <a:r>
              <a:rPr lang="de-AT" sz="3600" dirty="0">
                <a:solidFill>
                  <a:schemeClr val="bg1"/>
                </a:solidFill>
              </a:rPr>
              <a:t>Infineon</a:t>
            </a:r>
            <a:r>
              <a:rPr lang="de-AT" dirty="0">
                <a:solidFill>
                  <a:schemeClr val="bg1"/>
                </a:solidFill>
              </a:rPr>
              <a:t> 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40E767E-8BF6-8D06-AE68-DF1DF23082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611"/>
          <a:stretch/>
        </p:blipFill>
        <p:spPr>
          <a:xfrm>
            <a:off x="1396998" y="1099608"/>
            <a:ext cx="5736274" cy="2621824"/>
          </a:xfrm>
          <a:prstGeom prst="rect">
            <a:avLst/>
          </a:prstGeom>
        </p:spPr>
      </p:pic>
      <p:pic>
        <p:nvPicPr>
          <p:cNvPr id="14" name="Grafik 13" descr="Ein Bild, das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0FFA26F9-A4C9-921D-B841-33F7FDD5F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611"/>
          <a:stretch/>
        </p:blipFill>
        <p:spPr>
          <a:xfrm>
            <a:off x="1396999" y="3838242"/>
            <a:ext cx="5736273" cy="26218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666" y="139172"/>
            <a:ext cx="3031067" cy="1143000"/>
          </a:xfrm>
        </p:spPr>
        <p:txBody>
          <a:bodyPr>
            <a:normAutofit/>
          </a:bodyPr>
          <a:lstStyle/>
          <a:p>
            <a:r>
              <a:rPr lang="de-AT" sz="3600" dirty="0" err="1">
                <a:solidFill>
                  <a:schemeClr val="bg1"/>
                </a:solidFill>
              </a:rPr>
              <a:t>Nexperia</a:t>
            </a:r>
            <a:endParaRPr sz="3600" dirty="0">
              <a:solidFill>
                <a:schemeClr val="bg1"/>
              </a:solidFill>
            </a:endParaRPr>
          </a:p>
        </p:txBody>
      </p:sp>
      <p:pic>
        <p:nvPicPr>
          <p:cNvPr id="10" name="Grafik 9" descr="Ein Bild, das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7E7C2AA2-883E-8A94-7D25-603D07F352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426"/>
          <a:stretch/>
        </p:blipFill>
        <p:spPr>
          <a:xfrm>
            <a:off x="1430867" y="1079730"/>
            <a:ext cx="5901266" cy="2547789"/>
          </a:xfrm>
          <a:prstGeom prst="rect">
            <a:avLst/>
          </a:prstGeom>
        </p:spPr>
      </p:pic>
      <p:pic>
        <p:nvPicPr>
          <p:cNvPr id="16" name="Grafik 15" descr="Ein Bild, das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D98C5BF0-39A8-0037-A910-5CD7146063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52685"/>
          <a:stretch/>
        </p:blipFill>
        <p:spPr>
          <a:xfrm>
            <a:off x="1430867" y="3894355"/>
            <a:ext cx="5901266" cy="26444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317"/>
            <a:ext cx="2328333" cy="1143000"/>
          </a:xfrm>
        </p:spPr>
        <p:txBody>
          <a:bodyPr>
            <a:normAutofit/>
          </a:bodyPr>
          <a:lstStyle/>
          <a:p>
            <a:r>
              <a:rPr lang="de-AT" sz="3600" dirty="0" err="1">
                <a:solidFill>
                  <a:schemeClr val="bg1"/>
                </a:solidFill>
              </a:rPr>
              <a:t>Vishay</a:t>
            </a:r>
            <a:endParaRPr sz="3600" dirty="0">
              <a:solidFill>
                <a:schemeClr val="bg1"/>
              </a:solidFill>
            </a:endParaRPr>
          </a:p>
        </p:txBody>
      </p:sp>
      <p:pic>
        <p:nvPicPr>
          <p:cNvPr id="6" name="Grafik 5" descr="Ein Bild, das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8D7B5F91-B9C9-FBEA-8767-FE2F304776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796"/>
          <a:stretch/>
        </p:blipFill>
        <p:spPr>
          <a:xfrm>
            <a:off x="1519766" y="1127258"/>
            <a:ext cx="5387471" cy="2472269"/>
          </a:xfrm>
          <a:prstGeom prst="rect">
            <a:avLst/>
          </a:prstGeom>
        </p:spPr>
      </p:pic>
      <p:pic>
        <p:nvPicPr>
          <p:cNvPr id="8" name="Grafik 7" descr="Ein Bild, das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9AB0204A-CC53-F069-09AB-F65D31BE3B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796"/>
          <a:stretch/>
        </p:blipFill>
        <p:spPr>
          <a:xfrm>
            <a:off x="1519766" y="4004732"/>
            <a:ext cx="5387469" cy="24722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0981DFB-2C5D-4278-C60D-F3E38A6A6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86809"/>
            <a:ext cx="4826000" cy="1143000"/>
          </a:xfrm>
        </p:spPr>
        <p:txBody>
          <a:bodyPr>
            <a:normAutofit/>
          </a:bodyPr>
          <a:lstStyle/>
          <a:p>
            <a:r>
              <a:rPr lang="de-AT" sz="4000" dirty="0">
                <a:solidFill>
                  <a:schemeClr val="bg1"/>
                </a:solidFill>
              </a:rPr>
              <a:t>Dynamische Verluste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5651E97-56B8-8C5E-95EE-6EA1A3914C71}"/>
              </a:ext>
            </a:extLst>
          </p:cNvPr>
          <p:cNvSpPr txBox="1"/>
          <p:nvPr/>
        </p:nvSpPr>
        <p:spPr>
          <a:xfrm>
            <a:off x="541866" y="1566333"/>
            <a:ext cx="482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sz="2400" dirty="0">
                <a:solidFill>
                  <a:schemeClr val="bg1"/>
                </a:solidFill>
              </a:rPr>
              <a:t>Messung von </a:t>
            </a:r>
            <a:r>
              <a:rPr lang="de-AT" sz="2400" dirty="0">
                <a:solidFill>
                  <a:schemeClr val="bg1"/>
                </a:solidFill>
                <a:latin typeface="Open Sans" panose="020F0502020204030204" pitchFamily="34" charset="0"/>
              </a:rPr>
              <a:t>V</a:t>
            </a:r>
            <a:r>
              <a:rPr lang="de-AT" sz="1050" dirty="0">
                <a:solidFill>
                  <a:schemeClr val="bg1"/>
                </a:solidFill>
                <a:latin typeface="Open Sans" panose="020F0502020204030204" pitchFamily="34" charset="0"/>
              </a:rPr>
              <a:t>DS </a:t>
            </a:r>
            <a:r>
              <a:rPr lang="de-AT" sz="2400" dirty="0">
                <a:solidFill>
                  <a:schemeClr val="bg1"/>
                </a:solidFill>
                <a:latin typeface="Open Sans" panose="020F0502020204030204" pitchFamily="34" charset="0"/>
              </a:rPr>
              <a:t>und</a:t>
            </a:r>
            <a:r>
              <a:rPr lang="de-AT" sz="1050" dirty="0">
                <a:solidFill>
                  <a:schemeClr val="bg1"/>
                </a:solidFill>
                <a:latin typeface="Open Sans" panose="020F0502020204030204" pitchFamily="34" charset="0"/>
              </a:rPr>
              <a:t> </a:t>
            </a:r>
            <a:r>
              <a:rPr lang="de-AT" sz="240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I</a:t>
            </a:r>
            <a:r>
              <a:rPr lang="de-AT" sz="1050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sz="2400" dirty="0">
                <a:solidFill>
                  <a:schemeClr val="bg1"/>
                </a:solidFill>
              </a:rPr>
              <a:t>Messen der </a:t>
            </a:r>
            <a:r>
              <a:rPr lang="de-AT" sz="2400" dirty="0" err="1">
                <a:solidFill>
                  <a:schemeClr val="bg1"/>
                </a:solidFill>
              </a:rPr>
              <a:t>rise</a:t>
            </a:r>
            <a:r>
              <a:rPr lang="de-AT" sz="2400" dirty="0">
                <a:solidFill>
                  <a:schemeClr val="bg1"/>
                </a:solidFill>
              </a:rPr>
              <a:t>- und </a:t>
            </a:r>
            <a:r>
              <a:rPr lang="de-AT" sz="2400" dirty="0" err="1">
                <a:solidFill>
                  <a:schemeClr val="bg1"/>
                </a:solidFill>
              </a:rPr>
              <a:t>falltime</a:t>
            </a:r>
            <a:r>
              <a:rPr lang="de-AT" sz="2400" dirty="0">
                <a:solidFill>
                  <a:schemeClr val="bg1"/>
                </a:solidFill>
              </a:rPr>
              <a:t> der Spannung</a:t>
            </a:r>
            <a:endParaRPr lang="de-AT" sz="2400" b="0" i="0" dirty="0">
              <a:solidFill>
                <a:schemeClr val="bg1"/>
              </a:solidFill>
              <a:effectLst/>
              <a:latin typeface="Open Sans" panose="020F05020202040302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236A013-104C-E328-5EE5-FF690645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34" y="3026772"/>
            <a:ext cx="3919535" cy="106456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1D3E690-0F40-2F58-38C7-E73F0D85E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33" y="4091338"/>
            <a:ext cx="3215317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632B050C-630C-EFD1-B165-A310095DD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0"/>
            <a:ext cx="9140051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51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Bildschirmpräsentation (4:3)</PresentationFormat>
  <Paragraphs>31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Open Sans</vt:lpstr>
      <vt:lpstr>Office Theme</vt:lpstr>
      <vt:lpstr>Verlustmessung von MOSFETs</vt:lpstr>
      <vt:lpstr>Ziel des Projekts</vt:lpstr>
      <vt:lpstr>Ausgewählte MOSFETs</vt:lpstr>
      <vt:lpstr>Platine</vt:lpstr>
      <vt:lpstr>Schaltplan für die Simulationen</vt:lpstr>
      <vt:lpstr>PowerPoint-Präsentation</vt:lpstr>
      <vt:lpstr>Infineon </vt:lpstr>
      <vt:lpstr>Nexperia</vt:lpstr>
      <vt:lpstr>Vishay</vt:lpstr>
      <vt:lpstr>Dynamische Verluste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JOCHUM Martin</cp:lastModifiedBy>
  <cp:revision>6</cp:revision>
  <dcterms:created xsi:type="dcterms:W3CDTF">2013-01-27T09:14:16Z</dcterms:created>
  <dcterms:modified xsi:type="dcterms:W3CDTF">2025-04-30T12:04:44Z</dcterms:modified>
  <cp:category/>
</cp:coreProperties>
</file>
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7" r:id="rId5"/>
    <p:sldId id="282" r:id="rId6"/>
    <p:sldId id="262" r:id="rId7"/>
    <p:sldId id="268" r:id="rId8"/>
    <p:sldId id="285" r:id="rId9"/>
    <p:sldId id="278" r:id="rId10"/>
    <p:sldId id="275" r:id="rId11"/>
    <p:sldId id="283" r:id="rId12"/>
    <p:sldId id="279" r:id="rId13"/>
    <p:sldId id="269" r:id="rId14"/>
    <p:sldId id="284" r:id="rId15"/>
    <p:sldId id="286" r:id="rId16"/>
    <p:sldId id="289" r:id="rId17"/>
    <p:sldId id="290" r:id="rId18"/>
    <p:sldId id="291" r:id="rId19"/>
    <p:sldId id="292" r:id="rId20"/>
    <p:sldId id="287" r:id="rId21"/>
    <p:sldId id="288" r:id="rId22"/>
    <p:sldId id="276" r:id="rId23"/>
    <p:sldId id="277" r:id="rId24"/>
    <p:sldId id="274" r:id="rId25"/>
    <p:sldId id="273" r:id="rId26"/>
    <p:sldId id="270" r:id="rId27"/>
    <p:sldId id="271" r:id="rId28"/>
    <p:sldId id="266" r:id="rId29"/>
    <p:sldId id="259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75F3D-1DE1-4CBF-930C-FBD37F6685B5}" v="6" dt="2025-04-30T06:43:03.629"/>
    <p1510:client id="{6F460612-A89E-B786-C07E-860A6AE6BE8F}" v="285" dt="2025-04-30T06:39:27.370"/>
    <p1510:client id="{B218AA02-8915-325E-AD51-5CE688EAEF23}" v="203" dt="2025-04-30T08:17:11.011"/>
    <p1510:client id="{BBD31253-0000-8D63-B728-694B7BE17D73}" v="8" dt="2025-04-30T07:54:44.734"/>
    <p1510:client id="{C371AD9E-2E63-093E-AAEA-CDF7F81C3A95}" v="824" dt="2025-04-29T15:18:37.780"/>
    <p1510:client id="{E0E368E3-EE90-17B8-FCA9-F831DB87AE91}" v="93" dt="2025-04-29T21:29:09.281"/>
    <p1510:client id="{E5D59B71-F7EF-FDAC-B17A-09A4ADF0EED3}" v="14" dt="2025-04-29T14:41:40.774"/>
    <p1510:client id="{F292520E-A013-47BE-E43A-ABA12AA5AC8C}" v="1559" dt="2025-04-29T15:29:47.743"/>
    <p1510:client id="{FC18C775-862B-EDCE-9EB0-6B6C4DBB4305}" v="1310" dt="2025-04-29T21:03:41.0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A9A011-B9BE-429D-8D7A-403D4DB86DD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3D7D3DE-DFEE-4695-A3CF-7EBCFD7AD426}">
      <dgm:prSet/>
      <dgm:spPr/>
      <dgm:t>
        <a:bodyPr/>
        <a:lstStyle/>
        <a:p>
          <a:r>
            <a:rPr lang="de-DE"/>
            <a:t>Simulation</a:t>
          </a:r>
          <a:endParaRPr lang="en-US"/>
        </a:p>
      </dgm:t>
    </dgm:pt>
    <dgm:pt modelId="{DAE54914-8734-41EE-89E0-B79C65A3EFB9}" type="parTrans" cxnId="{4BD3B7B7-F545-4E8A-A2D2-5CA72B3C24F6}">
      <dgm:prSet/>
      <dgm:spPr/>
      <dgm:t>
        <a:bodyPr/>
        <a:lstStyle/>
        <a:p>
          <a:endParaRPr lang="en-US"/>
        </a:p>
      </dgm:t>
    </dgm:pt>
    <dgm:pt modelId="{7DD03DDE-6A12-452A-B866-FF62560728E5}" type="sibTrans" cxnId="{4BD3B7B7-F545-4E8A-A2D2-5CA72B3C24F6}">
      <dgm:prSet/>
      <dgm:spPr/>
      <dgm:t>
        <a:bodyPr/>
        <a:lstStyle/>
        <a:p>
          <a:endParaRPr lang="en-US"/>
        </a:p>
      </dgm:t>
    </dgm:pt>
    <dgm:pt modelId="{1CCC1A60-CAE1-4C8F-8C3F-478FC462A09F}">
      <dgm:prSet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Filtersimulationen in LTSpice</a:t>
          </a:r>
          <a:endParaRPr lang="de-DE"/>
        </a:p>
      </dgm:t>
    </dgm:pt>
    <dgm:pt modelId="{1A83E21C-A9A6-4519-92F8-A1923A225915}" type="parTrans" cxnId="{31FBA826-EDE7-4F7F-B9DD-D996E1699ECE}">
      <dgm:prSet/>
      <dgm:spPr/>
      <dgm:t>
        <a:bodyPr/>
        <a:lstStyle/>
        <a:p>
          <a:endParaRPr lang="en-US"/>
        </a:p>
      </dgm:t>
    </dgm:pt>
    <dgm:pt modelId="{D059053E-2B8E-429D-9441-F464105CEACD}" type="sibTrans" cxnId="{31FBA826-EDE7-4F7F-B9DD-D996E1699ECE}">
      <dgm:prSet/>
      <dgm:spPr/>
      <dgm:t>
        <a:bodyPr/>
        <a:lstStyle/>
        <a:p>
          <a:endParaRPr lang="en-US"/>
        </a:p>
      </dgm:t>
    </dgm:pt>
    <dgm:pt modelId="{BC8122E5-54A8-4CDC-B790-7C0D0B2C91EF}">
      <dgm:prSet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Spezialfall Resonanz</a:t>
          </a:r>
          <a:endParaRPr lang="de-DE"/>
        </a:p>
      </dgm:t>
    </dgm:pt>
    <dgm:pt modelId="{4435A3F5-56EF-4676-A255-856B2BADA598}" type="parTrans" cxnId="{0E59E8B2-9537-4F95-9BC2-490436D4F9C7}">
      <dgm:prSet/>
      <dgm:spPr/>
      <dgm:t>
        <a:bodyPr/>
        <a:lstStyle/>
        <a:p>
          <a:endParaRPr lang="en-US"/>
        </a:p>
      </dgm:t>
    </dgm:pt>
    <dgm:pt modelId="{E7908DF8-5F46-4C09-86F6-B83CA66CEDAB}" type="sibTrans" cxnId="{0E59E8B2-9537-4F95-9BC2-490436D4F9C7}">
      <dgm:prSet/>
      <dgm:spPr/>
      <dgm:t>
        <a:bodyPr/>
        <a:lstStyle/>
        <a:p>
          <a:endParaRPr lang="en-US"/>
        </a:p>
      </dgm:t>
    </dgm:pt>
    <dgm:pt modelId="{B5C8661E-A675-4862-BDEF-07EFE9A3F3FB}">
      <dgm:prSet/>
      <dgm:spPr/>
      <dgm:t>
        <a:bodyPr/>
        <a:lstStyle/>
        <a:p>
          <a:r>
            <a:rPr lang="de-DE"/>
            <a:t>Messung</a:t>
          </a:r>
          <a:endParaRPr lang="en-US"/>
        </a:p>
      </dgm:t>
    </dgm:pt>
    <dgm:pt modelId="{B4139481-F9E2-4263-A1A5-DE1ADF3F4D69}" type="parTrans" cxnId="{421C4A36-5E41-4B53-A137-FA91E4E5E186}">
      <dgm:prSet/>
      <dgm:spPr/>
      <dgm:t>
        <a:bodyPr/>
        <a:lstStyle/>
        <a:p>
          <a:endParaRPr lang="en-US"/>
        </a:p>
      </dgm:t>
    </dgm:pt>
    <dgm:pt modelId="{5C19DF76-340B-48B1-A900-77C4B6D8EDED}" type="sibTrans" cxnId="{421C4A36-5E41-4B53-A137-FA91E4E5E186}">
      <dgm:prSet/>
      <dgm:spPr/>
      <dgm:t>
        <a:bodyPr/>
        <a:lstStyle/>
        <a:p>
          <a:endParaRPr lang="en-US"/>
        </a:p>
      </dgm:t>
    </dgm:pt>
    <dgm:pt modelId="{79463084-0095-415E-8B49-E7CB8F3C2D6E}">
      <dgm:prSet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 Messung RC Hochpassfilter 1. Ordnung</a:t>
          </a:r>
          <a:endParaRPr lang="de-DE"/>
        </a:p>
      </dgm:t>
    </dgm:pt>
    <dgm:pt modelId="{E84E8598-25F0-4336-B847-4D42C43251C3}" type="parTrans" cxnId="{0BAE198A-FCDB-4A65-B80B-9DACACE43786}">
      <dgm:prSet/>
      <dgm:spPr/>
      <dgm:t>
        <a:bodyPr/>
        <a:lstStyle/>
        <a:p>
          <a:endParaRPr lang="en-US"/>
        </a:p>
      </dgm:t>
    </dgm:pt>
    <dgm:pt modelId="{DF2BBC03-D2D9-4AA3-8EC2-7685A6D13E38}" type="sibTrans" cxnId="{0BAE198A-FCDB-4A65-B80B-9DACACE43786}">
      <dgm:prSet/>
      <dgm:spPr/>
      <dgm:t>
        <a:bodyPr/>
        <a:lstStyle/>
        <a:p>
          <a:endParaRPr lang="en-US"/>
        </a:p>
      </dgm:t>
    </dgm:pt>
    <dgm:pt modelId="{C0B9BE25-5FAC-4235-83E4-60BDAA0EA870}">
      <dgm:prSet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 Messung LC Tiefpassfilter 2. Ordnung</a:t>
          </a:r>
          <a:endParaRPr lang="de-DE"/>
        </a:p>
      </dgm:t>
    </dgm:pt>
    <dgm:pt modelId="{13CEBBA0-9924-4675-A19D-19E29BF64E1D}" type="parTrans" cxnId="{10AE6A84-81F4-4258-B2E9-1CC106A14533}">
      <dgm:prSet/>
      <dgm:spPr/>
      <dgm:t>
        <a:bodyPr/>
        <a:lstStyle/>
        <a:p>
          <a:endParaRPr lang="en-US"/>
        </a:p>
      </dgm:t>
    </dgm:pt>
    <dgm:pt modelId="{DF33B3F1-A6C4-4F4C-8C00-BE8D5946BED0}" type="sibTrans" cxnId="{10AE6A84-81F4-4258-B2E9-1CC106A14533}">
      <dgm:prSet/>
      <dgm:spPr/>
      <dgm:t>
        <a:bodyPr/>
        <a:lstStyle/>
        <a:p>
          <a:endParaRPr lang="en-US"/>
        </a:p>
      </dgm:t>
    </dgm:pt>
    <dgm:pt modelId="{EFD20457-FEAC-4917-BD79-D306D684C6D7}">
      <dgm:prSet/>
      <dgm:spPr/>
      <dgm:t>
        <a:bodyPr/>
        <a:lstStyle/>
        <a:p>
          <a:r>
            <a:rPr lang="de-DE"/>
            <a:t>Platine</a:t>
          </a:r>
          <a:endParaRPr lang="en-US"/>
        </a:p>
      </dgm:t>
    </dgm:pt>
    <dgm:pt modelId="{0871BE28-AA8C-48A0-8715-B09EFB93ACD5}" type="parTrans" cxnId="{D9E02C9E-0BB8-4F75-8A66-EE2E981CC407}">
      <dgm:prSet/>
      <dgm:spPr/>
      <dgm:t>
        <a:bodyPr/>
        <a:lstStyle/>
        <a:p>
          <a:endParaRPr lang="en-US"/>
        </a:p>
      </dgm:t>
    </dgm:pt>
    <dgm:pt modelId="{21D361A8-C224-4490-ABC7-81C90737022D}" type="sibTrans" cxnId="{D9E02C9E-0BB8-4F75-8A66-EE2E981CC407}">
      <dgm:prSet/>
      <dgm:spPr/>
      <dgm:t>
        <a:bodyPr/>
        <a:lstStyle/>
        <a:p>
          <a:endParaRPr lang="en-US"/>
        </a:p>
      </dgm:t>
    </dgm:pt>
    <dgm:pt modelId="{2A07273D-7C36-4BB3-8C21-66D4DB0EB88F}">
      <dgm:prSet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Schaltplan , Board</a:t>
          </a:r>
          <a:endParaRPr lang="en-US"/>
        </a:p>
      </dgm:t>
    </dgm:pt>
    <dgm:pt modelId="{DC6194BD-CFD2-4DC3-9528-047283EA8E0F}" type="parTrans" cxnId="{5EE51683-3EC3-4805-837B-F58A61F59019}">
      <dgm:prSet/>
      <dgm:spPr/>
      <dgm:t>
        <a:bodyPr/>
        <a:lstStyle/>
        <a:p>
          <a:endParaRPr lang="en-US"/>
        </a:p>
      </dgm:t>
    </dgm:pt>
    <dgm:pt modelId="{60459656-340F-4AD0-AD41-720F482A87C0}" type="sibTrans" cxnId="{5EE51683-3EC3-4805-837B-F58A61F59019}">
      <dgm:prSet/>
      <dgm:spPr/>
      <dgm:t>
        <a:bodyPr/>
        <a:lstStyle/>
        <a:p>
          <a:endParaRPr lang="en-US"/>
        </a:p>
      </dgm:t>
    </dgm:pt>
    <dgm:pt modelId="{423B2637-2BF0-429C-BD6F-0CC96AFDBAAF}">
      <dgm:prSet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 Messung RC </a:t>
          </a:r>
          <a:r>
            <a:rPr lang="de-DE" err="1">
              <a:latin typeface="Aptos Display" panose="020F0302020204030204"/>
            </a:rPr>
            <a:t>Bandpass</a:t>
          </a:r>
          <a:r>
            <a:rPr lang="de-DE">
              <a:latin typeface="Aptos Display" panose="020F0302020204030204"/>
            </a:rPr>
            <a:t> 1. Ordnung</a:t>
          </a:r>
        </a:p>
      </dgm:t>
    </dgm:pt>
    <dgm:pt modelId="{A00F9635-EBC6-426C-8339-F06D21A93896}" type="parTrans" cxnId="{D98489A8-4AD5-4CD9-9131-0A2F08C5A3AC}">
      <dgm:prSet/>
      <dgm:spPr/>
    </dgm:pt>
    <dgm:pt modelId="{F2D4D0B5-932D-4D25-94C9-67DAACF0BBF6}" type="sibTrans" cxnId="{D98489A8-4AD5-4CD9-9131-0A2F08C5A3AC}">
      <dgm:prSet/>
      <dgm:spPr/>
    </dgm:pt>
    <dgm:pt modelId="{8D031DAB-89D3-4E44-8ECF-0E72B4E68BC6}">
      <dgm:prSet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Frequenzverhalten C</a:t>
          </a:r>
        </a:p>
      </dgm:t>
    </dgm:pt>
    <dgm:pt modelId="{0FA5A2B1-4AC1-4D7D-89A4-2117AD19F914}" type="parTrans" cxnId="{1F8C0E48-C80E-4095-846B-60E50FE6D551}">
      <dgm:prSet/>
      <dgm:spPr/>
    </dgm:pt>
    <dgm:pt modelId="{EC1734D2-BF0D-4E41-A423-57446CC1296C}" type="sibTrans" cxnId="{1F8C0E48-C80E-4095-846B-60E50FE6D551}">
      <dgm:prSet/>
      <dgm:spPr/>
    </dgm:pt>
    <dgm:pt modelId="{6773324C-6D71-483F-A220-16A06B74503D}">
      <dgm:prSet phldr="0"/>
      <dgm:spPr/>
      <dgm:t>
        <a:bodyPr/>
        <a:lstStyle/>
        <a:p>
          <a:pPr rtl="0"/>
          <a:endParaRPr lang="de-DE">
            <a:latin typeface="Aptos Display" panose="020F0302020204030204"/>
          </a:endParaRPr>
        </a:p>
      </dgm:t>
    </dgm:pt>
    <dgm:pt modelId="{70DA44A6-3867-4398-B774-792DDB917F2B}" type="parTrans" cxnId="{F1300D32-1A12-4852-99DD-AA8323FD5AE2}">
      <dgm:prSet/>
      <dgm:spPr/>
    </dgm:pt>
    <dgm:pt modelId="{B349B57E-EE80-4F53-8F03-5D7929B8B1BA}" type="sibTrans" cxnId="{F1300D32-1A12-4852-99DD-AA8323FD5AE2}">
      <dgm:prSet/>
      <dgm:spPr/>
    </dgm:pt>
    <dgm:pt modelId="{0BB8D598-8162-4A29-9AB4-2E39F926FCEE}">
      <dgm:prSet phldr="0"/>
      <dgm:spPr/>
      <dgm:t>
        <a:bodyPr/>
        <a:lstStyle/>
        <a:p>
          <a:pPr rtl="0"/>
          <a:r>
            <a:rPr lang="de-DE">
              <a:latin typeface="Aptos Display" panose="020F0302020204030204"/>
            </a:rPr>
            <a:t>Spulen- Kondensatorarten</a:t>
          </a:r>
          <a:endParaRPr lang="en-US"/>
        </a:p>
      </dgm:t>
    </dgm:pt>
    <dgm:pt modelId="{84C92259-38F3-4CAB-B7FB-BF25BBCF4881}" type="parTrans" cxnId="{17B0B675-3F4A-4BBD-A90A-A455315372F2}">
      <dgm:prSet/>
      <dgm:spPr/>
    </dgm:pt>
    <dgm:pt modelId="{2DEC8188-08D1-4728-BAFE-7FA4F39A0BD9}" type="sibTrans" cxnId="{17B0B675-3F4A-4BBD-A90A-A455315372F2}">
      <dgm:prSet/>
      <dgm:spPr/>
    </dgm:pt>
    <dgm:pt modelId="{DDF744DE-1CF9-40D1-8A1B-7606CD56B58D}">
      <dgm:prSet phldr="0"/>
      <dgm:spPr/>
      <dgm:t>
        <a:bodyPr/>
        <a:lstStyle/>
        <a:p>
          <a:pPr rtl="0"/>
          <a:r>
            <a:rPr lang="de-DE" err="1">
              <a:latin typeface="Aptos Display" panose="020F0302020204030204"/>
            </a:rPr>
            <a:t>Worst</a:t>
          </a:r>
          <a:r>
            <a:rPr lang="de-DE">
              <a:latin typeface="Aptos Display" panose="020F0302020204030204"/>
            </a:rPr>
            <a:t> Case Analyse</a:t>
          </a:r>
        </a:p>
      </dgm:t>
    </dgm:pt>
    <dgm:pt modelId="{EB47EC6E-8680-4E7B-B1AC-0B65575FCB1A}" type="parTrans" cxnId="{CF612E56-AB1E-4974-9D1F-2C39FF8D6ACD}">
      <dgm:prSet/>
      <dgm:spPr/>
    </dgm:pt>
    <dgm:pt modelId="{37CECFA4-2F39-4850-AA63-C61B4420DC8C}" type="sibTrans" cxnId="{CF612E56-AB1E-4974-9D1F-2C39FF8D6ACD}">
      <dgm:prSet/>
      <dgm:spPr/>
    </dgm:pt>
    <dgm:pt modelId="{FEC13636-1A18-49FD-B32E-737E33E6E5ED}" type="pres">
      <dgm:prSet presAssocID="{E0A9A011-B9BE-429D-8D7A-403D4DB86DDB}" presName="Name0" presStyleCnt="0">
        <dgm:presLayoutVars>
          <dgm:dir/>
          <dgm:animLvl val="lvl"/>
          <dgm:resizeHandles val="exact"/>
        </dgm:presLayoutVars>
      </dgm:prSet>
      <dgm:spPr/>
    </dgm:pt>
    <dgm:pt modelId="{6468A156-F624-47A9-BE2B-C8F3925CBEE3}" type="pres">
      <dgm:prSet presAssocID="{C3D7D3DE-DFEE-4695-A3CF-7EBCFD7AD426}" presName="composite" presStyleCnt="0"/>
      <dgm:spPr/>
    </dgm:pt>
    <dgm:pt modelId="{A4BD0E31-BA9A-414F-9F4C-0F64637F90D2}" type="pres">
      <dgm:prSet presAssocID="{C3D7D3DE-DFEE-4695-A3CF-7EBCFD7AD42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CEED7EA-98FE-44BB-9F0D-03728665700D}" type="pres">
      <dgm:prSet presAssocID="{C3D7D3DE-DFEE-4695-A3CF-7EBCFD7AD426}" presName="desTx" presStyleLbl="alignAccFollowNode1" presStyleIdx="0" presStyleCnt="3">
        <dgm:presLayoutVars>
          <dgm:bulletEnabled val="1"/>
        </dgm:presLayoutVars>
      </dgm:prSet>
      <dgm:spPr/>
    </dgm:pt>
    <dgm:pt modelId="{23ECF1BB-F27A-44AD-BCFC-FF1A47C50EE6}" type="pres">
      <dgm:prSet presAssocID="{7DD03DDE-6A12-452A-B866-FF62560728E5}" presName="space" presStyleCnt="0"/>
      <dgm:spPr/>
    </dgm:pt>
    <dgm:pt modelId="{D145C35A-77A7-476B-8B4C-DD7CE067BD41}" type="pres">
      <dgm:prSet presAssocID="{B5C8661E-A675-4862-BDEF-07EFE9A3F3FB}" presName="composite" presStyleCnt="0"/>
      <dgm:spPr/>
    </dgm:pt>
    <dgm:pt modelId="{C0128193-C945-4396-9920-82238F38DA16}" type="pres">
      <dgm:prSet presAssocID="{B5C8661E-A675-4862-BDEF-07EFE9A3F3F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390A195-F5D2-44D2-92F5-2F1922E4481B}" type="pres">
      <dgm:prSet presAssocID="{B5C8661E-A675-4862-BDEF-07EFE9A3F3FB}" presName="desTx" presStyleLbl="alignAccFollowNode1" presStyleIdx="1" presStyleCnt="3">
        <dgm:presLayoutVars>
          <dgm:bulletEnabled val="1"/>
        </dgm:presLayoutVars>
      </dgm:prSet>
      <dgm:spPr/>
    </dgm:pt>
    <dgm:pt modelId="{0CDC81D7-34BD-4B3B-A4EB-D6FE48CD1F23}" type="pres">
      <dgm:prSet presAssocID="{5C19DF76-340B-48B1-A900-77C4B6D8EDED}" presName="space" presStyleCnt="0"/>
      <dgm:spPr/>
    </dgm:pt>
    <dgm:pt modelId="{ADBC9981-005A-44C7-ABC6-555F7D3CC77F}" type="pres">
      <dgm:prSet presAssocID="{EFD20457-FEAC-4917-BD79-D306D684C6D7}" presName="composite" presStyleCnt="0"/>
      <dgm:spPr/>
    </dgm:pt>
    <dgm:pt modelId="{68D6EB10-EB07-4073-B2D1-A6C8DFC0950A}" type="pres">
      <dgm:prSet presAssocID="{EFD20457-FEAC-4917-BD79-D306D684C6D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05F94D3-E8DF-40C4-AC3C-3EB48A040AC9}" type="pres">
      <dgm:prSet presAssocID="{EFD20457-FEAC-4917-BD79-D306D684C6D7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7038D02-1C11-446E-8EC0-A91330456993}" type="presOf" srcId="{C0B9BE25-5FAC-4235-83E4-60BDAA0EA870}" destId="{8390A195-F5D2-44D2-92F5-2F1922E4481B}" srcOrd="0" destOrd="1" presId="urn:microsoft.com/office/officeart/2005/8/layout/hList1"/>
    <dgm:cxn modelId="{847B0A0A-B15E-42A9-98EF-07D574C595C9}" type="presOf" srcId="{BC8122E5-54A8-4CDC-B790-7C0D0B2C91EF}" destId="{ECEED7EA-98FE-44BB-9F0D-03728665700D}" srcOrd="0" destOrd="1" presId="urn:microsoft.com/office/officeart/2005/8/layout/hList1"/>
    <dgm:cxn modelId="{E6A39715-7A35-452F-B2F2-F24A8EE601DA}" type="presOf" srcId="{B5C8661E-A675-4862-BDEF-07EFE9A3F3FB}" destId="{C0128193-C945-4396-9920-82238F38DA16}" srcOrd="0" destOrd="0" presId="urn:microsoft.com/office/officeart/2005/8/layout/hList1"/>
    <dgm:cxn modelId="{31FBA826-EDE7-4F7F-B9DD-D996E1699ECE}" srcId="{C3D7D3DE-DFEE-4695-A3CF-7EBCFD7AD426}" destId="{1CCC1A60-CAE1-4C8F-8C3F-478FC462A09F}" srcOrd="0" destOrd="0" parTransId="{1A83E21C-A9A6-4519-92F8-A1923A225915}" sibTransId="{D059053E-2B8E-429D-9441-F464105CEACD}"/>
    <dgm:cxn modelId="{29FD0B31-BBC6-49F6-B0E5-2FF05671039D}" type="presOf" srcId="{C3D7D3DE-DFEE-4695-A3CF-7EBCFD7AD426}" destId="{A4BD0E31-BA9A-414F-9F4C-0F64637F90D2}" srcOrd="0" destOrd="0" presId="urn:microsoft.com/office/officeart/2005/8/layout/hList1"/>
    <dgm:cxn modelId="{F1300D32-1A12-4852-99DD-AA8323FD5AE2}" srcId="{EFD20457-FEAC-4917-BD79-D306D684C6D7}" destId="{6773324C-6D71-483F-A220-16A06B74503D}" srcOrd="3" destOrd="0" parTransId="{70DA44A6-3867-4398-B774-792DDB917F2B}" sibTransId="{B349B57E-EE80-4F53-8F03-5D7929B8B1BA}"/>
    <dgm:cxn modelId="{0CBD1E36-8ED1-4681-8D90-9BF4F3E1656B}" type="presOf" srcId="{E0A9A011-B9BE-429D-8D7A-403D4DB86DDB}" destId="{FEC13636-1A18-49FD-B32E-737E33E6E5ED}" srcOrd="0" destOrd="0" presId="urn:microsoft.com/office/officeart/2005/8/layout/hList1"/>
    <dgm:cxn modelId="{421C4A36-5E41-4B53-A137-FA91E4E5E186}" srcId="{E0A9A011-B9BE-429D-8D7A-403D4DB86DDB}" destId="{B5C8661E-A675-4862-BDEF-07EFE9A3F3FB}" srcOrd="1" destOrd="0" parTransId="{B4139481-F9E2-4263-A1A5-DE1ADF3F4D69}" sibTransId="{5C19DF76-340B-48B1-A900-77C4B6D8EDED}"/>
    <dgm:cxn modelId="{B8EE4D3A-A56B-495F-8500-673ABD08F9A3}" type="presOf" srcId="{EFD20457-FEAC-4917-BD79-D306D684C6D7}" destId="{68D6EB10-EB07-4073-B2D1-A6C8DFC0950A}" srcOrd="0" destOrd="0" presId="urn:microsoft.com/office/officeart/2005/8/layout/hList1"/>
    <dgm:cxn modelId="{80E3F15D-1D10-446D-A82C-0F173ED6672E}" type="presOf" srcId="{0BB8D598-8162-4A29-9AB4-2E39F926FCEE}" destId="{205F94D3-E8DF-40C4-AC3C-3EB48A040AC9}" srcOrd="0" destOrd="1" presId="urn:microsoft.com/office/officeart/2005/8/layout/hList1"/>
    <dgm:cxn modelId="{7D9C6066-DBF6-487A-B48C-713DBF2240E8}" type="presOf" srcId="{6773324C-6D71-483F-A220-16A06B74503D}" destId="{205F94D3-E8DF-40C4-AC3C-3EB48A040AC9}" srcOrd="0" destOrd="3" presId="urn:microsoft.com/office/officeart/2005/8/layout/hList1"/>
    <dgm:cxn modelId="{1F8C0E48-C80E-4095-846B-60E50FE6D551}" srcId="{EFD20457-FEAC-4917-BD79-D306D684C6D7}" destId="{8D031DAB-89D3-4E44-8ECF-0E72B4E68BC6}" srcOrd="2" destOrd="0" parTransId="{0FA5A2B1-4AC1-4D7D-89A4-2117AD19F914}" sibTransId="{EC1734D2-BF0D-4E41-A423-57446CC1296C}"/>
    <dgm:cxn modelId="{17B0B675-3F4A-4BBD-A90A-A455315372F2}" srcId="{EFD20457-FEAC-4917-BD79-D306D684C6D7}" destId="{0BB8D598-8162-4A29-9AB4-2E39F926FCEE}" srcOrd="1" destOrd="0" parTransId="{84C92259-38F3-4CAB-B7FB-BF25BBCF4881}" sibTransId="{2DEC8188-08D1-4728-BAFE-7FA4F39A0BD9}"/>
    <dgm:cxn modelId="{CF612E56-AB1E-4974-9D1F-2C39FF8D6ACD}" srcId="{C3D7D3DE-DFEE-4695-A3CF-7EBCFD7AD426}" destId="{DDF744DE-1CF9-40D1-8A1B-7606CD56B58D}" srcOrd="2" destOrd="0" parTransId="{EB47EC6E-8680-4E7B-B1AC-0B65575FCB1A}" sibTransId="{37CECFA4-2F39-4850-AA63-C61B4420DC8C}"/>
    <dgm:cxn modelId="{5EE51683-3EC3-4805-837B-F58A61F59019}" srcId="{EFD20457-FEAC-4917-BD79-D306D684C6D7}" destId="{2A07273D-7C36-4BB3-8C21-66D4DB0EB88F}" srcOrd="0" destOrd="0" parTransId="{DC6194BD-CFD2-4DC3-9528-047283EA8E0F}" sibTransId="{60459656-340F-4AD0-AD41-720F482A87C0}"/>
    <dgm:cxn modelId="{10AE6A84-81F4-4258-B2E9-1CC106A14533}" srcId="{B5C8661E-A675-4862-BDEF-07EFE9A3F3FB}" destId="{C0B9BE25-5FAC-4235-83E4-60BDAA0EA870}" srcOrd="1" destOrd="0" parTransId="{13CEBBA0-9924-4675-A19D-19E29BF64E1D}" sibTransId="{DF33B3F1-A6C4-4F4C-8C00-BE8D5946BED0}"/>
    <dgm:cxn modelId="{0BAE198A-FCDB-4A65-B80B-9DACACE43786}" srcId="{B5C8661E-A675-4862-BDEF-07EFE9A3F3FB}" destId="{79463084-0095-415E-8B49-E7CB8F3C2D6E}" srcOrd="0" destOrd="0" parTransId="{E84E8598-25F0-4336-B847-4D42C43251C3}" sibTransId="{DF2BBC03-D2D9-4AA3-8EC2-7685A6D13E38}"/>
    <dgm:cxn modelId="{01A8708E-648C-4467-ADC9-A9C4492D2EF3}" type="presOf" srcId="{79463084-0095-415E-8B49-E7CB8F3C2D6E}" destId="{8390A195-F5D2-44D2-92F5-2F1922E4481B}" srcOrd="0" destOrd="0" presId="urn:microsoft.com/office/officeart/2005/8/layout/hList1"/>
    <dgm:cxn modelId="{D9E02C9E-0BB8-4F75-8A66-EE2E981CC407}" srcId="{E0A9A011-B9BE-429D-8D7A-403D4DB86DDB}" destId="{EFD20457-FEAC-4917-BD79-D306D684C6D7}" srcOrd="2" destOrd="0" parTransId="{0871BE28-AA8C-48A0-8715-B09EFB93ACD5}" sibTransId="{21D361A8-C224-4490-ABC7-81C90737022D}"/>
    <dgm:cxn modelId="{D98489A8-4AD5-4CD9-9131-0A2F08C5A3AC}" srcId="{B5C8661E-A675-4862-BDEF-07EFE9A3F3FB}" destId="{423B2637-2BF0-429C-BD6F-0CC96AFDBAAF}" srcOrd="2" destOrd="0" parTransId="{A00F9635-EBC6-426C-8339-F06D21A93896}" sibTransId="{F2D4D0B5-932D-4D25-94C9-67DAACF0BBF6}"/>
    <dgm:cxn modelId="{D44C7BAA-27C0-4280-A405-0DA99E723D6E}" type="presOf" srcId="{2A07273D-7C36-4BB3-8C21-66D4DB0EB88F}" destId="{205F94D3-E8DF-40C4-AC3C-3EB48A040AC9}" srcOrd="0" destOrd="0" presId="urn:microsoft.com/office/officeart/2005/8/layout/hList1"/>
    <dgm:cxn modelId="{F92EB7B0-221A-4554-8E61-82BFBBCAC7A5}" type="presOf" srcId="{DDF744DE-1CF9-40D1-8A1B-7606CD56B58D}" destId="{ECEED7EA-98FE-44BB-9F0D-03728665700D}" srcOrd="0" destOrd="2" presId="urn:microsoft.com/office/officeart/2005/8/layout/hList1"/>
    <dgm:cxn modelId="{0E59E8B2-9537-4F95-9BC2-490436D4F9C7}" srcId="{C3D7D3DE-DFEE-4695-A3CF-7EBCFD7AD426}" destId="{BC8122E5-54A8-4CDC-B790-7C0D0B2C91EF}" srcOrd="1" destOrd="0" parTransId="{4435A3F5-56EF-4676-A255-856B2BADA598}" sibTransId="{E7908DF8-5F46-4C09-86F6-B83CA66CEDAB}"/>
    <dgm:cxn modelId="{35025DB4-F1CF-43BD-89D2-E156686F43FF}" type="presOf" srcId="{1CCC1A60-CAE1-4C8F-8C3F-478FC462A09F}" destId="{ECEED7EA-98FE-44BB-9F0D-03728665700D}" srcOrd="0" destOrd="0" presId="urn:microsoft.com/office/officeart/2005/8/layout/hList1"/>
    <dgm:cxn modelId="{4BD3B7B7-F545-4E8A-A2D2-5CA72B3C24F6}" srcId="{E0A9A011-B9BE-429D-8D7A-403D4DB86DDB}" destId="{C3D7D3DE-DFEE-4695-A3CF-7EBCFD7AD426}" srcOrd="0" destOrd="0" parTransId="{DAE54914-8734-41EE-89E0-B79C65A3EFB9}" sibTransId="{7DD03DDE-6A12-452A-B866-FF62560728E5}"/>
    <dgm:cxn modelId="{BFCA13BF-EF58-495B-97E6-558CAEA79C48}" type="presOf" srcId="{8D031DAB-89D3-4E44-8ECF-0E72B4E68BC6}" destId="{205F94D3-E8DF-40C4-AC3C-3EB48A040AC9}" srcOrd="0" destOrd="2" presId="urn:microsoft.com/office/officeart/2005/8/layout/hList1"/>
    <dgm:cxn modelId="{CA0E79DE-AE92-4915-9BA4-DC2EF2ABD3AF}" type="presOf" srcId="{423B2637-2BF0-429C-BD6F-0CC96AFDBAAF}" destId="{8390A195-F5D2-44D2-92F5-2F1922E4481B}" srcOrd="0" destOrd="2" presId="urn:microsoft.com/office/officeart/2005/8/layout/hList1"/>
    <dgm:cxn modelId="{DFF53380-B810-4AF4-94A4-BC02417E5DB7}" type="presParOf" srcId="{FEC13636-1A18-49FD-B32E-737E33E6E5ED}" destId="{6468A156-F624-47A9-BE2B-C8F3925CBEE3}" srcOrd="0" destOrd="0" presId="urn:microsoft.com/office/officeart/2005/8/layout/hList1"/>
    <dgm:cxn modelId="{E078B7A8-6BAF-46CC-B392-0E9DFE900CE6}" type="presParOf" srcId="{6468A156-F624-47A9-BE2B-C8F3925CBEE3}" destId="{A4BD0E31-BA9A-414F-9F4C-0F64637F90D2}" srcOrd="0" destOrd="0" presId="urn:microsoft.com/office/officeart/2005/8/layout/hList1"/>
    <dgm:cxn modelId="{67300164-A119-42D0-81F0-AF6F2B8AA87D}" type="presParOf" srcId="{6468A156-F624-47A9-BE2B-C8F3925CBEE3}" destId="{ECEED7EA-98FE-44BB-9F0D-03728665700D}" srcOrd="1" destOrd="0" presId="urn:microsoft.com/office/officeart/2005/8/layout/hList1"/>
    <dgm:cxn modelId="{B1326601-284B-4018-B98E-A4F2EB3934B5}" type="presParOf" srcId="{FEC13636-1A18-49FD-B32E-737E33E6E5ED}" destId="{23ECF1BB-F27A-44AD-BCFC-FF1A47C50EE6}" srcOrd="1" destOrd="0" presId="urn:microsoft.com/office/officeart/2005/8/layout/hList1"/>
    <dgm:cxn modelId="{9E87ED06-9F7F-4705-A82B-F3FBA74A0AFD}" type="presParOf" srcId="{FEC13636-1A18-49FD-B32E-737E33E6E5ED}" destId="{D145C35A-77A7-476B-8B4C-DD7CE067BD41}" srcOrd="2" destOrd="0" presId="urn:microsoft.com/office/officeart/2005/8/layout/hList1"/>
    <dgm:cxn modelId="{0017E238-36E2-4653-811A-C176E4D4A868}" type="presParOf" srcId="{D145C35A-77A7-476B-8B4C-DD7CE067BD41}" destId="{C0128193-C945-4396-9920-82238F38DA16}" srcOrd="0" destOrd="0" presId="urn:microsoft.com/office/officeart/2005/8/layout/hList1"/>
    <dgm:cxn modelId="{9472B234-62CC-4214-A5AB-0C9E75F2934B}" type="presParOf" srcId="{D145C35A-77A7-476B-8B4C-DD7CE067BD41}" destId="{8390A195-F5D2-44D2-92F5-2F1922E4481B}" srcOrd="1" destOrd="0" presId="urn:microsoft.com/office/officeart/2005/8/layout/hList1"/>
    <dgm:cxn modelId="{B124E5A7-4F0C-4C9D-9111-A7454A0EBD53}" type="presParOf" srcId="{FEC13636-1A18-49FD-B32E-737E33E6E5ED}" destId="{0CDC81D7-34BD-4B3B-A4EB-D6FE48CD1F23}" srcOrd="3" destOrd="0" presId="urn:microsoft.com/office/officeart/2005/8/layout/hList1"/>
    <dgm:cxn modelId="{5C2AF166-52A7-4667-952B-5F81D0E6B2BF}" type="presParOf" srcId="{FEC13636-1A18-49FD-B32E-737E33E6E5ED}" destId="{ADBC9981-005A-44C7-ABC6-555F7D3CC77F}" srcOrd="4" destOrd="0" presId="urn:microsoft.com/office/officeart/2005/8/layout/hList1"/>
    <dgm:cxn modelId="{72DEA592-1E6A-443B-8C35-D65D6BE640E1}" type="presParOf" srcId="{ADBC9981-005A-44C7-ABC6-555F7D3CC77F}" destId="{68D6EB10-EB07-4073-B2D1-A6C8DFC0950A}" srcOrd="0" destOrd="0" presId="urn:microsoft.com/office/officeart/2005/8/layout/hList1"/>
    <dgm:cxn modelId="{1FBBF149-049D-4B66-87F4-1215B392452E}" type="presParOf" srcId="{ADBC9981-005A-44C7-ABC6-555F7D3CC77F}" destId="{205F94D3-E8DF-40C4-AC3C-3EB48A040AC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D0E31-BA9A-414F-9F4C-0F64637F90D2}">
      <dsp:nvSpPr>
        <dsp:cNvPr id="0" name=""/>
        <dsp:cNvSpPr/>
      </dsp:nvSpPr>
      <dsp:spPr>
        <a:xfrm>
          <a:off x="3286" y="273654"/>
          <a:ext cx="3203971" cy="691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Simulation</a:t>
          </a:r>
          <a:endParaRPr lang="en-US" sz="2400" kern="1200"/>
        </a:p>
      </dsp:txBody>
      <dsp:txXfrm>
        <a:off x="3286" y="273654"/>
        <a:ext cx="3203971" cy="691200"/>
      </dsp:txXfrm>
    </dsp:sp>
    <dsp:sp modelId="{ECEED7EA-98FE-44BB-9F0D-03728665700D}">
      <dsp:nvSpPr>
        <dsp:cNvPr id="0" name=""/>
        <dsp:cNvSpPr/>
      </dsp:nvSpPr>
      <dsp:spPr>
        <a:xfrm>
          <a:off x="3286" y="964854"/>
          <a:ext cx="3203971" cy="31128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Filtersimulationen in LTSpice</a:t>
          </a:r>
          <a:endParaRPr lang="de-DE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Spezialfall Resonanz</a:t>
          </a:r>
          <a:endParaRPr lang="de-DE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 err="1">
              <a:latin typeface="Aptos Display" panose="020F0302020204030204"/>
            </a:rPr>
            <a:t>Worst</a:t>
          </a:r>
          <a:r>
            <a:rPr lang="de-DE" sz="2400" kern="1200">
              <a:latin typeface="Aptos Display" panose="020F0302020204030204"/>
            </a:rPr>
            <a:t> Case Analyse</a:t>
          </a:r>
        </a:p>
      </dsp:txBody>
      <dsp:txXfrm>
        <a:off x="3286" y="964854"/>
        <a:ext cx="3203971" cy="3112830"/>
      </dsp:txXfrm>
    </dsp:sp>
    <dsp:sp modelId="{C0128193-C945-4396-9920-82238F38DA16}">
      <dsp:nvSpPr>
        <dsp:cNvPr id="0" name=""/>
        <dsp:cNvSpPr/>
      </dsp:nvSpPr>
      <dsp:spPr>
        <a:xfrm>
          <a:off x="3655814" y="273654"/>
          <a:ext cx="3203971" cy="69120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Messung</a:t>
          </a:r>
          <a:endParaRPr lang="en-US" sz="2400" kern="1200"/>
        </a:p>
      </dsp:txBody>
      <dsp:txXfrm>
        <a:off x="3655814" y="273654"/>
        <a:ext cx="3203971" cy="691200"/>
      </dsp:txXfrm>
    </dsp:sp>
    <dsp:sp modelId="{8390A195-F5D2-44D2-92F5-2F1922E4481B}">
      <dsp:nvSpPr>
        <dsp:cNvPr id="0" name=""/>
        <dsp:cNvSpPr/>
      </dsp:nvSpPr>
      <dsp:spPr>
        <a:xfrm>
          <a:off x="3655814" y="964854"/>
          <a:ext cx="3203971" cy="3112830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 Messung RC Hochpassfilter 1. Ordnung</a:t>
          </a:r>
          <a:endParaRPr lang="de-DE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 Messung LC Tiefpassfilter 2. Ordnung</a:t>
          </a:r>
          <a:endParaRPr lang="de-DE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 Messung RC </a:t>
          </a:r>
          <a:r>
            <a:rPr lang="de-DE" sz="2400" kern="1200" err="1">
              <a:latin typeface="Aptos Display" panose="020F0302020204030204"/>
            </a:rPr>
            <a:t>Bandpass</a:t>
          </a:r>
          <a:r>
            <a:rPr lang="de-DE" sz="2400" kern="1200">
              <a:latin typeface="Aptos Display" panose="020F0302020204030204"/>
            </a:rPr>
            <a:t> 1. Ordnung</a:t>
          </a:r>
        </a:p>
      </dsp:txBody>
      <dsp:txXfrm>
        <a:off x="3655814" y="964854"/>
        <a:ext cx="3203971" cy="3112830"/>
      </dsp:txXfrm>
    </dsp:sp>
    <dsp:sp modelId="{68D6EB10-EB07-4073-B2D1-A6C8DFC0950A}">
      <dsp:nvSpPr>
        <dsp:cNvPr id="0" name=""/>
        <dsp:cNvSpPr/>
      </dsp:nvSpPr>
      <dsp:spPr>
        <a:xfrm>
          <a:off x="7308342" y="273654"/>
          <a:ext cx="3203971" cy="6912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Platine</a:t>
          </a:r>
          <a:endParaRPr lang="en-US" sz="2400" kern="1200"/>
        </a:p>
      </dsp:txBody>
      <dsp:txXfrm>
        <a:off x="7308342" y="273654"/>
        <a:ext cx="3203971" cy="691200"/>
      </dsp:txXfrm>
    </dsp:sp>
    <dsp:sp modelId="{205F94D3-E8DF-40C4-AC3C-3EB48A040AC9}">
      <dsp:nvSpPr>
        <dsp:cNvPr id="0" name=""/>
        <dsp:cNvSpPr/>
      </dsp:nvSpPr>
      <dsp:spPr>
        <a:xfrm>
          <a:off x="7308342" y="964854"/>
          <a:ext cx="3203971" cy="311283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Schaltplan , Board</a:t>
          </a:r>
          <a:endParaRPr lang="en-US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Spulen- Kondensatorarten</a:t>
          </a:r>
          <a:endParaRPr lang="en-US" sz="2400" kern="120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>
              <a:latin typeface="Aptos Display" panose="020F0302020204030204"/>
            </a:rPr>
            <a:t>Frequenzverhalten C</a:t>
          </a: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de-DE" sz="2400" kern="1200">
            <a:latin typeface="Aptos Display" panose="020F0302020204030204"/>
          </a:endParaRPr>
        </a:p>
      </dsp:txBody>
      <dsp:txXfrm>
        <a:off x="7308342" y="964854"/>
        <a:ext cx="3203971" cy="3112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ode 100 - Vector Network Analyzer">
            <a:extLst>
              <a:ext uri="{FF2B5EF4-FFF2-40B4-BE49-F238E27FC236}">
                <a16:creationId xmlns:a16="http://schemas.microsoft.com/office/drawing/2014/main" id="{B7C22C07-6B4F-7C9F-FE06-6FFB53B44D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2631" r="-10" b="639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de-DE" sz="5000" noProof="0">
                <a:solidFill>
                  <a:schemeClr val="bg1"/>
                </a:solidFill>
              </a:rPr>
              <a:t>Bode 100 </a:t>
            </a:r>
            <a:r>
              <a:rPr lang="de-DE" sz="5000" noProof="0" err="1">
                <a:solidFill>
                  <a:schemeClr val="bg1"/>
                </a:solidFill>
              </a:rPr>
              <a:t>Advanced</a:t>
            </a:r>
            <a:r>
              <a:rPr lang="de-DE" sz="5000">
                <a:solidFill>
                  <a:schemeClr val="bg1"/>
                </a:solidFill>
              </a:rPr>
              <a:t> &amp; Filter</a:t>
            </a:r>
            <a:endParaRPr lang="de-DE" sz="5000" noProof="0">
              <a:solidFill>
                <a:schemeClr val="bg1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sz="2000" err="1">
                <a:solidFill>
                  <a:schemeClr val="bg1"/>
                </a:solidFill>
              </a:rPr>
              <a:t>Hueber</a:t>
            </a:r>
            <a:r>
              <a:rPr lang="de-DE" sz="2000">
                <a:solidFill>
                  <a:schemeClr val="bg1"/>
                </a:solidFill>
              </a:rPr>
              <a:t>, Stampfl, Wolf</a:t>
            </a:r>
            <a:endParaRPr lang="de-DE" sz="2000" noProof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5D96AB-869D-4452-D14A-25841BD2FC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862" r="9085" b="194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7711A-74B9-C8F0-5AC8-030697B8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noProof="0"/>
              <a:t>Inhalt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59273-12CB-E8C6-FF4D-C91B8CDD8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6469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6230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84134-7EF8-7105-ACB1-BA2634BF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de-DE" sz="4000" noProof="0"/>
              <a:t>Hochpass 1. Ordnung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4C36E8D-0F9B-FA2F-E2C4-907CE506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7F1D7F-0DBC-6E60-28CE-8EA506C59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12" y="2510495"/>
            <a:ext cx="5344848" cy="2918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01249B-77EA-050A-CBFA-1A51AB7A7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684" y="3463828"/>
            <a:ext cx="4389120" cy="50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1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46B1B-298C-7C5B-2EB9-AF7386ED9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err="1">
                <a:latin typeface="+mj-lt"/>
                <a:ea typeface="+mj-ea"/>
                <a:cs typeface="+mj-cs"/>
              </a:rPr>
              <a:t>Bodediagramm</a:t>
            </a:r>
            <a:r>
              <a:rPr lang="en-US" sz="3600"/>
              <a:t> </a:t>
            </a:r>
            <a:r>
              <a:rPr lang="en-US" sz="3600" err="1"/>
              <a:t>Hochpass</a:t>
            </a:r>
            <a:endParaRPr lang="en-US" sz="3600" kern="1200" noProof="0" err="1"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03FDA5-067F-217C-3E84-80B11BF2D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87" y="2354239"/>
            <a:ext cx="892222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6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907AC4-9053-E298-C46C-5CB5D16A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849666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Messaufbau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RC-</a:t>
            </a:r>
            <a:r>
              <a:rPr lang="en-US" sz="3600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Hochpass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3B8FBF1-C82E-448B-9AD9-696D76DFB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51" b="1535"/>
          <a:stretch/>
        </p:blipFill>
        <p:spPr>
          <a:xfrm>
            <a:off x="5039161" y="643466"/>
            <a:ext cx="6257010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76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EA7F6-4F21-48C4-C798-6F8C74B00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7603375" cy="1169585"/>
          </a:xfrm>
        </p:spPr>
        <p:txBody>
          <a:bodyPr anchor="b">
            <a:normAutofit/>
          </a:bodyPr>
          <a:lstStyle/>
          <a:p>
            <a:r>
              <a:rPr lang="de-DE" sz="4000" noProof="0"/>
              <a:t>Tiefpass 2. Ordnung</a:t>
            </a:r>
            <a:r>
              <a:rPr lang="de-DE" sz="4000"/>
              <a:t> (</a:t>
            </a:r>
            <a:r>
              <a:rPr lang="de-DE" sz="4000" err="1"/>
              <a:t>Schwinkreis</a:t>
            </a:r>
            <a:r>
              <a:rPr lang="de-DE" sz="4000"/>
              <a:t>)</a:t>
            </a:r>
            <a:endParaRPr lang="de-DE" sz="4000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6D68DB0-83D2-FD45-5B85-2B8096CC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C5ACF7-C679-D2E4-D8FA-D59B30801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85" y="2804912"/>
            <a:ext cx="5138204" cy="2717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045B8-DCD6-8AA7-ECC1-51E01FC37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091" y="3006174"/>
            <a:ext cx="4389120" cy="131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8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0EF11B-18EE-9B02-3D19-C583B6FF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err="1">
                <a:latin typeface="+mj-lt"/>
                <a:ea typeface="+mj-ea"/>
                <a:cs typeface="+mj-cs"/>
              </a:rPr>
              <a:t>Bodediagramm</a:t>
            </a:r>
            <a:r>
              <a:rPr lang="en-US" sz="3600"/>
              <a:t> </a:t>
            </a:r>
            <a:r>
              <a:rPr lang="en-US" sz="3600" err="1"/>
              <a:t>Tiefpass</a:t>
            </a:r>
            <a:endParaRPr lang="en-US" sz="3600" kern="1200" noProof="0" err="1">
              <a:latin typeface="+mj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6784D7-CBF2-D602-8960-57CDB664B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87" y="2354239"/>
            <a:ext cx="892222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0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0E9DF5-44D2-A70C-F18F-E81A0E666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Güte in einem Schwingkreis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E6BE10-BDB3-474B-CFF1-C72870DF4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124" b="-2"/>
          <a:stretch/>
        </p:blipFill>
        <p:spPr>
          <a:xfrm>
            <a:off x="635295" y="2798927"/>
            <a:ext cx="5150277" cy="316582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8567497-7A5C-6D0A-80CF-C8F5A5CE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Die Güte beschreibt das Verhältnis von gespeicherter Energie zur pro Zyklus verlorenen Energie im Resonanzkreis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5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82A38-DD2C-14D1-A2EB-C89B776C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F20EBD-B3D9-F118-0A8C-AA8B77636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9B2093-BF8B-20E2-F0C0-0280E1106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A7BE4D-47E3-3148-B0DB-0CA7A28F1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04532C-6BE3-81D5-AC4C-6180213B6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35255-55CF-F431-1987-4C42BA4F2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FCC59-DF2E-EF95-7F07-5188A661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1101237"/>
            <a:ext cx="5076003" cy="967180"/>
          </a:xfrm>
        </p:spPr>
        <p:txBody>
          <a:bodyPr anchor="b">
            <a:normAutofit fontScale="90000"/>
          </a:bodyPr>
          <a:lstStyle/>
          <a:p>
            <a:r>
              <a:rPr lang="en-US" err="1"/>
              <a:t>Verbesserte</a:t>
            </a:r>
            <a:r>
              <a:rPr lang="en-US"/>
              <a:t> </a:t>
            </a:r>
            <a:r>
              <a:rPr lang="en-US" err="1"/>
              <a:t>Schaltung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10Ω </a:t>
            </a:r>
            <a:r>
              <a:rPr lang="en-US" err="1"/>
              <a:t>Dämpfung</a:t>
            </a:r>
            <a:endParaRPr lang="de-DE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8BF315-9DED-5D63-1E43-0A9D39FEB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B03D7E4-D372-FBAD-3733-56D16DDEB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D6FB489-29E1-3AA4-9FCD-0A1BB1B9E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406" y="2510183"/>
            <a:ext cx="5495558" cy="30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9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B7D24-B03E-C442-6ED6-C0B1B041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Dadurch geringerer Peak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CA78E0-01FA-524A-0D7B-B81F89A19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87" y="2354239"/>
            <a:ext cx="892222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3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0BC5F4-06BB-BD21-7941-B6E3100E6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Messaufbau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LC-Tiefpass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7D3E53C-7031-7F44-4199-649CD07C9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638" y="643466"/>
            <a:ext cx="6222055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3DD55-E2E1-A03D-F0EF-582B52FC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2E3E228-58E4-9A44-A312-1F04772F5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EF5DDC7-E126-BD6D-A746-91A5D7743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798AAB-C38F-6ED5-4FDB-1C1E92E14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BF9095-E940-FC58-B2E8-109E2EE0BB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DD8247C-CC05-F392-DD7C-8367B1B9E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70BFC-129E-9F07-0D75-DBD511BDB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de-DE" sz="4000" err="1"/>
              <a:t>Bandpass</a:t>
            </a:r>
            <a:endParaRPr lang="en-US" err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32E661-3E80-5640-2425-EE246CDFF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22071A2-02CA-D491-8401-37A885314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403BFE71-09D0-0284-E994-2CAA8A99B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67" y="2828376"/>
            <a:ext cx="5435914" cy="2489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FA06CB-17B3-1CE6-690F-EF77A6DD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419" y="3121397"/>
            <a:ext cx="3292790" cy="6173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CDF0D6-C9B6-0110-9285-69EC1C5FF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141" y="4052735"/>
            <a:ext cx="4161946" cy="52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37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FA8D4-4934-D3CC-41FA-90BC9DC5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Bodediagramm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3B30862-E32B-4224-CEAE-D1940672A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87" y="2354239"/>
            <a:ext cx="892222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2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1E38BE-B590-3A76-E7C1-59F331A1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Messaufbau</a:t>
            </a:r>
            <a:b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Bandpass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CFA8C93-47F9-F978-CE13-C7169E549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0027" y="643466"/>
            <a:ext cx="647527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93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9D7E-C368-972A-E932-0635AED0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Worst Case </a:t>
            </a:r>
            <a:r>
              <a:rPr lang="en-US" err="1"/>
              <a:t>Analysen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C4D72-305F-0949-0870-B6EFC9ED7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Toleranzen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Widerstände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 ±2%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Kondensatoren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 ±20%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Spulen</a:t>
            </a:r>
            <a:r>
              <a:rPr lang="en-US"/>
              <a:t> </a:t>
            </a:r>
            <a:r>
              <a:rPr lang="en-US" err="1"/>
              <a:t>mit</a:t>
            </a:r>
            <a:r>
              <a:rPr lang="en-US"/>
              <a:t> ±5%</a:t>
            </a:r>
          </a:p>
          <a:p>
            <a:endParaRPr lang="en-US"/>
          </a:p>
          <a:p>
            <a:r>
              <a:rPr lang="en-US" err="1"/>
              <a:t>Verstärkung</a:t>
            </a:r>
            <a:r>
              <a:rPr lang="en-US"/>
              <a:t> </a:t>
            </a:r>
            <a:r>
              <a:rPr lang="en-US" err="1"/>
              <a:t>bekommt</a:t>
            </a:r>
            <a:r>
              <a:rPr lang="en-US"/>
              <a:t> </a:t>
            </a:r>
            <a:r>
              <a:rPr lang="en-US" err="1"/>
              <a:t>über</a:t>
            </a:r>
            <a:r>
              <a:rPr lang="en-US"/>
              <a:t> das </a:t>
            </a:r>
            <a:r>
              <a:rPr lang="en-US" err="1"/>
              <a:t>gesamte</a:t>
            </a:r>
            <a:r>
              <a:rPr lang="en-US"/>
              <a:t> Spektrum </a:t>
            </a:r>
            <a:r>
              <a:rPr lang="en-US" err="1"/>
              <a:t>eine</a:t>
            </a:r>
            <a:r>
              <a:rPr lang="en-US"/>
              <a:t> </a:t>
            </a:r>
            <a:r>
              <a:rPr lang="en-US" err="1"/>
              <a:t>eigene</a:t>
            </a:r>
            <a:r>
              <a:rPr lang="en-US"/>
              <a:t> </a:t>
            </a:r>
            <a:r>
              <a:rPr lang="en-US" err="1"/>
              <a:t>Toleranz</a:t>
            </a:r>
            <a:r>
              <a:rPr lang="en-US"/>
              <a:t> (Worst Case)</a:t>
            </a:r>
          </a:p>
        </p:txBody>
      </p:sp>
    </p:spTree>
    <p:extLst>
      <p:ext uri="{BB962C8B-B14F-4D97-AF65-F5344CB8AC3E}">
        <p14:creationId xmlns:p14="http://schemas.microsoft.com/office/powerpoint/2010/main" val="403922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614BA-FA16-D9FD-CF9C-9436F97F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Worst Case im Hochpass 1. Ordnung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EABF1D-290C-257F-246D-8F1201C66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191" y="2354239"/>
            <a:ext cx="928961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1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C5B23D-E5D3-38C3-7324-39564457D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" y="609643"/>
            <a:ext cx="12170568" cy="250209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2243C6-3ECF-E19D-35DF-342B9853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6909"/>
            <a:ext cx="12192000" cy="258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12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00D0D-C445-2F4C-DBC8-486E01265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Worst Case im Tiefpass 2. Ordnung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688063-F683-C579-EC9D-01E26D7C2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87" y="2354239"/>
            <a:ext cx="892222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85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87CD3B-0877-07E7-1ADE-4472FCB70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3" y="431736"/>
            <a:ext cx="12194381" cy="2590929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D04482-54EE-1CA7-9335-D65F95141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3003"/>
            <a:ext cx="12192000" cy="257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51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64ED-10C3-E515-F5D2-3723FB90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Worst Case im Bandpass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EFE7A3-5E3D-96DF-1BC7-9BC4492AC0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887" y="2354239"/>
            <a:ext cx="8922225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73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0D2212-6A1A-FFE4-B931-9D671A5F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06417"/>
            <a:ext cx="12179084" cy="257693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75C95C-9CEF-15F9-B9C2-F597F35DE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23" y="675915"/>
            <a:ext cx="12181667" cy="2582453"/>
          </a:xfrm>
        </p:spPr>
      </p:pic>
    </p:spTree>
    <p:extLst>
      <p:ext uri="{BB962C8B-B14F-4D97-AF65-F5344CB8AC3E}">
        <p14:creationId xmlns:p14="http://schemas.microsoft.com/office/powerpoint/2010/main" val="901521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99DD-A368-DAE9-A382-16A388BB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55" y="305066"/>
            <a:ext cx="4426054" cy="1600200"/>
          </a:xfrm>
        </p:spPr>
        <p:txBody>
          <a:bodyPr/>
          <a:lstStyle/>
          <a:p>
            <a:r>
              <a:rPr lang="en-US" b="1" err="1"/>
              <a:t>Schaltplan</a:t>
            </a:r>
            <a:r>
              <a:rPr lang="en-US" b="1"/>
              <a:t> V1 </a:t>
            </a:r>
            <a:r>
              <a:rPr lang="en-US" b="1" err="1"/>
              <a:t>Grundidee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FBF762-F894-11B7-6144-788E5F2DA3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108176"/>
            <a:ext cx="6172200" cy="463212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2EE569-FBBC-2B3D-DDFC-52E81411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9566" y="2190350"/>
            <a:ext cx="4809142" cy="42757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ea typeface="+mn-lt"/>
                <a:cs typeface="+mn-lt"/>
              </a:rPr>
              <a:t>Per </a:t>
            </a:r>
            <a:r>
              <a:rPr lang="en-US" sz="2000" b="1" err="1">
                <a:ea typeface="+mn-lt"/>
                <a:cs typeface="+mn-lt"/>
              </a:rPr>
              <a:t>Stiftleisten</a:t>
            </a:r>
            <a:r>
              <a:rPr lang="en-US" sz="2000" b="1">
                <a:ea typeface="+mn-lt"/>
                <a:cs typeface="+mn-lt"/>
              </a:rPr>
              <a:t>/Jumper </a:t>
            </a:r>
            <a:r>
              <a:rPr lang="en-US" sz="2000" b="1" err="1">
                <a:ea typeface="+mn-lt"/>
                <a:cs typeface="+mn-lt"/>
              </a:rPr>
              <a:t>umsteckbar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Drei Jumper-</a:t>
            </a:r>
            <a:r>
              <a:rPr lang="en-US" sz="2000" err="1">
                <a:ea typeface="+mn-lt"/>
                <a:cs typeface="+mn-lt"/>
              </a:rPr>
              <a:t>Reihen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mit</a:t>
            </a:r>
            <a:r>
              <a:rPr lang="en-US" sz="2000">
                <a:ea typeface="+mn-lt"/>
                <a:cs typeface="+mn-lt"/>
              </a:rPr>
              <a:t> je 3 Wid., 3 Kond. 3 </a:t>
            </a:r>
            <a:r>
              <a:rPr lang="en-US" sz="2000" err="1">
                <a:ea typeface="+mn-lt"/>
                <a:cs typeface="+mn-lt"/>
              </a:rPr>
              <a:t>Spul</a:t>
            </a:r>
            <a:r>
              <a:rPr lang="en-US" sz="2000">
                <a:ea typeface="+mn-lt"/>
                <a:cs typeface="+mn-lt"/>
              </a:rPr>
              <a:t>., um </a:t>
            </a:r>
            <a:r>
              <a:rPr lang="en-US" sz="2000" err="1">
                <a:ea typeface="+mn-lt"/>
                <a:cs typeface="+mn-lt"/>
              </a:rPr>
              <a:t>jede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mögliche</a:t>
            </a:r>
            <a:r>
              <a:rPr lang="en-US" sz="2000">
                <a:ea typeface="+mn-lt"/>
                <a:cs typeface="+mn-lt"/>
              </a:rPr>
              <a:t> Variation </a:t>
            </a:r>
            <a:r>
              <a:rPr lang="en-US" sz="2000" err="1">
                <a:ea typeface="+mn-lt"/>
                <a:cs typeface="+mn-lt"/>
              </a:rPr>
              <a:t>aus</a:t>
            </a:r>
            <a:r>
              <a:rPr lang="en-US" sz="2000">
                <a:ea typeface="+mn-lt"/>
                <a:cs typeface="+mn-lt"/>
              </a:rPr>
              <a:t> L, C und R – in </a:t>
            </a:r>
            <a:r>
              <a:rPr lang="en-US" sz="2000" err="1">
                <a:ea typeface="+mn-lt"/>
                <a:cs typeface="+mn-lt"/>
              </a:rPr>
              <a:t>Schaltungen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erster</a:t>
            </a:r>
            <a:r>
              <a:rPr lang="en-US" sz="2000">
                <a:ea typeface="+mn-lt"/>
                <a:cs typeface="+mn-lt"/>
              </a:rPr>
              <a:t> und </a:t>
            </a:r>
            <a:r>
              <a:rPr lang="en-US" sz="2000" err="1">
                <a:ea typeface="+mn-lt"/>
                <a:cs typeface="+mn-lt"/>
              </a:rPr>
              <a:t>zweiter</a:t>
            </a:r>
            <a:r>
              <a:rPr lang="en-US" sz="2000">
                <a:ea typeface="+mn-lt"/>
                <a:cs typeface="+mn-lt"/>
              </a:rPr>
              <a:t> Ordnung </a:t>
            </a:r>
            <a:r>
              <a:rPr lang="en-US" sz="2000" err="1">
                <a:ea typeface="+mn-lt"/>
                <a:cs typeface="+mn-lt"/>
              </a:rPr>
              <a:t>realisieren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zu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können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BNC-</a:t>
            </a:r>
            <a:r>
              <a:rPr lang="en-US" sz="2000" b="1" err="1">
                <a:ea typeface="+mn-lt"/>
                <a:cs typeface="+mn-lt"/>
              </a:rPr>
              <a:t>Buchsen</a:t>
            </a: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Zum </a:t>
            </a:r>
            <a:r>
              <a:rPr lang="en-US" sz="2000" err="1">
                <a:ea typeface="+mn-lt"/>
                <a:cs typeface="+mn-lt"/>
              </a:rPr>
              <a:t>direkten</a:t>
            </a:r>
            <a:r>
              <a:rPr lang="en-US" sz="2000">
                <a:ea typeface="+mn-lt"/>
                <a:cs typeface="+mn-lt"/>
              </a:rPr>
              <a:t> Anschluss </a:t>
            </a:r>
            <a:r>
              <a:rPr lang="en-US" sz="2000" err="1">
                <a:ea typeface="+mn-lt"/>
                <a:cs typeface="+mn-lt"/>
              </a:rPr>
              <a:t>ans</a:t>
            </a:r>
            <a:r>
              <a:rPr lang="en-US" sz="2000">
                <a:ea typeface="+mn-lt"/>
                <a:cs typeface="+mn-lt"/>
              </a:rPr>
              <a:t> Bode 100.</a:t>
            </a:r>
            <a:endParaRPr lang="en-US" sz="2000"/>
          </a:p>
          <a:p>
            <a:r>
              <a:rPr lang="en-US" sz="2000" b="1" err="1">
                <a:ea typeface="+mn-lt"/>
                <a:cs typeface="+mn-lt"/>
              </a:rPr>
              <a:t>Verschiedene</a:t>
            </a:r>
            <a:r>
              <a:rPr lang="en-US" sz="2000" b="1">
                <a:ea typeface="+mn-lt"/>
                <a:cs typeface="+mn-lt"/>
              </a:rPr>
              <a:t> L-, C- und R-</a:t>
            </a:r>
            <a:r>
              <a:rPr lang="en-US" sz="2000" b="1" err="1">
                <a:ea typeface="+mn-lt"/>
                <a:cs typeface="+mn-lt"/>
              </a:rPr>
              <a:t>Typen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(</a:t>
            </a:r>
            <a:r>
              <a:rPr lang="en-US" sz="2000" err="1">
                <a:ea typeface="+mn-lt"/>
                <a:cs typeface="+mn-lt"/>
              </a:rPr>
              <a:t>bsp</a:t>
            </a:r>
            <a:r>
              <a:rPr lang="en-US" sz="2000">
                <a:ea typeface="+mn-lt"/>
                <a:cs typeface="+mn-lt"/>
              </a:rPr>
              <a:t>. C =  </a:t>
            </a:r>
            <a:r>
              <a:rPr lang="en-US" sz="2000" err="1">
                <a:ea typeface="+mn-lt"/>
                <a:cs typeface="+mn-lt"/>
              </a:rPr>
              <a:t>Kerko</a:t>
            </a:r>
            <a:r>
              <a:rPr lang="en-US" sz="2000">
                <a:ea typeface="+mn-lt"/>
                <a:cs typeface="+mn-lt"/>
              </a:rPr>
              <a:t>, Elko, </a:t>
            </a:r>
            <a:r>
              <a:rPr lang="en-US" sz="2000" err="1">
                <a:ea typeface="+mn-lt"/>
                <a:cs typeface="+mn-lt"/>
              </a:rPr>
              <a:t>Folien</a:t>
            </a:r>
            <a:r>
              <a:rPr lang="en-US" sz="2000">
                <a:ea typeface="+mn-lt"/>
                <a:cs typeface="+mn-lt"/>
              </a:rPr>
              <a:t>)</a:t>
            </a:r>
            <a:br>
              <a:rPr lang="en-US" sz="2000">
                <a:ea typeface="+mn-lt"/>
                <a:cs typeface="+mn-lt"/>
              </a:rPr>
            </a:br>
            <a:r>
              <a:rPr lang="en-US" sz="2000" err="1">
                <a:ea typeface="+mn-lt"/>
                <a:cs typeface="+mn-lt"/>
              </a:rPr>
              <a:t>verwenden</a:t>
            </a:r>
            <a:r>
              <a:rPr lang="en-US" sz="2000">
                <a:ea typeface="+mn-lt"/>
                <a:cs typeface="+mn-lt"/>
              </a:rPr>
              <a:t> und </a:t>
            </a:r>
            <a:r>
              <a:rPr lang="en-US" sz="2000" err="1">
                <a:ea typeface="+mn-lt"/>
                <a:cs typeface="+mn-lt"/>
              </a:rPr>
              <a:t>diese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anschließenden</a:t>
            </a:r>
            <a:r>
              <a:rPr lang="en-US" sz="2000">
                <a:ea typeface="+mn-lt"/>
                <a:cs typeface="+mn-lt"/>
              </a:rPr>
              <a:t> Analyse auf </a:t>
            </a:r>
            <a:r>
              <a:rPr lang="en-US" sz="2000" err="1">
                <a:ea typeface="+mn-lt"/>
                <a:cs typeface="+mn-lt"/>
              </a:rPr>
              <a:t>Frequenz</a:t>
            </a:r>
            <a:r>
              <a:rPr lang="en-US" sz="2000">
                <a:ea typeface="+mn-lt"/>
                <a:cs typeface="+mn-lt"/>
              </a:rPr>
              <a:t>- und </a:t>
            </a:r>
            <a:r>
              <a:rPr lang="en-US" sz="2000" err="1">
                <a:ea typeface="+mn-lt"/>
                <a:cs typeface="+mn-lt"/>
              </a:rPr>
              <a:t>Phasenverhalten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 marL="285750" indent="-285750"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6590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80B0-BEDB-7080-1F78-87DFEF95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876"/>
            <a:ext cx="3730532" cy="782171"/>
          </a:xfrm>
        </p:spPr>
        <p:txBody>
          <a:bodyPr/>
          <a:lstStyle/>
          <a:p>
            <a:r>
              <a:rPr lang="en-US" b="1"/>
              <a:t>Board V1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D3304E-BF57-2AA5-7BA2-97C5C3F16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1625" y="987425"/>
            <a:ext cx="4855326" cy="487362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B4C7-623C-ACF7-F6C9-6EB2E5254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975" y="2302790"/>
            <a:ext cx="523686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000" err="1">
                <a:ea typeface="+mn-lt"/>
                <a:cs typeface="+mn-lt"/>
              </a:rPr>
              <a:t>Probleme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mit</a:t>
            </a:r>
            <a:r>
              <a:rPr lang="en-US" sz="2000">
                <a:ea typeface="+mn-lt"/>
                <a:cs typeface="+mn-lt"/>
              </a:rPr>
              <a:t> der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Bauteilgröße</a:t>
            </a:r>
            <a:r>
              <a:rPr lang="en-US" sz="2000">
                <a:ea typeface="+mn-lt"/>
                <a:cs typeface="+mn-lt"/>
              </a:rPr>
              <a:t>, da </a:t>
            </a:r>
            <a:r>
              <a:rPr lang="en-US" sz="2000" err="1">
                <a:ea typeface="+mn-lt"/>
                <a:cs typeface="+mn-lt"/>
              </a:rPr>
              <a:t>wir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verschiedene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Typen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>
                <a:ea typeface="+mn-lt"/>
                <a:cs typeface="+mn-lt"/>
              </a:rPr>
              <a:t>und </a:t>
            </a:r>
            <a:r>
              <a:rPr lang="en-US" sz="2000" err="1">
                <a:ea typeface="+mn-lt"/>
                <a:cs typeface="+mn-lt"/>
              </a:rPr>
              <a:t>Werte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verwenden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möchten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US" sz="2000">
                <a:ea typeface="+mn-lt"/>
                <a:cs typeface="+mn-lt"/>
              </a:rPr>
              <a:t>Idee des </a:t>
            </a:r>
            <a:r>
              <a:rPr lang="en-US" sz="2000" err="1">
                <a:ea typeface="+mn-lt"/>
                <a:cs typeface="+mn-lt"/>
              </a:rPr>
              <a:t>einheilichen</a:t>
            </a:r>
            <a:r>
              <a:rPr lang="en-US" sz="2000">
                <a:ea typeface="+mn-lt"/>
                <a:cs typeface="+mn-lt"/>
              </a:rPr>
              <a:t> Boards,</a:t>
            </a:r>
            <a:endParaRPr lang="en-US" sz="2000" err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  </a:t>
            </a:r>
            <a:r>
              <a:rPr lang="en-US" sz="2000" b="1" err="1">
                <a:ea typeface="+mn-lt"/>
                <a:cs typeface="+mn-lt"/>
              </a:rPr>
              <a:t>Bauteile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Bauform</a:t>
            </a:r>
            <a:r>
              <a:rPr lang="en-US" sz="2000" b="1">
                <a:ea typeface="+mn-lt"/>
                <a:cs typeface="+mn-lt"/>
              </a:rPr>
              <a:t> </a:t>
            </a:r>
            <a:r>
              <a:rPr lang="en-US" sz="2000" b="1" err="1">
                <a:ea typeface="+mn-lt"/>
                <a:cs typeface="+mn-lt"/>
              </a:rPr>
              <a:t>einheitlich</a:t>
            </a:r>
            <a:endParaRPr lang="en-US" sz="2000" b="1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   2520 - 0,25″ = 6,35 mm - 0,20″ = 5,08 mm</a:t>
            </a:r>
          </a:p>
          <a:p>
            <a:pPr marL="342900" indent="-342900">
              <a:buChar char="•"/>
            </a:pPr>
            <a:r>
              <a:rPr lang="en-US" sz="2000" err="1">
                <a:ea typeface="+mn-lt"/>
                <a:cs typeface="+mn-lt"/>
              </a:rPr>
              <a:t>Herausforderung</a:t>
            </a:r>
            <a:r>
              <a:rPr lang="en-US" sz="2000">
                <a:ea typeface="+mn-lt"/>
                <a:cs typeface="+mn-lt"/>
              </a:rPr>
              <a:t>: SMD-</a:t>
            </a:r>
            <a:r>
              <a:rPr lang="en-US" sz="2000" b="1" err="1">
                <a:ea typeface="+mn-lt"/>
                <a:cs typeface="+mn-lt"/>
              </a:rPr>
              <a:t>Spulen</a:t>
            </a:r>
            <a:r>
              <a:rPr lang="en-US" sz="2000">
                <a:ea typeface="+mn-lt"/>
                <a:cs typeface="+mn-lt"/>
              </a:rPr>
              <a:t> und</a:t>
            </a: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b="1" err="1">
                <a:ea typeface="+mn-lt"/>
                <a:cs typeface="+mn-lt"/>
              </a:rPr>
              <a:t>Kondensatoren</a:t>
            </a:r>
            <a:r>
              <a:rPr lang="en-US" sz="2000">
                <a:ea typeface="+mn-lt"/>
                <a:cs typeface="+mn-lt"/>
              </a:rPr>
              <a:t> in </a:t>
            </a:r>
            <a:r>
              <a:rPr lang="en-US" sz="2000" err="1">
                <a:ea typeface="+mn-lt"/>
                <a:cs typeface="+mn-lt"/>
              </a:rPr>
              <a:t>verschiedensten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Bauformen</a:t>
            </a:r>
            <a:r>
              <a:rPr lang="en-US" sz="2000">
                <a:ea typeface="+mn-lt"/>
                <a:cs typeface="+mn-lt"/>
              </a:rPr>
              <a:t> - </a:t>
            </a:r>
            <a:r>
              <a:rPr lang="en-US" sz="2000" err="1">
                <a:ea typeface="+mn-lt"/>
                <a:cs typeface="+mn-lt"/>
              </a:rPr>
              <a:t>Werten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sind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schwer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zu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finden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Char char="•"/>
            </a:pPr>
            <a:endParaRPr lang="en-US" sz="2000"/>
          </a:p>
          <a:p>
            <a:pPr marL="342900" indent="-342900">
              <a:buChar char="•"/>
            </a:pPr>
            <a:endParaRPr lang="en-US" sz="2000"/>
          </a:p>
          <a:p>
            <a:endParaRPr lang="en-US" sz="2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71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F71B-5719-5834-83D8-F5BB7B8D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551" y="395299"/>
            <a:ext cx="4250596" cy="724266"/>
          </a:xfrm>
        </p:spPr>
        <p:txBody>
          <a:bodyPr/>
          <a:lstStyle/>
          <a:p>
            <a:r>
              <a:rPr lang="en-US" err="1"/>
              <a:t>Kondensatorarten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10724-C0B3-C0FB-8CCE-0477468F604D}"/>
              </a:ext>
            </a:extLst>
          </p:cNvPr>
          <p:cNvSpPr txBox="1">
            <a:spLocks/>
          </p:cNvSpPr>
          <p:nvPr/>
        </p:nvSpPr>
        <p:spPr>
          <a:xfrm>
            <a:off x="650349" y="380040"/>
            <a:ext cx="3114054" cy="7242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err="1"/>
              <a:t>Spulenarten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E2A565-2929-D299-D600-E7A785C03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22" y="1228547"/>
            <a:ext cx="2575490" cy="2549319"/>
          </a:xfrm>
          <a:prstGeom prst="rect">
            <a:avLst/>
          </a:prstGeom>
        </p:spPr>
      </p:pic>
      <p:pic>
        <p:nvPicPr>
          <p:cNvPr id="14" name="Picture 13" descr="293D475X0025C2TE3 | Vishay Kondensator, Tantal, 4.7μF, 25V dc SMD, Gehäuse  2312 | RS">
            <a:extLst>
              <a:ext uri="{FF2B5EF4-FFF2-40B4-BE49-F238E27FC236}">
                <a16:creationId xmlns:a16="http://schemas.microsoft.com/office/drawing/2014/main" id="{96E587B7-2BC0-110D-237F-2EAEA54F0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643" y="3477172"/>
            <a:ext cx="2244696" cy="13065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00562E-673D-90CB-3AC1-6BAD96DB8606}"/>
              </a:ext>
            </a:extLst>
          </p:cNvPr>
          <p:cNvSpPr txBox="1"/>
          <p:nvPr/>
        </p:nvSpPr>
        <p:spPr>
          <a:xfrm>
            <a:off x="9208093" y="3183309"/>
            <a:ext cx="9343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Tantal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084D7-B34B-8270-524A-4FADF0290DE2}"/>
              </a:ext>
            </a:extLst>
          </p:cNvPr>
          <p:cNvSpPr txBox="1"/>
          <p:nvPr/>
        </p:nvSpPr>
        <p:spPr>
          <a:xfrm>
            <a:off x="9058540" y="1224896"/>
            <a:ext cx="122632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Keramik</a:t>
            </a:r>
          </a:p>
        </p:txBody>
      </p:sp>
      <p:pic>
        <p:nvPicPr>
          <p:cNvPr id="17" name="Picture 16" descr="Samsung Keramik-Kondensator SMD 10 nF 10 % (L x B x H) 1.6 x 0.8 x">
            <a:extLst>
              <a:ext uri="{FF2B5EF4-FFF2-40B4-BE49-F238E27FC236}">
                <a16:creationId xmlns:a16="http://schemas.microsoft.com/office/drawing/2014/main" id="{1A1ABA07-95A5-9F38-472E-DF2F6F67F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745" y="1473436"/>
            <a:ext cx="1646491" cy="16393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33139C-040A-555B-3F9F-FDD02E280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565" y="1596417"/>
            <a:ext cx="2200275" cy="15144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71FEB4D-3377-8C35-63FE-74F2D06B150E}"/>
              </a:ext>
            </a:extLst>
          </p:cNvPr>
          <p:cNvSpPr txBox="1"/>
          <p:nvPr/>
        </p:nvSpPr>
        <p:spPr>
          <a:xfrm>
            <a:off x="5462186" y="1224896"/>
            <a:ext cx="14684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Elektrolyt</a:t>
            </a:r>
          </a:p>
        </p:txBody>
      </p:sp>
      <p:pic>
        <p:nvPicPr>
          <p:cNvPr id="20" name="Picture 19" descr="PANASONIC SMD Folienkondensator, 39 nF, 16 V, 125°C | Panasonic,  Folienkondensatoren günstig kaufen | reichelt elektronik">
            <a:extLst>
              <a:ext uri="{FF2B5EF4-FFF2-40B4-BE49-F238E27FC236}">
                <a16:creationId xmlns:a16="http://schemas.microsoft.com/office/drawing/2014/main" id="{0A4CE23A-5C6B-F494-A3CE-8353754AA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503" y="3556429"/>
            <a:ext cx="2472584" cy="96292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DC8F85-98BB-41DF-4453-2B508AC49591}"/>
              </a:ext>
            </a:extLst>
          </p:cNvPr>
          <p:cNvSpPr txBox="1"/>
          <p:nvPr/>
        </p:nvSpPr>
        <p:spPr>
          <a:xfrm>
            <a:off x="5789774" y="3183307"/>
            <a:ext cx="8132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Folien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006AB0-6B5A-6317-D5A5-8B9C43B35636}"/>
              </a:ext>
            </a:extLst>
          </p:cNvPr>
          <p:cNvSpPr txBox="1"/>
          <p:nvPr/>
        </p:nvSpPr>
        <p:spPr>
          <a:xfrm>
            <a:off x="925791" y="3895453"/>
            <a:ext cx="257228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Kern:</a:t>
            </a:r>
            <a:endParaRPr lang="en-US"/>
          </a:p>
          <a:p>
            <a:r>
              <a:rPr lang="en-US"/>
              <a:t>Luft, Ferrit, </a:t>
            </a:r>
            <a:r>
              <a:rPr lang="en-US" err="1"/>
              <a:t>Eisenkern</a:t>
            </a:r>
            <a:endParaRPr lang="en-US"/>
          </a:p>
          <a:p>
            <a:endParaRPr lang="en-US"/>
          </a:p>
          <a:p>
            <a:r>
              <a:rPr lang="en-US" err="1"/>
              <a:t>Typische</a:t>
            </a:r>
            <a:r>
              <a:rPr lang="en-US"/>
              <a:t> </a:t>
            </a:r>
            <a:r>
              <a:rPr lang="en-US" err="1"/>
              <a:t>Baugröße</a:t>
            </a:r>
            <a:r>
              <a:rPr lang="en-US"/>
              <a:t> von 0402 --&gt; 2220</a:t>
            </a:r>
          </a:p>
          <a:p>
            <a:r>
              <a:rPr lang="en-US"/>
              <a:t>1,0 × 0,5 - 5,6 × 5,0 mm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4CE1B3-26CC-A813-5C2C-C72005D5F2DE}"/>
              </a:ext>
            </a:extLst>
          </p:cNvPr>
          <p:cNvSpPr txBox="1"/>
          <p:nvPr/>
        </p:nvSpPr>
        <p:spPr>
          <a:xfrm>
            <a:off x="5177327" y="4856860"/>
            <a:ext cx="587523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err="1"/>
              <a:t>Baugröße</a:t>
            </a:r>
            <a:r>
              <a:rPr lang="en-US" b="1"/>
              <a:t>:</a:t>
            </a:r>
          </a:p>
          <a:p>
            <a:r>
              <a:rPr lang="en-US" b="1" err="1"/>
              <a:t>größere</a:t>
            </a:r>
            <a:r>
              <a:rPr lang="en-US" b="1"/>
              <a:t> </a:t>
            </a:r>
            <a:r>
              <a:rPr lang="en-US" err="1"/>
              <a:t>Bauform</a:t>
            </a:r>
            <a:r>
              <a:rPr lang="en-US"/>
              <a:t> - </a:t>
            </a:r>
            <a:r>
              <a:rPr lang="en-US" b="1" err="1"/>
              <a:t>höhere</a:t>
            </a:r>
            <a:r>
              <a:rPr lang="en-US" b="1"/>
              <a:t> </a:t>
            </a:r>
            <a:r>
              <a:rPr lang="en-US" err="1"/>
              <a:t>Kapazität</a:t>
            </a:r>
            <a:r>
              <a:rPr lang="en-US"/>
              <a:t> + </a:t>
            </a:r>
            <a:r>
              <a:rPr lang="en-US" err="1"/>
              <a:t>Spannung</a:t>
            </a:r>
            <a:endParaRPr lang="en-US"/>
          </a:p>
          <a:p>
            <a:r>
              <a:rPr lang="en-US" b="1" err="1"/>
              <a:t>Kleinere</a:t>
            </a:r>
            <a:r>
              <a:rPr lang="en-US"/>
              <a:t> </a:t>
            </a:r>
            <a:r>
              <a:rPr lang="en-US" err="1"/>
              <a:t>Bauform</a:t>
            </a:r>
            <a:r>
              <a:rPr lang="en-US"/>
              <a:t> – </a:t>
            </a:r>
            <a:r>
              <a:rPr lang="en-US" b="1" err="1"/>
              <a:t>niedrige</a:t>
            </a:r>
            <a:r>
              <a:rPr lang="en-US"/>
              <a:t> </a:t>
            </a:r>
            <a:r>
              <a:rPr lang="en-US" err="1"/>
              <a:t>Kapazität</a:t>
            </a:r>
            <a:r>
              <a:rPr lang="en-US"/>
              <a:t> + </a:t>
            </a:r>
            <a:r>
              <a:rPr lang="en-US" err="1"/>
              <a:t>Spannung</a:t>
            </a:r>
            <a:r>
              <a:rPr lang="en-US"/>
              <a:t> gut für HF, </a:t>
            </a:r>
            <a:r>
              <a:rPr lang="en-US" err="1"/>
              <a:t>niedriges</a:t>
            </a:r>
            <a:r>
              <a:rPr lang="en-US"/>
              <a:t> ESR und ESL</a:t>
            </a:r>
          </a:p>
          <a:p>
            <a:r>
              <a:rPr lang="en-US"/>
              <a:t>(Tantal und </a:t>
            </a:r>
            <a:r>
              <a:rPr lang="en-US" err="1"/>
              <a:t>Elkos</a:t>
            </a:r>
            <a:r>
              <a:rPr lang="en-US"/>
              <a:t> </a:t>
            </a:r>
            <a:r>
              <a:rPr lang="en-US" err="1"/>
              <a:t>brauchen</a:t>
            </a:r>
            <a:r>
              <a:rPr lang="en-US"/>
              <a:t> </a:t>
            </a:r>
            <a:r>
              <a:rPr lang="en-US" err="1"/>
              <a:t>mehr</a:t>
            </a:r>
            <a:r>
              <a:rPr lang="en-US"/>
              <a:t> </a:t>
            </a:r>
            <a:r>
              <a:rPr lang="en-US" err="1"/>
              <a:t>platz</a:t>
            </a:r>
            <a:r>
              <a:rPr lang="en-US"/>
              <a:t> </a:t>
            </a:r>
            <a:r>
              <a:rPr lang="en-US" err="1"/>
              <a:t>aber</a:t>
            </a:r>
            <a:r>
              <a:rPr lang="en-US"/>
              <a:t> </a:t>
            </a:r>
            <a:r>
              <a:rPr lang="en-US" err="1"/>
              <a:t>dafür</a:t>
            </a:r>
            <a:r>
              <a:rPr lang="en-US"/>
              <a:t> µF)</a:t>
            </a:r>
          </a:p>
        </p:txBody>
      </p:sp>
    </p:spTree>
    <p:extLst>
      <p:ext uri="{BB962C8B-B14F-4D97-AF65-F5344CB8AC3E}">
        <p14:creationId xmlns:p14="http://schemas.microsoft.com/office/powerpoint/2010/main" val="3888066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1B0E-B2E4-A1DC-AB73-637B1DF8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Spannung</a:t>
            </a:r>
            <a:r>
              <a:rPr lang="en-US"/>
              <a:t> vs </a:t>
            </a:r>
            <a:r>
              <a:rPr lang="en-US" err="1"/>
              <a:t>Kapazität</a:t>
            </a:r>
            <a:r>
              <a:rPr lang="en-US"/>
              <a:t> | </a:t>
            </a:r>
            <a:r>
              <a:rPr lang="en-US" err="1"/>
              <a:t>Kondensatortypen</a:t>
            </a:r>
          </a:p>
        </p:txBody>
      </p:sp>
      <p:pic>
        <p:nvPicPr>
          <p:cNvPr id="4" name="Content Placeholder 3" descr="Bauformen von Kondensatoren | LEIFIphysik">
            <a:extLst>
              <a:ext uri="{FF2B5EF4-FFF2-40B4-BE49-F238E27FC236}">
                <a16:creationId xmlns:a16="http://schemas.microsoft.com/office/drawing/2014/main" id="{F75564BA-2223-DAFB-10A5-81FBAAA44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7576" y="1483595"/>
            <a:ext cx="6492261" cy="4940322"/>
          </a:xfrm>
        </p:spPr>
      </p:pic>
      <p:pic>
        <p:nvPicPr>
          <p:cNvPr id="3" name="Picture 2" descr="Supercaps als effiziente USV-Energiespeicher mit vielseitigen  Anwendungsmöglichkeiten">
            <a:extLst>
              <a:ext uri="{FF2B5EF4-FFF2-40B4-BE49-F238E27FC236}">
                <a16:creationId xmlns:a16="http://schemas.microsoft.com/office/drawing/2014/main" id="{B51CD9FA-FDD7-B5B1-D138-51A31BC2E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81" y="2340244"/>
            <a:ext cx="1910168" cy="1241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DDDCD-C88D-B08C-BCA4-A3CAB413520A}"/>
              </a:ext>
            </a:extLst>
          </p:cNvPr>
          <p:cNvSpPr txBox="1"/>
          <p:nvPr/>
        </p:nvSpPr>
        <p:spPr>
          <a:xfrm>
            <a:off x="7843362" y="1715736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Superkondensator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3 V - 360F</a:t>
            </a:r>
            <a:endParaRPr lang="en-US" err="1"/>
          </a:p>
        </p:txBody>
      </p:sp>
      <p:pic>
        <p:nvPicPr>
          <p:cNvPr id="7" name="Picture 6" descr="Kondensator Ceramiczny 1pF 50V | centrumelektroniki.pl">
            <a:extLst>
              <a:ext uri="{FF2B5EF4-FFF2-40B4-BE49-F238E27FC236}">
                <a16:creationId xmlns:a16="http://schemas.microsoft.com/office/drawing/2014/main" id="{C0C24229-3489-7009-431D-B851DD7D5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163" y="4586026"/>
            <a:ext cx="1755184" cy="13409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9D1E4A-C13D-A40F-849C-4969AF03EEAA}"/>
              </a:ext>
            </a:extLst>
          </p:cNvPr>
          <p:cNvSpPr txBox="1"/>
          <p:nvPr/>
        </p:nvSpPr>
        <p:spPr>
          <a:xfrm>
            <a:off x="8037573" y="4163299"/>
            <a:ext cx="14452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 pF- 50V</a:t>
            </a:r>
          </a:p>
        </p:txBody>
      </p:sp>
      <p:pic>
        <p:nvPicPr>
          <p:cNvPr id="9" name="Picture 8" descr="HV-Impuls kondensator 2uF 80kV für Impuls strom generator| Alibaba.com">
            <a:extLst>
              <a:ext uri="{FF2B5EF4-FFF2-40B4-BE49-F238E27FC236}">
                <a16:creationId xmlns:a16="http://schemas.microsoft.com/office/drawing/2014/main" id="{DB43D72F-D09D-9907-4180-09D3F5840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2569" y="4162586"/>
            <a:ext cx="1819760" cy="18326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654DFD-D7F4-FC55-6C60-4477454A7CD2}"/>
              </a:ext>
            </a:extLst>
          </p:cNvPr>
          <p:cNvSpPr txBox="1"/>
          <p:nvPr/>
        </p:nvSpPr>
        <p:spPr>
          <a:xfrm>
            <a:off x="10239321" y="3519045"/>
            <a:ext cx="24913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HV - </a:t>
            </a:r>
            <a:r>
              <a:rPr lang="en-US" err="1"/>
              <a:t>Kondensator</a:t>
            </a:r>
            <a:br>
              <a:rPr lang="en-US"/>
            </a:br>
            <a:r>
              <a:rPr lang="en-US"/>
              <a:t>2 µF - 80kV</a:t>
            </a:r>
          </a:p>
        </p:txBody>
      </p:sp>
    </p:spTree>
    <p:extLst>
      <p:ext uri="{BB962C8B-B14F-4D97-AF65-F5344CB8AC3E}">
        <p14:creationId xmlns:p14="http://schemas.microsoft.com/office/powerpoint/2010/main" val="321229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3725-B7BC-F321-7A67-8C3F07A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b="1" noProof="0">
                <a:latin typeface="Aptos"/>
              </a:rPr>
              <a:t>Was </a:t>
            </a:r>
            <a:r>
              <a:rPr lang="de-DE" sz="3200" b="1">
                <a:latin typeface="Aptos"/>
              </a:rPr>
              <a:t>sonst noch beachten in der Praxis</a:t>
            </a:r>
            <a:r>
              <a:rPr lang="de-DE" sz="3200" b="1" noProof="0">
                <a:latin typeface="Aptos"/>
              </a:rPr>
              <a:t>?</a:t>
            </a:r>
            <a:endParaRPr lang="de-DE" sz="3200" b="1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73B82-CC22-18E4-B9F3-76E18A50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04"/>
            <a:ext cx="10515600" cy="488679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de-DE" b="1" noProof="0" err="1">
                <a:ea typeface="+mn-lt"/>
                <a:cs typeface="+mn-lt"/>
              </a:rPr>
              <a:t>Typwahl</a:t>
            </a:r>
            <a:r>
              <a:rPr lang="de-DE" b="1" noProof="0">
                <a:ea typeface="+mn-lt"/>
                <a:cs typeface="+mn-lt"/>
              </a:rPr>
              <a:t> nach Frequenzbereich</a:t>
            </a:r>
            <a:endParaRPr lang="de-DE" noProof="0" err="1"/>
          </a:p>
          <a:p>
            <a:pPr lvl="1"/>
            <a:r>
              <a:rPr lang="de-DE" b="1" noProof="0">
                <a:ea typeface="+mn-lt"/>
                <a:cs typeface="+mn-lt"/>
              </a:rPr>
              <a:t>&lt; 100 kHz</a:t>
            </a:r>
            <a:r>
              <a:rPr lang="de-DE" noProof="0">
                <a:ea typeface="+mn-lt"/>
                <a:cs typeface="+mn-lt"/>
              </a:rPr>
              <a:t>: </a:t>
            </a:r>
            <a:r>
              <a:rPr lang="de-DE">
                <a:ea typeface="+mn-lt"/>
                <a:cs typeface="+mn-lt"/>
              </a:rPr>
              <a:t>     </a:t>
            </a:r>
            <a:r>
              <a:rPr lang="de-DE" noProof="0">
                <a:ea typeface="+mn-lt"/>
                <a:cs typeface="+mn-lt"/>
              </a:rPr>
              <a:t>Elektrolyt (große Kapazität)</a:t>
            </a:r>
            <a:endParaRPr lang="de-DE" noProof="0"/>
          </a:p>
          <a:p>
            <a:pPr lvl="1"/>
            <a:r>
              <a:rPr lang="de-DE" b="1" noProof="0">
                <a:ea typeface="+mn-lt"/>
                <a:cs typeface="+mn-lt"/>
              </a:rPr>
              <a:t>100 kHz … 10 MHz</a:t>
            </a:r>
            <a:r>
              <a:rPr lang="de-DE" noProof="0">
                <a:ea typeface="+mn-lt"/>
                <a:cs typeface="+mn-lt"/>
              </a:rPr>
              <a:t>: </a:t>
            </a:r>
            <a:r>
              <a:rPr lang="de-DE">
                <a:ea typeface="+mn-lt"/>
                <a:cs typeface="+mn-lt"/>
              </a:rPr>
              <a:t>  </a:t>
            </a:r>
            <a:r>
              <a:rPr lang="de-DE" noProof="0">
                <a:ea typeface="+mn-lt"/>
                <a:cs typeface="+mn-lt"/>
              </a:rPr>
              <a:t>Folie oder Kerko-C0G (für präzise Filter)</a:t>
            </a:r>
            <a:endParaRPr lang="de-DE" noProof="0"/>
          </a:p>
          <a:p>
            <a:pPr lvl="1"/>
            <a:r>
              <a:rPr lang="de-DE" b="1" noProof="0">
                <a:ea typeface="+mn-lt"/>
                <a:cs typeface="+mn-lt"/>
              </a:rPr>
              <a:t>&gt; 10 MHz</a:t>
            </a:r>
            <a:r>
              <a:rPr lang="de-DE" noProof="0">
                <a:ea typeface="+mn-lt"/>
                <a:cs typeface="+mn-lt"/>
              </a:rPr>
              <a:t>:</a:t>
            </a:r>
            <a:r>
              <a:rPr lang="de-DE">
                <a:ea typeface="+mn-lt"/>
                <a:cs typeface="+mn-lt"/>
              </a:rPr>
              <a:t>       </a:t>
            </a:r>
            <a:r>
              <a:rPr lang="de-DE" noProof="0" err="1">
                <a:ea typeface="+mn-lt"/>
                <a:cs typeface="+mn-lt"/>
              </a:rPr>
              <a:t>Kerko</a:t>
            </a:r>
            <a:r>
              <a:rPr lang="de-DE" noProof="0">
                <a:ea typeface="+mn-lt"/>
                <a:cs typeface="+mn-lt"/>
              </a:rPr>
              <a:t> oder spezielle HF-Folientypen</a:t>
            </a:r>
            <a:endParaRPr lang="de-DE" noProof="0" err="1"/>
          </a:p>
          <a:p>
            <a:r>
              <a:rPr lang="de-DE" b="1" noProof="0">
                <a:ea typeface="+mn-lt"/>
                <a:cs typeface="+mn-lt"/>
              </a:rPr>
              <a:t>Bauteilplatzierung &amp; Layout</a:t>
            </a:r>
            <a:endParaRPr lang="de-DE" noProof="0"/>
          </a:p>
          <a:p>
            <a:pPr lvl="1"/>
            <a:r>
              <a:rPr lang="de-DE" noProof="0">
                <a:ea typeface="+mn-lt"/>
                <a:cs typeface="+mn-lt"/>
              </a:rPr>
              <a:t>Kürzeste Verbindungen ⇒ niedrige ESL.</a:t>
            </a:r>
            <a:r>
              <a:rPr lang="de-DE">
                <a:ea typeface="+mn-lt"/>
                <a:cs typeface="+mn-lt"/>
              </a:rPr>
              <a:t> (Ersatz Serien </a:t>
            </a:r>
            <a:r>
              <a:rPr lang="de-DE" err="1">
                <a:ea typeface="+mn-lt"/>
                <a:cs typeface="+mn-lt"/>
              </a:rPr>
              <a:t>Wid</a:t>
            </a:r>
            <a:r>
              <a:rPr lang="de-DE">
                <a:ea typeface="+mn-lt"/>
                <a:cs typeface="+mn-lt"/>
              </a:rPr>
              <a:t>.)</a:t>
            </a:r>
            <a:endParaRPr lang="de-DE" noProof="0"/>
          </a:p>
          <a:p>
            <a:pPr lvl="1"/>
            <a:r>
              <a:rPr lang="de-DE" noProof="0">
                <a:ea typeface="+mn-lt"/>
                <a:cs typeface="+mn-lt"/>
              </a:rPr>
              <a:t>Masseflächen statt Masse-„Inseln“</a:t>
            </a:r>
            <a:r>
              <a:rPr lang="de-DE">
                <a:ea typeface="+mn-lt"/>
                <a:cs typeface="+mn-lt"/>
              </a:rPr>
              <a:t> </a:t>
            </a:r>
          </a:p>
          <a:p>
            <a:r>
              <a:rPr lang="de-DE" b="1">
                <a:ea typeface="+mn-lt"/>
                <a:cs typeface="+mn-lt"/>
              </a:rPr>
              <a:t>Langzeitstabilität &amp; Alterung</a:t>
            </a:r>
            <a:endParaRPr lang="de-DE">
              <a:ea typeface="+mn-lt"/>
              <a:cs typeface="+mn-lt"/>
            </a:endParaRPr>
          </a:p>
          <a:p>
            <a:pPr lvl="1"/>
            <a:r>
              <a:rPr lang="de-DE" sz="2000">
                <a:ea typeface="+mn-lt"/>
                <a:cs typeface="+mn-lt"/>
              </a:rPr>
              <a:t>Elkos trocknen aus ⇒ ESR steigt, Kapazität sinkt. (Lebensdauer beachten).</a:t>
            </a:r>
          </a:p>
          <a:p>
            <a:pPr lvl="1"/>
            <a:r>
              <a:rPr lang="de-DE" sz="2000">
                <a:ea typeface="+mn-lt"/>
                <a:cs typeface="+mn-lt"/>
              </a:rPr>
              <a:t>Folien und Keramik altern kaum.</a:t>
            </a:r>
            <a:endParaRPr lang="de-DE"/>
          </a:p>
          <a:p>
            <a:r>
              <a:rPr lang="de-DE" b="1">
                <a:ea typeface="+mn-lt"/>
                <a:cs typeface="+mn-lt"/>
              </a:rPr>
              <a:t>Vorab Simulation mit ESR / ESL</a:t>
            </a:r>
            <a:endParaRPr lang="de-DE" noProof="0" err="1"/>
          </a:p>
          <a:p>
            <a:pPr lvl="1"/>
            <a:r>
              <a:rPr lang="de-DE" noProof="0">
                <a:ea typeface="+mn-lt"/>
                <a:cs typeface="+mn-lt"/>
              </a:rPr>
              <a:t>In SPICE die ESR/ESL-Werte des Datenblatts einsetzen.</a:t>
            </a:r>
            <a:endParaRPr lang="de-DE" noProof="0"/>
          </a:p>
          <a:p>
            <a:pPr lvl="1"/>
            <a:r>
              <a:rPr lang="de-DE" noProof="0">
                <a:ea typeface="+mn-lt"/>
                <a:cs typeface="+mn-lt"/>
              </a:rPr>
              <a:t>Nachmessen: realer Filter läuft oft anders als ideal.</a:t>
            </a:r>
            <a:endParaRPr lang="de-DE" noProof="0"/>
          </a:p>
          <a:p>
            <a:endParaRPr lang="de-DE" b="1" noProof="0"/>
          </a:p>
        </p:txBody>
      </p:sp>
    </p:spTree>
    <p:extLst>
      <p:ext uri="{BB962C8B-B14F-4D97-AF65-F5344CB8AC3E}">
        <p14:creationId xmlns:p14="http://schemas.microsoft.com/office/powerpoint/2010/main" val="267797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F5EE-9E37-D74B-D9A6-C1BB2912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err="1">
                <a:latin typeface="Aptos"/>
              </a:rPr>
              <a:t>Temperaturabhängigkeit</a:t>
            </a:r>
            <a:r>
              <a:rPr lang="en-US" sz="2800" b="1">
                <a:latin typeface="Aptos"/>
              </a:rPr>
              <a:t> C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9A38-E8D2-6D59-5A43-9D7EE0FF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71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C0G/NP0 (Keramik):</a:t>
            </a:r>
            <a:r>
              <a:rPr lang="en-US">
                <a:ea typeface="+mn-lt"/>
                <a:cs typeface="+mn-lt"/>
              </a:rPr>
              <a:t> ±30 ppm/°C – </a:t>
            </a:r>
            <a:r>
              <a:rPr lang="en-US" err="1">
                <a:ea typeface="+mn-lt"/>
                <a:cs typeface="+mn-lt"/>
              </a:rPr>
              <a:t>praktisch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konstant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(ppm = parts per million)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X7R (Keramik):</a:t>
            </a:r>
            <a:r>
              <a:rPr lang="en-US">
                <a:ea typeface="+mn-lt"/>
                <a:cs typeface="+mn-lt"/>
              </a:rPr>
              <a:t> ±15 % von –55 °C bis +125 °C.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Y5V (Keramik):</a:t>
            </a:r>
            <a:r>
              <a:rPr lang="en-US">
                <a:ea typeface="+mn-lt"/>
                <a:cs typeface="+mn-lt"/>
              </a:rPr>
              <a:t> –82 %/+22 % von +10 °C bis +85 °C.</a:t>
            </a:r>
            <a:endParaRPr lang="en-US"/>
          </a:p>
          <a:p>
            <a:pPr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Folien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typ. ±2 % </a:t>
            </a:r>
            <a:r>
              <a:rPr lang="en-US" err="1">
                <a:ea typeface="+mn-lt"/>
                <a:cs typeface="+mn-lt"/>
              </a:rPr>
              <a:t>über</a:t>
            </a:r>
            <a:r>
              <a:rPr lang="en-US">
                <a:ea typeface="+mn-lt"/>
                <a:cs typeface="+mn-lt"/>
              </a:rPr>
              <a:t> –40 °C…+85 °C.</a:t>
            </a:r>
            <a:endParaRPr lang="en-US"/>
          </a:p>
          <a:p>
            <a:pPr>
              <a:buFont typeface="Arial"/>
              <a:buChar char="•"/>
            </a:pPr>
            <a:r>
              <a:rPr lang="en-US" b="1" err="1">
                <a:ea typeface="+mn-lt"/>
                <a:cs typeface="+mn-lt"/>
              </a:rPr>
              <a:t>Elektrolyt</a:t>
            </a:r>
            <a:r>
              <a:rPr lang="en-US" b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  -60 % bis +20% | +20 °C…+85 °C, </a:t>
            </a:r>
            <a:r>
              <a:rPr lang="en-US" err="1">
                <a:ea typeface="+mn-lt"/>
                <a:cs typeface="+mn-lt"/>
              </a:rPr>
              <a:t>Alterungsabhängig</a:t>
            </a:r>
            <a:endParaRPr lang="en-US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06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A91EA-9EB3-6347-70D3-D549F767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DE" sz="3200" kern="1200" noProof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Kondensatoren in der Realität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B504265-CE5A-D033-040E-BFBA0D769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200804"/>
              </p:ext>
            </p:extLst>
          </p:nvPr>
        </p:nvGraphicFramePr>
        <p:xfrm>
          <a:off x="643467" y="1937629"/>
          <a:ext cx="10905065" cy="434550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320469">
                  <a:extLst>
                    <a:ext uri="{9D8B030D-6E8A-4147-A177-3AD203B41FA5}">
                      <a16:colId xmlns:a16="http://schemas.microsoft.com/office/drawing/2014/main" val="855393302"/>
                    </a:ext>
                  </a:extLst>
                </a:gridCol>
                <a:gridCol w="1607158">
                  <a:extLst>
                    <a:ext uri="{9D8B030D-6E8A-4147-A177-3AD203B41FA5}">
                      <a16:colId xmlns:a16="http://schemas.microsoft.com/office/drawing/2014/main" val="4147628088"/>
                    </a:ext>
                  </a:extLst>
                </a:gridCol>
                <a:gridCol w="1462966">
                  <a:extLst>
                    <a:ext uri="{9D8B030D-6E8A-4147-A177-3AD203B41FA5}">
                      <a16:colId xmlns:a16="http://schemas.microsoft.com/office/drawing/2014/main" val="360251440"/>
                    </a:ext>
                  </a:extLst>
                </a:gridCol>
                <a:gridCol w="1283149">
                  <a:extLst>
                    <a:ext uri="{9D8B030D-6E8A-4147-A177-3AD203B41FA5}">
                      <a16:colId xmlns:a16="http://schemas.microsoft.com/office/drawing/2014/main" val="574012407"/>
                    </a:ext>
                  </a:extLst>
                </a:gridCol>
                <a:gridCol w="2221906">
                  <a:extLst>
                    <a:ext uri="{9D8B030D-6E8A-4147-A177-3AD203B41FA5}">
                      <a16:colId xmlns:a16="http://schemas.microsoft.com/office/drawing/2014/main" val="3397352208"/>
                    </a:ext>
                  </a:extLst>
                </a:gridCol>
                <a:gridCol w="3009417">
                  <a:extLst>
                    <a:ext uri="{9D8B030D-6E8A-4147-A177-3AD203B41FA5}">
                      <a16:colId xmlns:a16="http://schemas.microsoft.com/office/drawing/2014/main" val="3685830754"/>
                    </a:ext>
                  </a:extLst>
                </a:gridCol>
              </a:tblGrid>
              <a:tr h="706784"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Typ</a:t>
                      </a:r>
                    </a:p>
                  </a:txBody>
                  <a:tcPr marL="97712" marR="97712" marT="48856" marB="97712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Kapazitäts-bereich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ESR</a:t>
                      </a:r>
                    </a:p>
                    <a:p>
                      <a:pPr lvl="0">
                        <a:buNone/>
                      </a:pPr>
                      <a:r>
                        <a:rPr lang="de-DE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Ersatz Serienwiderstand</a:t>
                      </a:r>
                      <a:endParaRPr lang="de-DE"/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ESL</a:t>
                      </a:r>
                    </a:p>
                    <a:p>
                      <a:pPr lvl="0">
                        <a:buNone/>
                      </a:pPr>
                      <a:r>
                        <a:rPr lang="de-DE" sz="17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parasitäre Induktivität</a:t>
                      </a:r>
                      <a:endParaRPr lang="de-DE"/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Selbstresonanz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Verlustfaktor &amp; Temperatur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211048"/>
                  </a:ext>
                </a:extLst>
              </a:tr>
              <a:tr h="967349"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Elektrolyt</a:t>
                      </a:r>
                      <a:endParaRPr lang="de-DE" sz="17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0,1 µF …  mF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relativ hoch (Ω)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relativ hoch (</a:t>
                      </a:r>
                      <a:r>
                        <a:rPr lang="de-DE" sz="1700" cap="none" spc="0" noProof="0" err="1">
                          <a:solidFill>
                            <a:schemeClr val="tx1"/>
                          </a:solidFill>
                        </a:rPr>
                        <a:t>nH</a:t>
                      </a:r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sehr niedrig </a:t>
                      </a:r>
                    </a:p>
                    <a:p>
                      <a:pPr lvl="0">
                        <a:buNone/>
                      </a:pPr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kHz … 100kHz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hohes ESR ⇒ starke Dämpfung, Temperaturschwankungen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79539"/>
                  </a:ext>
                </a:extLst>
              </a:tr>
              <a:tr h="1227914"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Keramik</a:t>
                      </a:r>
                      <a:endParaRPr lang="de-DE" sz="17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97712" marR="97712" marT="48856" marB="97712" anchor="ctr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pF …  µF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sehr niedrig (</a:t>
                      </a:r>
                      <a:r>
                        <a:rPr lang="de-DE" sz="1700" cap="none" spc="0" noProof="0" err="1">
                          <a:solidFill>
                            <a:schemeClr val="tx1"/>
                          </a:solidFill>
                        </a:rPr>
                        <a:t>mΩ</a:t>
                      </a:r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niedrig (</a:t>
                      </a:r>
                      <a:r>
                        <a:rPr lang="de-DE" sz="1700" cap="none" spc="0" noProof="0" err="1">
                          <a:solidFill>
                            <a:schemeClr val="tx1"/>
                          </a:solidFill>
                        </a:rPr>
                        <a:t>nH</a:t>
                      </a:r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einige MHz … 10 MHz</a:t>
                      </a:r>
                      <a:endParaRPr lang="en-US"/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je nach Dielektrikum (C0G/NP0 stabil, X7R/Y5V stark temperatur- und spannungsabhängig)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322946"/>
                  </a:ext>
                </a:extLst>
              </a:tr>
              <a:tr h="967349">
                <a:tc>
                  <a:txBody>
                    <a:bodyPr/>
                    <a:lstStyle/>
                    <a:p>
                      <a:r>
                        <a:rPr lang="de-DE" sz="1700" b="1" cap="none" spc="0" noProof="0">
                          <a:solidFill>
                            <a:schemeClr val="tx1"/>
                          </a:solidFill>
                        </a:rPr>
                        <a:t>Folien</a:t>
                      </a:r>
                      <a:endParaRPr lang="de-DE" sz="1700" cap="none" spc="0" noProof="0">
                        <a:solidFill>
                          <a:schemeClr val="tx1"/>
                        </a:solidFill>
                      </a:endParaRP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nF …  µF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sehr niedrig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sehr niedrig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10 MHz … 100 MHz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700" cap="none" spc="0" noProof="0">
                          <a:solidFill>
                            <a:schemeClr val="tx1"/>
                          </a:solidFill>
                        </a:rPr>
                        <a:t>sehr niedriger Verlustfaktor, sehr gute Temperatur- und Spannungsstabilität</a:t>
                      </a:r>
                    </a:p>
                  </a:txBody>
                  <a:tcPr marL="97712" marR="97712" marT="48856" marB="9771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87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184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DA27-D841-43C9-8A40-632FD7F4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325563"/>
          </a:xfrm>
        </p:spPr>
        <p:txBody>
          <a:bodyPr/>
          <a:lstStyle/>
          <a:p>
            <a:r>
              <a:rPr lang="de-DE"/>
              <a:t>Wichtige Begriffe</a:t>
            </a:r>
            <a:endParaRPr lang="de-DE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F36A-DE07-F98C-6F64-87DDE6C1D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04"/>
            <a:ext cx="10515600" cy="475293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de-DE" b="1" noProof="0">
                <a:ea typeface="+mn-lt"/>
                <a:cs typeface="+mn-lt"/>
              </a:rPr>
              <a:t>ESR</a:t>
            </a:r>
            <a:r>
              <a:rPr lang="de-DE" noProof="0">
                <a:ea typeface="+mn-lt"/>
                <a:cs typeface="+mn-lt"/>
              </a:rPr>
              <a:t> (</a:t>
            </a:r>
            <a:r>
              <a:rPr lang="de-DE" noProof="0" err="1">
                <a:ea typeface="+mn-lt"/>
                <a:cs typeface="+mn-lt"/>
              </a:rPr>
              <a:t>Equivalent</a:t>
            </a:r>
            <a:r>
              <a:rPr lang="de-DE" noProof="0">
                <a:ea typeface="+mn-lt"/>
                <a:cs typeface="+mn-lt"/>
              </a:rPr>
              <a:t> Series Resistance) ist der wirksame Serien-Widerstand eines realen Kondensators.</a:t>
            </a:r>
            <a:br>
              <a:rPr lang="de-DE" noProof="0">
                <a:ea typeface="+mn-lt"/>
                <a:cs typeface="+mn-lt"/>
              </a:rPr>
            </a:br>
            <a:r>
              <a:rPr lang="de-DE" noProof="0">
                <a:ea typeface="+mn-lt"/>
                <a:cs typeface="+mn-lt"/>
              </a:rPr>
              <a:t> Er verursacht: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b="1" noProof="0">
                <a:ea typeface="+mn-lt"/>
                <a:cs typeface="+mn-lt"/>
              </a:rPr>
              <a:t>Verluste:</a:t>
            </a:r>
            <a:r>
              <a:rPr lang="de-DE" noProof="0">
                <a:ea typeface="+mn-lt"/>
                <a:cs typeface="+mn-lt"/>
              </a:rPr>
              <a:t> P=I²⋅ESR → Erwärmung</a:t>
            </a:r>
            <a:endParaRPr lang="de-DE" noProof="0"/>
          </a:p>
          <a:p>
            <a:pPr lvl="1">
              <a:buFont typeface="Courier New" panose="020B0604020202020204" pitchFamily="34" charset="0"/>
              <a:buChar char="o"/>
            </a:pPr>
            <a:r>
              <a:rPr lang="de-DE" b="1" noProof="0">
                <a:ea typeface="+mn-lt"/>
                <a:cs typeface="+mn-lt"/>
              </a:rPr>
              <a:t>Dämpfung:</a:t>
            </a:r>
            <a:r>
              <a:rPr lang="de-DE" noProof="0">
                <a:ea typeface="+mn-lt"/>
                <a:cs typeface="+mn-lt"/>
              </a:rPr>
              <a:t> sinkende Güte Q und flachere Filterflanken (Dämpfung)</a:t>
            </a:r>
            <a:endParaRPr lang="de-DE" noProof="0"/>
          </a:p>
          <a:p>
            <a:r>
              <a:rPr lang="de-DE" b="1" noProof="0">
                <a:ea typeface="+mn-lt"/>
                <a:cs typeface="+mn-lt"/>
              </a:rPr>
              <a:t>ESL </a:t>
            </a:r>
            <a:r>
              <a:rPr lang="de-DE" noProof="0">
                <a:ea typeface="+mn-lt"/>
                <a:cs typeface="+mn-lt"/>
              </a:rPr>
              <a:t>(</a:t>
            </a:r>
            <a:r>
              <a:rPr lang="de-DE" noProof="0" err="1">
                <a:ea typeface="+mn-lt"/>
                <a:cs typeface="+mn-lt"/>
              </a:rPr>
              <a:t>Equivalent</a:t>
            </a:r>
            <a:r>
              <a:rPr lang="de-DE" noProof="0">
                <a:ea typeface="+mn-lt"/>
                <a:cs typeface="+mn-lt"/>
              </a:rPr>
              <a:t> Series </a:t>
            </a:r>
            <a:r>
              <a:rPr lang="de-DE" noProof="0" err="1">
                <a:ea typeface="+mn-lt"/>
                <a:cs typeface="+mn-lt"/>
              </a:rPr>
              <a:t>Inductance</a:t>
            </a:r>
            <a:r>
              <a:rPr lang="de-DE" noProof="0">
                <a:ea typeface="+mn-lt"/>
                <a:cs typeface="+mn-lt"/>
              </a:rPr>
              <a:t>)</a:t>
            </a:r>
            <a:br>
              <a:rPr lang="de-DE" noProof="0">
                <a:ea typeface="+mn-lt"/>
                <a:cs typeface="+mn-lt"/>
              </a:rPr>
            </a:br>
            <a:r>
              <a:rPr lang="de-DE" noProof="0">
                <a:ea typeface="+mn-lt"/>
                <a:cs typeface="+mn-lt"/>
              </a:rPr>
              <a:t>Führt zu einer Parallelschwingung bei der Selbstresonanz: oberhalb dieser Frequenz wirkt der Kondensator</a:t>
            </a:r>
            <a:r>
              <a:rPr lang="de-DE" b="1" noProof="0">
                <a:ea typeface="+mn-lt"/>
                <a:cs typeface="+mn-lt"/>
              </a:rPr>
              <a:t> induktiv</a:t>
            </a:r>
            <a:r>
              <a:rPr lang="de-DE" noProof="0">
                <a:ea typeface="+mn-lt"/>
                <a:cs typeface="+mn-lt"/>
              </a:rPr>
              <a:t>.</a:t>
            </a:r>
          </a:p>
          <a:p>
            <a:r>
              <a:rPr lang="de-DE" b="1" noProof="0">
                <a:ea typeface="+mn-lt"/>
                <a:cs typeface="+mn-lt"/>
              </a:rPr>
              <a:t>Verlustfaktor</a:t>
            </a:r>
            <a:r>
              <a:rPr lang="de-DE" noProof="0">
                <a:ea typeface="+mn-lt"/>
                <a:cs typeface="+mn-lt"/>
              </a:rPr>
              <a:t> (tan δ)</a:t>
            </a:r>
            <a:br>
              <a:rPr lang="de-DE" noProof="0">
                <a:ea typeface="+mn-lt"/>
                <a:cs typeface="+mn-lt"/>
              </a:rPr>
            </a:br>
            <a:r>
              <a:rPr lang="de-DE" noProof="0">
                <a:ea typeface="+mn-lt"/>
                <a:cs typeface="+mn-lt"/>
              </a:rPr>
              <a:t>Beschreibt die Energieverluste im Dielektrikum; beeinflusst Bandpässe stark.</a:t>
            </a:r>
          </a:p>
          <a:p>
            <a:r>
              <a:rPr lang="de-DE" b="1" noProof="0">
                <a:ea typeface="+mn-lt"/>
                <a:cs typeface="+mn-lt"/>
              </a:rPr>
              <a:t>Kapazitäts-Temperatur- und Spannungs-Drift</a:t>
            </a:r>
            <a:br>
              <a:rPr lang="de-DE" b="1" noProof="0">
                <a:ea typeface="+mn-lt"/>
                <a:cs typeface="+mn-lt"/>
              </a:rPr>
            </a:br>
            <a:r>
              <a:rPr lang="de-DE" noProof="0">
                <a:ea typeface="+mn-lt"/>
                <a:cs typeface="+mn-lt"/>
              </a:rPr>
              <a:t>Besonders bei Elektrolyt und Keramik kann die effektive Kapazität je nach Spannung/Temperatur um 20 – 80 % schwanken.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6818028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Larissa</vt:lpstr>
      <vt:lpstr>Bode 100 Advanced &amp; Filter</vt:lpstr>
      <vt:lpstr>Inhalt</vt:lpstr>
      <vt:lpstr>Hochpass 1. Ordnung</vt:lpstr>
      <vt:lpstr>Bodediagramm Hochpass</vt:lpstr>
      <vt:lpstr>Messaufbau RC-Hochpass</vt:lpstr>
      <vt:lpstr>Tiefpass 2. Ordnung (Schwinkreis)</vt:lpstr>
      <vt:lpstr>Bodediagramm Tiefpass</vt:lpstr>
      <vt:lpstr>Güte in einem Schwingkreis</vt:lpstr>
      <vt:lpstr>Verbesserte Schaltung mit 10Ω Dämpfung</vt:lpstr>
      <vt:lpstr>Dadurch geringerer Peak</vt:lpstr>
      <vt:lpstr>Messaufbau LC-Tiefpass</vt:lpstr>
      <vt:lpstr>Bandpass</vt:lpstr>
      <vt:lpstr>Bodediagramm</vt:lpstr>
      <vt:lpstr>Messaufbau Bandpass</vt:lpstr>
      <vt:lpstr>Worst Case Analysen</vt:lpstr>
      <vt:lpstr>Worst Case im Hochpass 1. Ordnung</vt:lpstr>
      <vt:lpstr>PowerPoint Presentation</vt:lpstr>
      <vt:lpstr>Worst Case im Tiefpass 2. Ordnung</vt:lpstr>
      <vt:lpstr>PowerPoint Presentation</vt:lpstr>
      <vt:lpstr>Worst Case im Bandpass</vt:lpstr>
      <vt:lpstr>PowerPoint Presentation</vt:lpstr>
      <vt:lpstr>Schaltplan V1 Grundidee</vt:lpstr>
      <vt:lpstr>Board V1</vt:lpstr>
      <vt:lpstr>Kondensatorarten</vt:lpstr>
      <vt:lpstr>Spannung vs Kapazität | Kondensatortypen</vt:lpstr>
      <vt:lpstr>Was sonst noch beachten in der Praxis?</vt:lpstr>
      <vt:lpstr>Temperaturabhängigkeit C</vt:lpstr>
      <vt:lpstr>Kondensatoren in der Realität</vt:lpstr>
      <vt:lpstr>Wichtige Begriffe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2025-04-29T12:20:09Z</dcterms:created>
  <dcterms:modified xsi:type="dcterms:W3CDTF">2025-04-30T12:42:01Z</dcterms:modified>
</cp:coreProperties>
</file>
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28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Mathias%20Lampert\Documents\Mathias%20Schule_Studium\FH\ELITE-Semester\EIT_2\Labor2\Messprojekt1\Verlust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Mathias%20Lampert\Documents\Mathias%20Schule_Studium\FH\ELITE-Semester\EIT_2\Labor2\Messprojekt1\Verlust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Mathias%20Lampert\Documents\Mathias%20Schule_Studium\FH\ELITE-Semester\EIT_2\Labor2\Messprojekt1\Verlust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Mathias%20Lampert\Documents\Mathias%20Schule_Studium\FH\ELITE-Semester\EIT_2\Labor2\Messprojekt1\Verlust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AT" sz="3200"/>
              <a:t>Dynamischen</a:t>
            </a:r>
            <a:r>
              <a:rPr lang="de-AT" sz="3200" baseline="0"/>
              <a:t> Verluste Mosfet - Simulation</a:t>
            </a:r>
            <a:endParaRPr lang="de-AT" sz="32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A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Tabelle1!$B$37</c:f>
              <c:strCache>
                <c:ptCount val="1"/>
                <c:pt idx="0">
                  <c:v>Infineon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Tabelle1!$A$38:$A$42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Tabelle1!$B$38:$B$42</c:f>
              <c:numCache>
                <c:formatCode>General</c:formatCode>
                <c:ptCount val="5"/>
                <c:pt idx="0">
                  <c:v>1.21E-4</c:v>
                </c:pt>
                <c:pt idx="1">
                  <c:v>1.1980000000000001E-3</c:v>
                </c:pt>
                <c:pt idx="2">
                  <c:v>1.4430000000000001E-3</c:v>
                </c:pt>
                <c:pt idx="3">
                  <c:v>2.9260000000000002E-3</c:v>
                </c:pt>
                <c:pt idx="4">
                  <c:v>4.0200000000000001E-3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BFC-8627-84DA15A11BEF}"/>
            </c:ext>
          </c:extLst>
        </c:ser>
        <c:ser>
          <c:idx val="1"/>
          <c:order val="1"/>
          <c:tx>
            <c:strRef>
              <c:f>Tabelle1!$C$37</c:f>
              <c:strCache>
                <c:ptCount val="1"/>
                <c:pt idx="0">
                  <c:v>Nexperia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Tabelle1!$A$38:$A$42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Tabelle1!$C$38:$C$42</c:f>
              <c:numCache>
                <c:formatCode>General</c:formatCode>
                <c:ptCount val="5"/>
                <c:pt idx="0">
                  <c:v>2.6600000000000001E-4</c:v>
                </c:pt>
                <c:pt idx="1">
                  <c:v>1.081E-2</c:v>
                </c:pt>
                <c:pt idx="2">
                  <c:v>2.9982000000000002E-2</c:v>
                </c:pt>
                <c:pt idx="3">
                  <c:v>5.8746E-2</c:v>
                </c:pt>
                <c:pt idx="4">
                  <c:v>7.6834E-2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BFC-8627-84DA15A11BEF}"/>
            </c:ext>
          </c:extLst>
        </c:ser>
        <c:ser>
          <c:idx val="2"/>
          <c:order val="2"/>
          <c:tx>
            <c:strRef>
              <c:f>Tabelle1!$D$37</c:f>
              <c:strCache>
                <c:ptCount val="1"/>
                <c:pt idx="0">
                  <c:v>Vishay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Tabelle1!$A$38:$A$42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Tabelle1!$D$38:$D$42</c:f>
              <c:numCache>
                <c:formatCode>General</c:formatCode>
                <c:ptCount val="5"/>
                <c:pt idx="0">
                  <c:v>1.1980000000000001E-3</c:v>
                </c:pt>
                <c:pt idx="1">
                  <c:v>2.395E-3</c:v>
                </c:pt>
                <c:pt idx="2">
                  <c:v>6.6540000000000002E-3</c:v>
                </c:pt>
                <c:pt idx="3">
                  <c:v>1.3043000000000001E-2</c:v>
                </c:pt>
                <c:pt idx="4">
                  <c:v>1.7035999999999999E-2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BFC-8627-84DA15A11B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28253135"/>
        <c:axId val="228253615"/>
      </c:barChart>
      <c:catAx>
        <c:axId val="228253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28253615"/>
        <c:crosses val="autoZero"/>
        <c:auto val="1"/>
        <c:lblAlgn val="ctr"/>
        <c:lblOffset val="100"/>
        <c:noMultiLvlLbl val="0"/>
      </c:catAx>
      <c:valAx>
        <c:axId val="2282536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282531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3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de-AT" sz="3200" dirty="0"/>
              <a:t>Dynamischen Verluste </a:t>
            </a:r>
            <a:r>
              <a:rPr lang="de-AT" sz="3200" dirty="0" err="1"/>
              <a:t>Mosfet</a:t>
            </a:r>
            <a:endParaRPr lang="de-AT" sz="3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3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A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Tabelle1!$B$3</c:f>
              <c:strCache>
                <c:ptCount val="1"/>
                <c:pt idx="0">
                  <c:v>Infineon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Tabelle1!$A$4:$A$8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Tabelle1!$B$4:$B$8</c:f>
              <c:numCache>
                <c:formatCode>General</c:formatCode>
                <c:ptCount val="5"/>
                <c:pt idx="0">
                  <c:v>2.0200000000000001E-3</c:v>
                </c:pt>
                <c:pt idx="1">
                  <c:v>1.917E-2</c:v>
                </c:pt>
                <c:pt idx="2">
                  <c:v>5.5010999999999997E-2</c:v>
                </c:pt>
                <c:pt idx="3">
                  <c:v>0.113993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E6-403D-AF24-77FA8E035ABB}"/>
            </c:ext>
          </c:extLst>
        </c:ser>
        <c:ser>
          <c:idx val="1"/>
          <c:order val="1"/>
          <c:tx>
            <c:strRef>
              <c:f>Tabelle1!$C$3</c:f>
              <c:strCache>
                <c:ptCount val="1"/>
                <c:pt idx="0">
                  <c:v>Nexperia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Tabelle1!$A$4:$A$8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Tabelle1!$C$4:$C$8</c:f>
              <c:numCache>
                <c:formatCode>General</c:formatCode>
                <c:ptCount val="5"/>
                <c:pt idx="0">
                  <c:v>1.627E-3</c:v>
                </c:pt>
                <c:pt idx="1">
                  <c:v>1.9397000000000001E-2</c:v>
                </c:pt>
                <c:pt idx="2">
                  <c:v>4.1481999999999998E-2</c:v>
                </c:pt>
                <c:pt idx="3">
                  <c:v>0.11521199999999999</c:v>
                </c:pt>
                <c:pt idx="4">
                  <c:v>0.155141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E6-403D-AF24-77FA8E035ABB}"/>
            </c:ext>
          </c:extLst>
        </c:ser>
        <c:ser>
          <c:idx val="2"/>
          <c:order val="2"/>
          <c:tx>
            <c:strRef>
              <c:f>Tabelle1!$D$3</c:f>
              <c:strCache>
                <c:ptCount val="1"/>
                <c:pt idx="0">
                  <c:v>Vishay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Tabelle1!$A$4:$A$8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Tabelle1!$D$4:$D$8</c:f>
              <c:numCache>
                <c:formatCode>General</c:formatCode>
                <c:ptCount val="5"/>
                <c:pt idx="0">
                  <c:v>2.196E-3</c:v>
                </c:pt>
                <c:pt idx="1">
                  <c:v>2.0362000000000002E-2</c:v>
                </c:pt>
                <c:pt idx="2">
                  <c:v>5.7568000000000001E-2</c:v>
                </c:pt>
                <c:pt idx="3">
                  <c:v>0.11867999999999999</c:v>
                </c:pt>
                <c:pt idx="4">
                  <c:v>0.182363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EE6-403D-AF24-77FA8E035A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7903407"/>
        <c:axId val="537908687"/>
      </c:barChart>
      <c:catAx>
        <c:axId val="537903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37908687"/>
        <c:crosses val="autoZero"/>
        <c:auto val="1"/>
        <c:lblAlgn val="ctr"/>
        <c:lblOffset val="100"/>
        <c:noMultiLvlLbl val="0"/>
      </c:catAx>
      <c:valAx>
        <c:axId val="5379086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379034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AT" sz="3200"/>
              <a:t>Dynamische</a:t>
            </a:r>
            <a:r>
              <a:rPr lang="de-AT" sz="3200" baseline="0"/>
              <a:t> Verluste im direkten Vergleich</a:t>
            </a:r>
            <a:endParaRPr lang="de-AT" sz="32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A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Tabelle1!$B$72</c:f>
              <c:strCache>
                <c:ptCount val="1"/>
                <c:pt idx="0">
                  <c:v>Infineon Re</c:v>
                </c:pt>
              </c:strCache>
            </c:strRef>
          </c:tx>
          <c:spPr>
            <a:solidFill>
              <a:schemeClr val="accent1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Tabelle1!$B$73:$B$77</c:f>
              <c:numCache>
                <c:formatCode>General</c:formatCode>
                <c:ptCount val="5"/>
                <c:pt idx="0">
                  <c:v>2.0200000000000001E-3</c:v>
                </c:pt>
                <c:pt idx="1">
                  <c:v>1.917E-2</c:v>
                </c:pt>
                <c:pt idx="2">
                  <c:v>5.5010999999999997E-2</c:v>
                </c:pt>
                <c:pt idx="3">
                  <c:v>0.113993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21-400A-89B5-E0075A37291F}"/>
            </c:ext>
          </c:extLst>
        </c:ser>
        <c:ser>
          <c:idx val="1"/>
          <c:order val="1"/>
          <c:tx>
            <c:strRef>
              <c:f>Tabelle1!$C$72</c:f>
              <c:strCache>
                <c:ptCount val="1"/>
                <c:pt idx="0">
                  <c:v>Infineon Sim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Tabelle1!$C$73:$C$77</c:f>
              <c:numCache>
                <c:formatCode>General</c:formatCode>
                <c:ptCount val="5"/>
                <c:pt idx="0">
                  <c:v>1.21E-4</c:v>
                </c:pt>
                <c:pt idx="1">
                  <c:v>1.1980000000000001E-3</c:v>
                </c:pt>
                <c:pt idx="2">
                  <c:v>1.4430000000000001E-3</c:v>
                </c:pt>
                <c:pt idx="3">
                  <c:v>2.9260000000000002E-3</c:v>
                </c:pt>
                <c:pt idx="4">
                  <c:v>4.0200000000000001E-3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21-400A-89B5-E0075A37291F}"/>
            </c:ext>
          </c:extLst>
        </c:ser>
        <c:ser>
          <c:idx val="2"/>
          <c:order val="2"/>
          <c:tx>
            <c:strRef>
              <c:f>Tabelle1!$D$72</c:f>
              <c:strCache>
                <c:ptCount val="1"/>
                <c:pt idx="0">
                  <c:v>Vishay Re</c:v>
                </c:pt>
              </c:strCache>
            </c:strRef>
          </c:tx>
          <c:spPr>
            <a:solidFill>
              <a:schemeClr val="accent2">
                <a:lumMod val="5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Tabelle1!$D$73:$D$77</c:f>
              <c:numCache>
                <c:formatCode>General</c:formatCode>
                <c:ptCount val="5"/>
                <c:pt idx="0">
                  <c:v>2.196E-3</c:v>
                </c:pt>
                <c:pt idx="1">
                  <c:v>2.0362000000000002E-2</c:v>
                </c:pt>
                <c:pt idx="2">
                  <c:v>5.7568000000000001E-2</c:v>
                </c:pt>
                <c:pt idx="3">
                  <c:v>0.11867999999999999</c:v>
                </c:pt>
                <c:pt idx="4">
                  <c:v>0.182363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21-400A-89B5-E0075A37291F}"/>
            </c:ext>
          </c:extLst>
        </c:ser>
        <c:ser>
          <c:idx val="3"/>
          <c:order val="3"/>
          <c:tx>
            <c:strRef>
              <c:f>Tabelle1!$E$72</c:f>
              <c:strCache>
                <c:ptCount val="1"/>
                <c:pt idx="0">
                  <c:v>Vishay Sim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Tabelle1!$E$73:$E$77</c:f>
              <c:numCache>
                <c:formatCode>General</c:formatCode>
                <c:ptCount val="5"/>
                <c:pt idx="0">
                  <c:v>1.1980000000000001E-3</c:v>
                </c:pt>
                <c:pt idx="1">
                  <c:v>2.395E-3</c:v>
                </c:pt>
                <c:pt idx="2">
                  <c:v>6.6540000000000002E-3</c:v>
                </c:pt>
                <c:pt idx="3">
                  <c:v>1.3043000000000001E-2</c:v>
                </c:pt>
                <c:pt idx="4">
                  <c:v>1.7035999999999999E-2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721-400A-89B5-E0075A37291F}"/>
            </c:ext>
          </c:extLst>
        </c:ser>
        <c:ser>
          <c:idx val="4"/>
          <c:order val="4"/>
          <c:tx>
            <c:strRef>
              <c:f>Tabelle1!$F$72</c:f>
              <c:strCache>
                <c:ptCount val="1"/>
                <c:pt idx="0">
                  <c:v>Nexperia Re</c:v>
                </c:pt>
              </c:strCache>
            </c:strRef>
          </c:tx>
          <c:spPr>
            <a:solidFill>
              <a:schemeClr val="accent6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Tabelle1!$F$73:$F$77</c:f>
              <c:numCache>
                <c:formatCode>General</c:formatCode>
                <c:ptCount val="5"/>
                <c:pt idx="0">
                  <c:v>1.627E-3</c:v>
                </c:pt>
                <c:pt idx="1">
                  <c:v>1.9397000000000001E-2</c:v>
                </c:pt>
                <c:pt idx="2">
                  <c:v>4.1481999999999998E-2</c:v>
                </c:pt>
                <c:pt idx="3">
                  <c:v>0.11521199999999999</c:v>
                </c:pt>
                <c:pt idx="4">
                  <c:v>0.155141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721-400A-89B5-E0075A37291F}"/>
            </c:ext>
          </c:extLst>
        </c:ser>
        <c:ser>
          <c:idx val="5"/>
          <c:order val="5"/>
          <c:tx>
            <c:strRef>
              <c:f>Tabelle1!$G$72</c:f>
              <c:strCache>
                <c:ptCount val="1"/>
                <c:pt idx="0">
                  <c:v>Nexperia Sim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Tabelle1!$A$73:$A$77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Tabelle1!$G$73:$G$77</c:f>
              <c:numCache>
                <c:formatCode>General</c:formatCode>
                <c:ptCount val="5"/>
                <c:pt idx="0">
                  <c:v>2.6600000000000001E-4</c:v>
                </c:pt>
                <c:pt idx="1">
                  <c:v>1.081E-2</c:v>
                </c:pt>
                <c:pt idx="2">
                  <c:v>2.9982000000000002E-2</c:v>
                </c:pt>
                <c:pt idx="3">
                  <c:v>5.8746E-2</c:v>
                </c:pt>
                <c:pt idx="4">
                  <c:v>7.6834E-2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721-400A-89B5-E0075A3729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4463855"/>
        <c:axId val="164467215"/>
      </c:barChart>
      <c:catAx>
        <c:axId val="1644638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4467215"/>
        <c:crosses val="autoZero"/>
        <c:auto val="1"/>
        <c:lblAlgn val="ctr"/>
        <c:lblOffset val="100"/>
        <c:noMultiLvlLbl val="0"/>
      </c:catAx>
      <c:valAx>
        <c:axId val="1644672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44638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AT" sz="3200"/>
              <a:t>Statischen</a:t>
            </a:r>
            <a:r>
              <a:rPr lang="de-AT" sz="3200" baseline="0"/>
              <a:t> Verluste Mosfet</a:t>
            </a:r>
            <a:endParaRPr lang="de-AT" sz="32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A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Tabelle1!$G$3</c:f>
              <c:strCache>
                <c:ptCount val="1"/>
                <c:pt idx="0">
                  <c:v>Infineon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Tabelle1!$F$4:$F$8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Tabelle1!$G$4:$G$8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2.7948300000000001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7F-447A-A67C-CB33C1FA38FB}"/>
            </c:ext>
          </c:extLst>
        </c:ser>
        <c:ser>
          <c:idx val="1"/>
          <c:order val="1"/>
          <c:tx>
            <c:strRef>
              <c:f>Tabelle1!$H$3</c:f>
              <c:strCache>
                <c:ptCount val="1"/>
                <c:pt idx="0">
                  <c:v>Nexperia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Tabelle1!$F$4:$F$8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Tabelle1!$H$4:$H$8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2.8071600000000001</c:v>
                </c:pt>
                <c:pt idx="4">
                  <c:v>10.01174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7F-447A-A67C-CB33C1FA38FB}"/>
            </c:ext>
          </c:extLst>
        </c:ser>
        <c:ser>
          <c:idx val="2"/>
          <c:order val="2"/>
          <c:tx>
            <c:strRef>
              <c:f>Tabelle1!$I$3</c:f>
              <c:strCache>
                <c:ptCount val="1"/>
                <c:pt idx="0">
                  <c:v>Vishay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Tabelle1!$F$4:$F$8</c:f>
              <c:strCache>
                <c:ptCount val="5"/>
                <c:pt idx="0">
                  <c:v>5V, 20R, 1Hz</c:v>
                </c:pt>
                <c:pt idx="1">
                  <c:v>15V, 20R, 1Hz</c:v>
                </c:pt>
                <c:pt idx="2">
                  <c:v>25V, 20R, 1Hz</c:v>
                </c:pt>
                <c:pt idx="3">
                  <c:v>35V, 20R, 1Hz</c:v>
                </c:pt>
                <c:pt idx="4">
                  <c:v>40V, 20R, 1Hz</c:v>
                </c:pt>
              </c:strCache>
            </c:strRef>
          </c:cat>
          <c:val>
            <c:numRef>
              <c:f>Tabelle1!$I$4:$I$8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2.31819</c:v>
                </c:pt>
                <c:pt idx="4">
                  <c:v>8.86782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D7F-447A-A67C-CB33C1FA38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37944687"/>
        <c:axId val="537945647"/>
      </c:barChart>
      <c:catAx>
        <c:axId val="5379446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37945647"/>
        <c:crosses val="autoZero"/>
        <c:auto val="1"/>
        <c:lblAlgn val="ctr"/>
        <c:lblOffset val="100"/>
        <c:noMultiLvlLbl val="0"/>
      </c:catAx>
      <c:valAx>
        <c:axId val="5379456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379446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8C7268-414C-49FA-8DDD-B0032A324D76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A75F9-601F-45EF-B2CE-E9F6DA2E791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73396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A75F9-601F-45EF-B2CE-E9F6DA2E791D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83728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77B2C-8E23-F341-4B31-2A1372458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2C8806B-DF93-6880-DEAA-BE6E3CA14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A2E7AA-3516-7F61-BD6D-E1C9B019C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0A1445-F11D-8692-DF0A-8B0EC6B05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3237C5-81C8-9994-51F9-DBC3E2585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17525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E5C10F-A680-3D57-1E61-AC403DAAC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52C7CC-623D-50D2-20CE-37395D5C6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453CAA-7E4D-3F3E-8786-AB12DA52C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554E86-5E98-DA93-FCFA-3EBA29CB5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9FE218-CB07-F5DB-0C5B-07DAFEE6D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79195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5A1ECE-D0E1-6F94-DE2F-28DD997AE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345224-5213-84A4-9276-52E50BE46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4CEE7F-9AA6-2AE3-7319-1216FE74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34C6F7-0354-6608-90B6-05D973B44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B17E32-7A9C-CA85-373E-4454C6F76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9863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CA356E-08BC-777E-F03E-C1EA6ED23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750539-0CE3-6D64-7B20-9845697BA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BA1963E-A0FC-B8C5-1BEB-FDAB1464B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498D7C-DE71-9DD1-831C-D6C4BF04E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8786BE-138A-5E33-A759-42BFA6DA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6CAA3B-A9B6-63AC-B88D-C92D80459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5350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FA7B2-4E5B-193A-C9B3-A3947ACD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FFA26F-8C17-45A0-060A-9B128CC55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7B9852-AF9E-FDCB-E272-14948B2509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415935-3BFC-D85D-2E20-EFE32E4C4F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9B98EF-237C-B11A-8E68-38D8719C1C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98165B1-63F1-E599-6E5A-2D94BDABD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C5329F1-E98C-27B8-57EB-916B06D5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B703BE6-DD37-EBA1-4E1C-05235023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70768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B2A6CA-5633-9A10-2DB7-F6A5169E2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7CBE5F-6170-C25F-78C5-794C3CF7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323064-2CBD-1A07-4F70-D45F9FBBF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12275D-D3BE-B729-9389-05D9851DE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8990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37A8FA0-70DA-93C4-8EE9-DFD6EBC1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1B49EF-7F00-75C7-3724-8F58A19E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435009-416F-B460-205F-D7D61594E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66665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AFD567-0C57-F9EC-A07B-5BC47037A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74245-EBDD-27CB-98DE-C8837F951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6B9354-72FD-2172-078E-87E230BDD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397E8E-E4D1-BB20-3C9F-2CDACB6D4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41351C-1612-0856-3793-A5D4F8ADC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D5F1EE-0A5E-551F-D737-C8261867B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40662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E84E36-4087-2511-2332-67EF65108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AA298F-9C7E-4999-1459-F816C709D9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1613F-3D6F-0A55-83F7-7E0F289BCC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5F2FE3-9DF3-4B35-5E0C-91F24651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82097E5-B6A7-B93A-1966-FF79668B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EDDD51-66B5-CF2E-F468-6A9578DA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6320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B10AD-1EBB-28D4-A516-58A293AD2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46B8565-F5E9-AE6D-C4D5-FA638B1310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8FA735-19E6-C2BB-6B28-ACE8E0E60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C176EF-824E-1C9A-4233-38C46EED0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BF5B78-6198-00CB-C351-1D4033002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10834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C122362-7E7B-4876-8A60-0E86641FE0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C9A1758-504A-39BA-FA78-5466D2B20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C4484C-FD50-F921-2EBE-9E4378038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13BA1-128D-AABB-012C-1C3C94AEC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B482C4-F77C-7FDB-264D-5EEDC7D48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8462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C1CE94-382D-64A5-5C9E-5179B1148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8D5779-66A5-96C8-F2E6-8D9714468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BCAD55-0EB8-3842-7A2E-4B7DD32B1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A266DE-0BFC-4EA0-B33A-40CF1303C9AA}" type="datetimeFigureOut">
              <a:rPr lang="de-AT" smtClean="0"/>
              <a:t>13.06.2025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457B5F-5A48-478E-5371-7737E83511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6707F6-6E64-D288-188C-758F0A2840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1D7CB-1CC0-4F87-8198-8C5C2E6094F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647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85060E2F-B2A2-E473-2F68-F8F192CCA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4392802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1440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EE506731-50E8-C9C4-28A9-9E8A65873DE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4901707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90410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E901AE6-4EA7-36B8-5173-E85FFAE9F2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3603248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18132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F420A373-7454-C796-2ED2-8A5743F3D0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85971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8981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2919A55-3559-96AB-27A5-34B364DC64BD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Verlustfaktoren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Vergleich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800" dirty="0">
                <a:latin typeface="+mj-lt"/>
                <a:ea typeface="+mj-ea"/>
                <a:cs typeface="+mj-cs"/>
              </a:rPr>
              <a:t>Real </a:t>
            </a:r>
            <a:r>
              <a:rPr lang="en-US" sz="4800" dirty="0" err="1">
                <a:latin typeface="+mj-lt"/>
                <a:ea typeface="+mj-ea"/>
                <a:cs typeface="+mj-cs"/>
              </a:rPr>
              <a:t>zu</a:t>
            </a:r>
            <a:r>
              <a:rPr lang="en-US" sz="4800" dirty="0">
                <a:latin typeface="+mj-lt"/>
                <a:ea typeface="+mj-ea"/>
                <a:cs typeface="+mj-cs"/>
              </a:rPr>
              <a:t> Simulation</a:t>
            </a:r>
            <a:endParaRPr lang="en-US" sz="4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1D3A8634-8024-F8D9-9109-6ADD46B7B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297719"/>
              </p:ext>
            </p:extLst>
          </p:nvPr>
        </p:nvGraphicFramePr>
        <p:xfrm>
          <a:off x="838200" y="2062128"/>
          <a:ext cx="10512548" cy="4016903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628137">
                  <a:extLst>
                    <a:ext uri="{9D8B030D-6E8A-4147-A177-3AD203B41FA5}">
                      <a16:colId xmlns:a16="http://schemas.microsoft.com/office/drawing/2014/main" val="4035247679"/>
                    </a:ext>
                  </a:extLst>
                </a:gridCol>
                <a:gridCol w="2628137">
                  <a:extLst>
                    <a:ext uri="{9D8B030D-6E8A-4147-A177-3AD203B41FA5}">
                      <a16:colId xmlns:a16="http://schemas.microsoft.com/office/drawing/2014/main" val="1755846562"/>
                    </a:ext>
                  </a:extLst>
                </a:gridCol>
                <a:gridCol w="2628137">
                  <a:extLst>
                    <a:ext uri="{9D8B030D-6E8A-4147-A177-3AD203B41FA5}">
                      <a16:colId xmlns:a16="http://schemas.microsoft.com/office/drawing/2014/main" val="1543302122"/>
                    </a:ext>
                  </a:extLst>
                </a:gridCol>
                <a:gridCol w="2628137">
                  <a:extLst>
                    <a:ext uri="{9D8B030D-6E8A-4147-A177-3AD203B41FA5}">
                      <a16:colId xmlns:a16="http://schemas.microsoft.com/office/drawing/2014/main" val="1283869367"/>
                    </a:ext>
                  </a:extLst>
                </a:gridCol>
              </a:tblGrid>
              <a:tr h="1284253">
                <a:tc>
                  <a:txBody>
                    <a:bodyPr/>
                    <a:lstStyle/>
                    <a:p>
                      <a:pPr algn="ctr" fontAlgn="ctr"/>
                      <a:endParaRPr lang="de-AT" sz="3200" b="1" i="0" u="none" strike="noStrike" cap="none" spc="3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22132" marT="15369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3200" b="1" u="none" strike="noStrike" cap="none" spc="30" dirty="0">
                          <a:solidFill>
                            <a:schemeClr val="tx1"/>
                          </a:solidFill>
                          <a:effectLst/>
                        </a:rPr>
                        <a:t>Infineon</a:t>
                      </a:r>
                      <a:endParaRPr lang="de-AT" sz="3200" b="1" i="0" u="none" strike="noStrike" cap="none" spc="3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22132" marT="15369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3200" b="1" u="none" strike="noStrike" cap="none" spc="30" dirty="0" err="1">
                          <a:solidFill>
                            <a:schemeClr val="tx1"/>
                          </a:solidFill>
                          <a:effectLst/>
                        </a:rPr>
                        <a:t>Nexperia</a:t>
                      </a:r>
                      <a:endParaRPr lang="de-AT" sz="3200" b="1" i="0" u="none" strike="noStrike" cap="none" spc="3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22132" marT="15369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3200" b="1" u="none" strike="noStrike" cap="none" spc="30" dirty="0" err="1">
                          <a:solidFill>
                            <a:schemeClr val="tx1"/>
                          </a:solidFill>
                          <a:effectLst/>
                        </a:rPr>
                        <a:t>Vishay</a:t>
                      </a:r>
                      <a:endParaRPr lang="de-AT" sz="3200" b="1" i="0" u="none" strike="noStrike" cap="none" spc="3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22132" marT="15369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504170"/>
                  </a:ext>
                </a:extLst>
              </a:tr>
              <a:tr h="546530"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5V, 20R, 1Hz</a:t>
                      </a: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16,69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6,12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1,83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699020"/>
                  </a:ext>
                </a:extLst>
              </a:tr>
              <a:tr h="546530"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15V, 20R, 1Hz</a:t>
                      </a: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16,00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1,79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8,50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854504"/>
                  </a:ext>
                </a:extLst>
              </a:tr>
              <a:tr h="546530"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25V, 20R, 1Hz</a:t>
                      </a: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38,12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1,38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8,65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022644"/>
                  </a:ext>
                </a:extLst>
              </a:tr>
              <a:tr h="546530"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35V, 20R, 1Hz</a:t>
                      </a: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38,96</a:t>
                      </a:r>
                      <a:endParaRPr lang="de-AT" sz="2400" b="0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1,96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9,10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0658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192023"/>
                  </a:ext>
                </a:extLst>
              </a:tr>
              <a:tr h="546530"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40V, 20R, 1Hz</a:t>
                      </a: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2,02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AT" sz="2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10,70</a:t>
                      </a:r>
                      <a:endParaRPr lang="de-AT" sz="2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15369" marT="15369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049638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A33779A4-3D61-1426-51B8-EE125200ED77}"/>
              </a:ext>
            </a:extLst>
          </p:cNvPr>
          <p:cNvSpPr txBox="1"/>
          <p:nvPr/>
        </p:nvSpPr>
        <p:spPr>
          <a:xfrm>
            <a:off x="838200" y="6079031"/>
            <a:ext cx="10515600" cy="4155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dirty="0">
                <a:latin typeface="+mj-lt"/>
                <a:ea typeface="+mj-ea"/>
                <a:cs typeface="+mj-cs"/>
              </a:rPr>
              <a:t>Die </a:t>
            </a:r>
            <a:r>
              <a:rPr lang="en-US" dirty="0" err="1">
                <a:latin typeface="+mj-lt"/>
                <a:ea typeface="+mj-ea"/>
                <a:cs typeface="+mj-cs"/>
              </a:rPr>
              <a:t>realen</a:t>
            </a:r>
            <a:r>
              <a:rPr lang="en-US" dirty="0">
                <a:latin typeface="+mj-lt"/>
                <a:ea typeface="+mj-ea"/>
                <a:cs typeface="+mj-cs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</a:rPr>
              <a:t>Messwerte</a:t>
            </a:r>
            <a:r>
              <a:rPr lang="en-US" dirty="0">
                <a:latin typeface="+mj-lt"/>
                <a:ea typeface="+mj-ea"/>
                <a:cs typeface="+mj-cs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</a:rPr>
              <a:t>sind</a:t>
            </a:r>
            <a:r>
              <a:rPr lang="en-US" dirty="0">
                <a:latin typeface="+mj-lt"/>
                <a:ea typeface="+mj-ea"/>
                <a:cs typeface="+mj-cs"/>
              </a:rPr>
              <a:t> um </a:t>
            </a:r>
            <a:r>
              <a:rPr lang="en-US" dirty="0" err="1">
                <a:latin typeface="+mj-lt"/>
                <a:ea typeface="+mj-ea"/>
                <a:cs typeface="+mj-cs"/>
              </a:rPr>
              <a:t>diesen</a:t>
            </a:r>
            <a:r>
              <a:rPr lang="en-US" dirty="0">
                <a:latin typeface="+mj-lt"/>
                <a:ea typeface="+mj-ea"/>
                <a:cs typeface="+mj-cs"/>
              </a:rPr>
              <a:t> Faktor </a:t>
            </a:r>
            <a:r>
              <a:rPr lang="en-US" dirty="0" err="1">
                <a:latin typeface="+mj-lt"/>
                <a:ea typeface="+mj-ea"/>
                <a:cs typeface="+mj-cs"/>
              </a:rPr>
              <a:t>höher</a:t>
            </a:r>
            <a:r>
              <a:rPr lang="en-US" dirty="0">
                <a:latin typeface="+mj-lt"/>
                <a:ea typeface="+mj-ea"/>
                <a:cs typeface="+mj-cs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</a:rPr>
              <a:t>als</a:t>
            </a:r>
            <a:r>
              <a:rPr lang="en-US" dirty="0">
                <a:latin typeface="+mj-lt"/>
                <a:ea typeface="+mj-ea"/>
                <a:cs typeface="+mj-cs"/>
              </a:rPr>
              <a:t> die Simulation</a:t>
            </a: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4332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</Words>
  <Application>Microsoft Office PowerPoint</Application>
  <PresentationFormat>Breitbild</PresentationFormat>
  <Paragraphs>30</Paragraphs>
  <Slides>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Aptos Narrow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LAMPERT Mathias</dc:creator>
  <cp:lastModifiedBy>LAMPERT Mathias</cp:lastModifiedBy>
  <cp:revision>2</cp:revision>
  <dcterms:created xsi:type="dcterms:W3CDTF">2025-06-11T12:40:51Z</dcterms:created>
  <dcterms:modified xsi:type="dcterms:W3CDTF">2025-06-13T14:24:33Z</dcterms:modified>
</cp:coreProperties>
</file>
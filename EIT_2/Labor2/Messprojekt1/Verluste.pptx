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hias%20Lampert\Documents\Mathias%20Schule_Studium\FH\ELITE-Semester\EIT_2\Labor2\Messprojekt1\Verlus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hias%20Lampert\Documents\Mathias%20Schule_Studium\FH\ELITE-Semester\EIT_2\Labor2\Messprojekt1\Verlus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hias%20Lampert\Documents\Mathias%20Schule_Studium\FH\ELITE-Semester\EIT_2\Labor2\Messprojekt1\Verlus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hias%20Lampert\Documents\Mathias%20Schule_Studium\FH\ELITE-Semester\EIT_2\Labor2\Messprojekt1\Verlus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AT" sz="3200"/>
              <a:t>Dynamischen</a:t>
            </a:r>
            <a:r>
              <a:rPr lang="de-AT" sz="3200" baseline="0"/>
              <a:t> Verluste Mosfet - Simulation</a:t>
            </a:r>
            <a:endParaRPr lang="de-AT" sz="3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A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Tabelle1!$B$37</c:f>
              <c:strCache>
                <c:ptCount val="1"/>
                <c:pt idx="0">
                  <c:v>Infineon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Tabelle1!$A$38:$A$42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Tabelle1!$B$38:$B$42</c:f>
              <c:numCache>
                <c:formatCode>General</c:formatCode>
                <c:ptCount val="5"/>
                <c:pt idx="0">
                  <c:v>1.21E-4</c:v>
                </c:pt>
                <c:pt idx="1">
                  <c:v>1.1980000000000001E-3</c:v>
                </c:pt>
                <c:pt idx="2">
                  <c:v>1.4430000000000001E-3</c:v>
                </c:pt>
                <c:pt idx="3">
                  <c:v>2.9260000000000002E-3</c:v>
                </c:pt>
                <c:pt idx="4">
                  <c:v>4.0200000000000001E-3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E1-4BFC-8627-84DA15A11BEF}"/>
            </c:ext>
          </c:extLst>
        </c:ser>
        <c:ser>
          <c:idx val="1"/>
          <c:order val="1"/>
          <c:tx>
            <c:strRef>
              <c:f>Tabelle1!$C$37</c:f>
              <c:strCache>
                <c:ptCount val="1"/>
                <c:pt idx="0">
                  <c:v>Nexperia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Tabelle1!$A$38:$A$42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Tabelle1!$C$38:$C$42</c:f>
              <c:numCache>
                <c:formatCode>General</c:formatCode>
                <c:ptCount val="5"/>
                <c:pt idx="0">
                  <c:v>2.6600000000000001E-4</c:v>
                </c:pt>
                <c:pt idx="1">
                  <c:v>1.081E-2</c:v>
                </c:pt>
                <c:pt idx="2">
                  <c:v>2.9982000000000002E-2</c:v>
                </c:pt>
                <c:pt idx="3">
                  <c:v>5.8746E-2</c:v>
                </c:pt>
                <c:pt idx="4">
                  <c:v>7.6834E-2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E1-4BFC-8627-84DA15A11BEF}"/>
            </c:ext>
          </c:extLst>
        </c:ser>
        <c:ser>
          <c:idx val="2"/>
          <c:order val="2"/>
          <c:tx>
            <c:strRef>
              <c:f>Tabelle1!$D$37</c:f>
              <c:strCache>
                <c:ptCount val="1"/>
                <c:pt idx="0">
                  <c:v>Vishay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Tabelle1!$A$38:$A$42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Tabelle1!$D$38:$D$42</c:f>
              <c:numCache>
                <c:formatCode>General</c:formatCode>
                <c:ptCount val="5"/>
                <c:pt idx="0">
                  <c:v>1.1980000000000001E-3</c:v>
                </c:pt>
                <c:pt idx="1">
                  <c:v>2.395E-3</c:v>
                </c:pt>
                <c:pt idx="2">
                  <c:v>6.6540000000000002E-3</c:v>
                </c:pt>
                <c:pt idx="3">
                  <c:v>1.3043000000000001E-2</c:v>
                </c:pt>
                <c:pt idx="4">
                  <c:v>1.7035999999999999E-2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E1-4BFC-8627-84DA15A11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8253135"/>
        <c:axId val="228253615"/>
      </c:barChart>
      <c:catAx>
        <c:axId val="228253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28253615"/>
        <c:crosses val="autoZero"/>
        <c:auto val="1"/>
        <c:lblAlgn val="ctr"/>
        <c:lblOffset val="100"/>
        <c:noMultiLvlLbl val="0"/>
      </c:catAx>
      <c:valAx>
        <c:axId val="228253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28253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3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AT" sz="3200" dirty="0"/>
              <a:t>Dynamischen Verluste </a:t>
            </a:r>
            <a:r>
              <a:rPr lang="de-AT" sz="3200" dirty="0" err="1"/>
              <a:t>Mosfet</a:t>
            </a:r>
            <a:endParaRPr lang="de-AT" sz="3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3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A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Tabelle1!$B$3</c:f>
              <c:strCache>
                <c:ptCount val="1"/>
                <c:pt idx="0">
                  <c:v>Infineon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Tabelle1!$A$4:$A$8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Tabelle1!$B$4:$B$8</c:f>
              <c:numCache>
                <c:formatCode>General</c:formatCode>
                <c:ptCount val="5"/>
                <c:pt idx="0">
                  <c:v>2.0200000000000001E-3</c:v>
                </c:pt>
                <c:pt idx="1">
                  <c:v>1.917E-2</c:v>
                </c:pt>
                <c:pt idx="2">
                  <c:v>5.5010999999999997E-2</c:v>
                </c:pt>
                <c:pt idx="3">
                  <c:v>0.113993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E6-403D-AF24-77FA8E035ABB}"/>
            </c:ext>
          </c:extLst>
        </c:ser>
        <c:ser>
          <c:idx val="1"/>
          <c:order val="1"/>
          <c:tx>
            <c:strRef>
              <c:f>Tabelle1!$C$3</c:f>
              <c:strCache>
                <c:ptCount val="1"/>
                <c:pt idx="0">
                  <c:v>Nexperia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Tabelle1!$A$4:$A$8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Tabelle1!$C$4:$C$8</c:f>
              <c:numCache>
                <c:formatCode>General</c:formatCode>
                <c:ptCount val="5"/>
                <c:pt idx="0">
                  <c:v>1.627E-3</c:v>
                </c:pt>
                <c:pt idx="1">
                  <c:v>1.9397000000000001E-2</c:v>
                </c:pt>
                <c:pt idx="2">
                  <c:v>4.1481999999999998E-2</c:v>
                </c:pt>
                <c:pt idx="3">
                  <c:v>0.11521199999999999</c:v>
                </c:pt>
                <c:pt idx="4">
                  <c:v>0.155141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E6-403D-AF24-77FA8E035ABB}"/>
            </c:ext>
          </c:extLst>
        </c:ser>
        <c:ser>
          <c:idx val="2"/>
          <c:order val="2"/>
          <c:tx>
            <c:strRef>
              <c:f>Tabelle1!$D$3</c:f>
              <c:strCache>
                <c:ptCount val="1"/>
                <c:pt idx="0">
                  <c:v>Vishay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Tabelle1!$A$4:$A$8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Tabelle1!$D$4:$D$8</c:f>
              <c:numCache>
                <c:formatCode>General</c:formatCode>
                <c:ptCount val="5"/>
                <c:pt idx="0">
                  <c:v>2.196E-3</c:v>
                </c:pt>
                <c:pt idx="1">
                  <c:v>2.0362000000000002E-2</c:v>
                </c:pt>
                <c:pt idx="2">
                  <c:v>5.7568000000000001E-2</c:v>
                </c:pt>
                <c:pt idx="3">
                  <c:v>0.11867999999999999</c:v>
                </c:pt>
                <c:pt idx="4">
                  <c:v>0.182363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E6-403D-AF24-77FA8E035A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7903407"/>
        <c:axId val="537908687"/>
      </c:barChart>
      <c:catAx>
        <c:axId val="53790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37908687"/>
        <c:crosses val="autoZero"/>
        <c:auto val="1"/>
        <c:lblAlgn val="ctr"/>
        <c:lblOffset val="100"/>
        <c:noMultiLvlLbl val="0"/>
      </c:catAx>
      <c:valAx>
        <c:axId val="537908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37903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AT" sz="3200"/>
              <a:t>Dynamische</a:t>
            </a:r>
            <a:r>
              <a:rPr lang="de-AT" sz="3200" baseline="0"/>
              <a:t> Verluste im direkten Vergleich</a:t>
            </a:r>
            <a:endParaRPr lang="de-AT" sz="3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A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Tabelle1!$B$72</c:f>
              <c:strCache>
                <c:ptCount val="1"/>
                <c:pt idx="0">
                  <c:v>Infineon 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Tabelle1!$A$73:$A$77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Tabelle1!$B$73:$B$77</c:f>
              <c:numCache>
                <c:formatCode>General</c:formatCode>
                <c:ptCount val="5"/>
                <c:pt idx="0">
                  <c:v>2.0200000000000001E-3</c:v>
                </c:pt>
                <c:pt idx="1">
                  <c:v>1.917E-2</c:v>
                </c:pt>
                <c:pt idx="2">
                  <c:v>5.5010999999999997E-2</c:v>
                </c:pt>
                <c:pt idx="3">
                  <c:v>0.113993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21-400A-89B5-E0075A37291F}"/>
            </c:ext>
          </c:extLst>
        </c:ser>
        <c:ser>
          <c:idx val="1"/>
          <c:order val="1"/>
          <c:tx>
            <c:strRef>
              <c:f>Tabelle1!$C$72</c:f>
              <c:strCache>
                <c:ptCount val="1"/>
                <c:pt idx="0">
                  <c:v>Infineon Sim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Tabelle1!$A$73:$A$77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Tabelle1!$C$73:$C$77</c:f>
              <c:numCache>
                <c:formatCode>General</c:formatCode>
                <c:ptCount val="5"/>
                <c:pt idx="0">
                  <c:v>1.21E-4</c:v>
                </c:pt>
                <c:pt idx="1">
                  <c:v>1.1980000000000001E-3</c:v>
                </c:pt>
                <c:pt idx="2">
                  <c:v>1.4430000000000001E-3</c:v>
                </c:pt>
                <c:pt idx="3">
                  <c:v>2.9260000000000002E-3</c:v>
                </c:pt>
                <c:pt idx="4">
                  <c:v>4.0200000000000001E-3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21-400A-89B5-E0075A37291F}"/>
            </c:ext>
          </c:extLst>
        </c:ser>
        <c:ser>
          <c:idx val="2"/>
          <c:order val="2"/>
          <c:tx>
            <c:strRef>
              <c:f>Tabelle1!$D$72</c:f>
              <c:strCache>
                <c:ptCount val="1"/>
                <c:pt idx="0">
                  <c:v>Vishay Re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  <a:effectLst/>
          </c:spPr>
          <c:invertIfNegative val="0"/>
          <c:cat>
            <c:strRef>
              <c:f>Tabelle1!$A$73:$A$77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Tabelle1!$D$73:$D$77</c:f>
              <c:numCache>
                <c:formatCode>General</c:formatCode>
                <c:ptCount val="5"/>
                <c:pt idx="0">
                  <c:v>2.196E-3</c:v>
                </c:pt>
                <c:pt idx="1">
                  <c:v>2.0362000000000002E-2</c:v>
                </c:pt>
                <c:pt idx="2">
                  <c:v>5.7568000000000001E-2</c:v>
                </c:pt>
                <c:pt idx="3">
                  <c:v>0.11867999999999999</c:v>
                </c:pt>
                <c:pt idx="4">
                  <c:v>0.182363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21-400A-89B5-E0075A37291F}"/>
            </c:ext>
          </c:extLst>
        </c:ser>
        <c:ser>
          <c:idx val="3"/>
          <c:order val="3"/>
          <c:tx>
            <c:strRef>
              <c:f>Tabelle1!$E$72</c:f>
              <c:strCache>
                <c:ptCount val="1"/>
                <c:pt idx="0">
                  <c:v>Vishay Sim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Tabelle1!$A$73:$A$77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Tabelle1!$E$73:$E$77</c:f>
              <c:numCache>
                <c:formatCode>General</c:formatCode>
                <c:ptCount val="5"/>
                <c:pt idx="0">
                  <c:v>1.1980000000000001E-3</c:v>
                </c:pt>
                <c:pt idx="1">
                  <c:v>2.395E-3</c:v>
                </c:pt>
                <c:pt idx="2">
                  <c:v>6.6540000000000002E-3</c:v>
                </c:pt>
                <c:pt idx="3">
                  <c:v>1.3043000000000001E-2</c:v>
                </c:pt>
                <c:pt idx="4">
                  <c:v>1.7035999999999999E-2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21-400A-89B5-E0075A37291F}"/>
            </c:ext>
          </c:extLst>
        </c:ser>
        <c:ser>
          <c:idx val="4"/>
          <c:order val="4"/>
          <c:tx>
            <c:strRef>
              <c:f>Tabelle1!$F$72</c:f>
              <c:strCache>
                <c:ptCount val="1"/>
                <c:pt idx="0">
                  <c:v>Nexperia Re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Tabelle1!$A$73:$A$77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Tabelle1!$F$73:$F$77</c:f>
              <c:numCache>
                <c:formatCode>General</c:formatCode>
                <c:ptCount val="5"/>
                <c:pt idx="0">
                  <c:v>1.627E-3</c:v>
                </c:pt>
                <c:pt idx="1">
                  <c:v>1.9397000000000001E-2</c:v>
                </c:pt>
                <c:pt idx="2">
                  <c:v>4.1481999999999998E-2</c:v>
                </c:pt>
                <c:pt idx="3">
                  <c:v>0.11521199999999999</c:v>
                </c:pt>
                <c:pt idx="4">
                  <c:v>0.155141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21-400A-89B5-E0075A37291F}"/>
            </c:ext>
          </c:extLst>
        </c:ser>
        <c:ser>
          <c:idx val="5"/>
          <c:order val="5"/>
          <c:tx>
            <c:strRef>
              <c:f>Tabelle1!$G$72</c:f>
              <c:strCache>
                <c:ptCount val="1"/>
                <c:pt idx="0">
                  <c:v>Nexperia Sim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Tabelle1!$A$73:$A$77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Tabelle1!$G$73:$G$77</c:f>
              <c:numCache>
                <c:formatCode>General</c:formatCode>
                <c:ptCount val="5"/>
                <c:pt idx="0">
                  <c:v>2.6600000000000001E-4</c:v>
                </c:pt>
                <c:pt idx="1">
                  <c:v>1.081E-2</c:v>
                </c:pt>
                <c:pt idx="2">
                  <c:v>2.9982000000000002E-2</c:v>
                </c:pt>
                <c:pt idx="3">
                  <c:v>5.8746E-2</c:v>
                </c:pt>
                <c:pt idx="4">
                  <c:v>7.6834E-2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21-400A-89B5-E0075A372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463855"/>
        <c:axId val="164467215"/>
      </c:barChart>
      <c:catAx>
        <c:axId val="164463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4467215"/>
        <c:crosses val="autoZero"/>
        <c:auto val="1"/>
        <c:lblAlgn val="ctr"/>
        <c:lblOffset val="100"/>
        <c:noMultiLvlLbl val="0"/>
      </c:catAx>
      <c:valAx>
        <c:axId val="164467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4463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AT" sz="3200"/>
              <a:t>Statischen</a:t>
            </a:r>
            <a:r>
              <a:rPr lang="de-AT" sz="3200" baseline="0"/>
              <a:t> Verluste Mosfet</a:t>
            </a:r>
            <a:endParaRPr lang="de-AT" sz="3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A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Tabelle1!$G$3</c:f>
              <c:strCache>
                <c:ptCount val="1"/>
                <c:pt idx="0">
                  <c:v>Infineon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Tabelle1!$F$4:$F$8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Tabelle1!$G$4:$G$8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2.7948300000000001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F-447A-A67C-CB33C1FA38FB}"/>
            </c:ext>
          </c:extLst>
        </c:ser>
        <c:ser>
          <c:idx val="1"/>
          <c:order val="1"/>
          <c:tx>
            <c:strRef>
              <c:f>Tabelle1!$H$3</c:f>
              <c:strCache>
                <c:ptCount val="1"/>
                <c:pt idx="0">
                  <c:v>Nexperia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Tabelle1!$F$4:$F$8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Tabelle1!$H$4:$H$8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2.8071600000000001</c:v>
                </c:pt>
                <c:pt idx="4">
                  <c:v>10.01174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7F-447A-A67C-CB33C1FA38FB}"/>
            </c:ext>
          </c:extLst>
        </c:ser>
        <c:ser>
          <c:idx val="2"/>
          <c:order val="2"/>
          <c:tx>
            <c:strRef>
              <c:f>Tabelle1!$I$3</c:f>
              <c:strCache>
                <c:ptCount val="1"/>
                <c:pt idx="0">
                  <c:v>Vishay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Tabelle1!$F$4:$F$8</c:f>
              <c:strCache>
                <c:ptCount val="5"/>
                <c:pt idx="0">
                  <c:v>5V, 20R, 1Hz</c:v>
                </c:pt>
                <c:pt idx="1">
                  <c:v>15V, 20R, 1Hz</c:v>
                </c:pt>
                <c:pt idx="2">
                  <c:v>25V, 20R, 1Hz</c:v>
                </c:pt>
                <c:pt idx="3">
                  <c:v>35V, 20R, 1Hz</c:v>
                </c:pt>
                <c:pt idx="4">
                  <c:v>40V, 20R, 1Hz</c:v>
                </c:pt>
              </c:strCache>
            </c:strRef>
          </c:cat>
          <c:val>
            <c:numRef>
              <c:f>Tabelle1!$I$4:$I$8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2.31819</c:v>
                </c:pt>
                <c:pt idx="4">
                  <c:v>8.86782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7F-447A-A67C-CB33C1FA3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7944687"/>
        <c:axId val="537945647"/>
      </c:barChart>
      <c:catAx>
        <c:axId val="537944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37945647"/>
        <c:crosses val="autoZero"/>
        <c:auto val="1"/>
        <c:lblAlgn val="ctr"/>
        <c:lblOffset val="100"/>
        <c:noMultiLvlLbl val="0"/>
      </c:catAx>
      <c:valAx>
        <c:axId val="537945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37944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77B2C-8E23-F341-4B31-2A1372458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C8806B-DF93-6880-DEAA-BE6E3CA14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A2E7AA-3516-7F61-BD6D-E1C9B019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0A1445-F11D-8692-DF0A-8B0EC6B0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3237C5-81C8-9994-51F9-DBC3E258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1752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E5C10F-A680-3D57-1E61-AC403DAA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52C7CC-623D-50D2-20CE-37395D5C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453CAA-7E4D-3F3E-8786-AB12DA52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554E86-5E98-DA93-FCFA-3EBA29CB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9FE218-CB07-F5DB-0C5B-07DAFEE6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91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A1ECE-D0E1-6F94-DE2F-28DD997AE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45224-5213-84A4-9276-52E50BE46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4CEE7F-9AA6-2AE3-7319-1216FE74E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34C6F7-0354-6608-90B6-05D973B4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B17E32-7A9C-CA85-373E-4454C6F7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986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CA356E-08BC-777E-F03E-C1EA6ED2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750539-0CE3-6D64-7B20-9845697BA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A1963E-A0FC-B8C5-1BEB-FDAB1464B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498D7C-DE71-9DD1-831C-D6C4BF04E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8786BE-138A-5E33-A759-42BFA6DA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6CAA3B-A9B6-63AC-B88D-C92D8045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350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FA7B2-4E5B-193A-C9B3-A3947ACD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FA26F-8C17-45A0-060A-9B128CC55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7B9852-AF9E-FDCB-E272-14948B250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415935-3BFC-D85D-2E20-EFE32E4C4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9B98EF-237C-B11A-8E68-38D8719C1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8165B1-63F1-E599-6E5A-2D94BDAB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C5329F1-E98C-27B8-57EB-916B06D5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703BE6-DD37-EBA1-4E1C-05235023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076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B2A6CA-5633-9A10-2DB7-F6A5169E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7CBE5F-6170-C25F-78C5-794C3CF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323064-2CBD-1A07-4F70-D45F9FBB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12275D-D3BE-B729-9389-05D9851D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899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7A8FA0-70DA-93C4-8EE9-DFD6EBC1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F1B49EF-7F00-75C7-3724-8F58A19E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435009-416F-B460-205F-D7D61594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6666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FD567-0C57-F9EC-A07B-5BC47037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D74245-EBDD-27CB-98DE-C8837F951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6B9354-72FD-2172-078E-87E230BDD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397E8E-E4D1-BB20-3C9F-2CDACB6D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41351C-1612-0856-3793-A5D4F8AD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D5F1EE-0A5E-551F-D737-C8261867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066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E84E36-4087-2511-2332-67EF65108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AA298F-9C7E-4999-1459-F816C709D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D1613F-3D6F-0A55-83F7-7E0F289BC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5F2FE3-9DF3-4B35-5E0C-91F24651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2097E5-B6A7-B93A-1966-FF79668B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EDDD51-66B5-CF2E-F468-6A9578DA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6320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B10AD-1EBB-28D4-A516-58A293AD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6B8565-F5E9-AE6D-C4D5-FA638B131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8FA735-19E6-C2BB-6B28-ACE8E0E6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C176EF-824E-1C9A-4233-38C46EED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BF5B78-6198-00CB-C351-1D403300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1083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C122362-7E7B-4876-8A60-0E86641FE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9A1758-504A-39BA-FA78-5466D2B20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C4484C-FD50-F921-2EBE-9E437803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213BA1-128D-AABB-012C-1C3C94AE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B482C4-F77C-7FDB-264D-5EEDC7D4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8462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C1CE94-382D-64A5-5C9E-5179B114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8D5779-66A5-96C8-F2E6-8D9714468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BCAD55-0EB8-3842-7A2E-4B7DD32B1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266DE-0BFC-4EA0-B33A-40CF1303C9AA}" type="datetimeFigureOut">
              <a:rPr lang="de-AT" smtClean="0"/>
              <a:t>11.06.2025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57B5F-5A48-478E-5371-7737E8351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6707F6-6E64-D288-188C-758F0A284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1D7CB-1CC0-4F87-8198-8C5C2E6094F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47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85060E2F-B2A2-E473-2F68-F8F192CCA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392802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144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EE506731-50E8-C9C4-28A9-9E8A65873D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901707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041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E901AE6-4EA7-36B8-5173-E85FFAE9F2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822242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1813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F420A373-7454-C796-2ED2-8A5743F3D0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85971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898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19A55-3559-96AB-27A5-34B364DC64BD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Verlustfaktoren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Vergleich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>
                <a:latin typeface="+mj-lt"/>
                <a:ea typeface="+mj-ea"/>
                <a:cs typeface="+mj-cs"/>
              </a:rPr>
              <a:t>Real </a:t>
            </a:r>
            <a:r>
              <a:rPr lang="en-US" sz="4800" dirty="0" err="1">
                <a:latin typeface="+mj-lt"/>
                <a:ea typeface="+mj-ea"/>
                <a:cs typeface="+mj-cs"/>
              </a:rPr>
              <a:t>zu</a:t>
            </a:r>
            <a:r>
              <a:rPr lang="en-US" sz="4800" dirty="0">
                <a:latin typeface="+mj-lt"/>
                <a:ea typeface="+mj-ea"/>
                <a:cs typeface="+mj-cs"/>
              </a:rPr>
              <a:t> Simulation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D3A8634-8024-F8D9-9109-6ADD46B7B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297719"/>
              </p:ext>
            </p:extLst>
          </p:nvPr>
        </p:nvGraphicFramePr>
        <p:xfrm>
          <a:off x="838200" y="2062128"/>
          <a:ext cx="10512548" cy="401690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628137">
                  <a:extLst>
                    <a:ext uri="{9D8B030D-6E8A-4147-A177-3AD203B41FA5}">
                      <a16:colId xmlns:a16="http://schemas.microsoft.com/office/drawing/2014/main" val="4035247679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1755846562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1543302122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1283869367"/>
                    </a:ext>
                  </a:extLst>
                </a:gridCol>
              </a:tblGrid>
              <a:tr h="1284253">
                <a:tc>
                  <a:txBody>
                    <a:bodyPr/>
                    <a:lstStyle/>
                    <a:p>
                      <a:pPr algn="ctr" fontAlgn="ctr"/>
                      <a:endParaRPr lang="de-AT" sz="3200" b="1" i="0" u="none" strike="noStrike" cap="none" spc="3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132" marT="1536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3200" b="1" u="none" strike="noStrike" cap="none" spc="30" dirty="0">
                          <a:solidFill>
                            <a:schemeClr val="tx1"/>
                          </a:solidFill>
                          <a:effectLst/>
                        </a:rPr>
                        <a:t>Infineon</a:t>
                      </a:r>
                      <a:endParaRPr lang="de-AT" sz="3200" b="1" i="0" u="none" strike="noStrike" cap="none" spc="3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132" marT="1536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3200" b="1" u="none" strike="noStrike" cap="none" spc="30" dirty="0" err="1">
                          <a:solidFill>
                            <a:schemeClr val="tx1"/>
                          </a:solidFill>
                          <a:effectLst/>
                        </a:rPr>
                        <a:t>Nexperia</a:t>
                      </a:r>
                      <a:endParaRPr lang="de-AT" sz="3200" b="1" i="0" u="none" strike="noStrike" cap="none" spc="3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132" marT="1536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3200" b="1" u="none" strike="noStrike" cap="none" spc="30" dirty="0" err="1">
                          <a:solidFill>
                            <a:schemeClr val="tx1"/>
                          </a:solidFill>
                          <a:effectLst/>
                        </a:rPr>
                        <a:t>Vishay</a:t>
                      </a:r>
                      <a:endParaRPr lang="de-AT" sz="3200" b="1" i="0" u="none" strike="noStrike" cap="none" spc="3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132" marT="1536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504170"/>
                  </a:ext>
                </a:extLst>
              </a:tr>
              <a:tr h="546530"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5V, 20R, 1Hz</a:t>
                      </a: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16,69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6,12</a:t>
                      </a:r>
                      <a:endParaRPr lang="de-AT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1,83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699020"/>
                  </a:ext>
                </a:extLst>
              </a:tr>
              <a:tr h="546530"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15V, 20R, 1Hz</a:t>
                      </a: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16,00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1,79</a:t>
                      </a:r>
                      <a:endParaRPr lang="de-AT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8,50</a:t>
                      </a:r>
                      <a:endParaRPr lang="de-AT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854504"/>
                  </a:ext>
                </a:extLst>
              </a:tr>
              <a:tr h="546530"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25V, 20R, 1Hz</a:t>
                      </a: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38,12</a:t>
                      </a:r>
                      <a:endParaRPr lang="de-AT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1,38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8,65</a:t>
                      </a:r>
                      <a:endParaRPr lang="de-AT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022644"/>
                  </a:ext>
                </a:extLst>
              </a:tr>
              <a:tr h="546530"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35V, 20R, 1Hz</a:t>
                      </a: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38,96</a:t>
                      </a:r>
                      <a:endParaRPr lang="de-AT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1,96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9,10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658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92023"/>
                  </a:ext>
                </a:extLst>
              </a:tr>
              <a:tr h="546530"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40V, 20R, 1Hz</a:t>
                      </a: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2,02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AT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10,70</a:t>
                      </a:r>
                      <a:endParaRPr lang="de-AT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369" marT="1536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49638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A33779A4-3D61-1426-51B8-EE125200ED77}"/>
              </a:ext>
            </a:extLst>
          </p:cNvPr>
          <p:cNvSpPr txBox="1"/>
          <p:nvPr/>
        </p:nvSpPr>
        <p:spPr>
          <a:xfrm>
            <a:off x="838200" y="6079031"/>
            <a:ext cx="10515600" cy="41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latin typeface="+mj-lt"/>
                <a:ea typeface="+mj-ea"/>
                <a:cs typeface="+mj-cs"/>
              </a:rPr>
              <a:t>Die </a:t>
            </a:r>
            <a:r>
              <a:rPr lang="en-US" dirty="0" err="1">
                <a:latin typeface="+mj-lt"/>
                <a:ea typeface="+mj-ea"/>
                <a:cs typeface="+mj-cs"/>
              </a:rPr>
              <a:t>realen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Messwerte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sind</a:t>
            </a:r>
            <a:r>
              <a:rPr lang="en-US" dirty="0">
                <a:latin typeface="+mj-lt"/>
                <a:ea typeface="+mj-ea"/>
                <a:cs typeface="+mj-cs"/>
              </a:rPr>
              <a:t> um </a:t>
            </a:r>
            <a:r>
              <a:rPr lang="en-US" dirty="0" err="1">
                <a:latin typeface="+mj-lt"/>
                <a:ea typeface="+mj-ea"/>
                <a:cs typeface="+mj-cs"/>
              </a:rPr>
              <a:t>diesen</a:t>
            </a:r>
            <a:r>
              <a:rPr lang="en-US" dirty="0">
                <a:latin typeface="+mj-lt"/>
                <a:ea typeface="+mj-ea"/>
                <a:cs typeface="+mj-cs"/>
              </a:rPr>
              <a:t> Faktor </a:t>
            </a:r>
            <a:r>
              <a:rPr lang="en-US" dirty="0" err="1">
                <a:latin typeface="+mj-lt"/>
                <a:ea typeface="+mj-ea"/>
                <a:cs typeface="+mj-cs"/>
              </a:rPr>
              <a:t>höher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als</a:t>
            </a:r>
            <a:r>
              <a:rPr lang="en-US" dirty="0">
                <a:latin typeface="+mj-lt"/>
                <a:ea typeface="+mj-ea"/>
                <a:cs typeface="+mj-cs"/>
              </a:rPr>
              <a:t> die Simulation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33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Breitbild</PresentationFormat>
  <Paragraphs>29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LAMPERT Mathias</dc:creator>
  <cp:lastModifiedBy>LAMPERT Mathias</cp:lastModifiedBy>
  <cp:revision>1</cp:revision>
  <dcterms:created xsi:type="dcterms:W3CDTF">2025-06-11T12:40:51Z</dcterms:created>
  <dcterms:modified xsi:type="dcterms:W3CDTF">2025-06-11T13:05:32Z</dcterms:modified>
</cp:coreProperties>
</file>
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78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197CE-2DAE-5BCF-50AA-5275DFA3D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3B9843-881C-E831-5F06-F9F5F8D7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4B9A47-060B-E6E4-B976-1968981F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ECA1C-68EE-A4F5-0672-DD22B38D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16E4CA-1B74-24B5-6AD2-C1D02E45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0426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B087C-C0C1-9858-C2FF-DE507772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645E98-4769-579E-825F-3A9A43153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12E9C8-C799-A236-D48F-8DDD0727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7C3871-8FC2-3012-E104-2DD36C4A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F46FA1-FDFE-FD47-7D1A-FC91204B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4094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05393-90F8-F7DC-E19A-73BC4567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EB36C0-66C9-36CC-86CE-D7B6B6131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F90F5B-13C7-7656-C1B1-8F37F84F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2CB2A7-9EA0-885E-F1FE-A1000AF9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56433E-D1B1-CEC3-93C1-77761797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984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126BA-284F-36C2-8031-5E325512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BBB3D9-CABA-87F9-410A-B7A5E3E13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B12540-2B29-825C-8CA5-2CF03CF37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2E54C2-73A9-1D4E-6B88-FD708DCD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23BC59-6597-DA05-8310-4227D8C6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54091F-C099-C392-FBFE-3F8D7E0C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5329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47931-5A67-FD4B-5DAA-7963DB37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311EC7-FD86-DD86-8AC6-F53E36B11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434CF2-3310-80A3-05A8-9F81C94FC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2C4B11-0F84-FC79-D119-A6D9F8F4E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52A8ED-C360-0CF7-BD0D-64C0A80DC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F8EB91-368A-83E9-D31B-19BA50A4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062733-EA80-316F-4089-DCBC5263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3A0E773-2C29-5879-8673-8B7283AE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2886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24A3B5-1982-59A7-23AE-64020DEF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122FD4-3D17-20F1-52B6-18D6132D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2FC819-22BE-ACAE-E1B9-D4F3900A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7F0EC9-58C9-0C8A-2129-6CB8732D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9087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DA918E8-3E0B-0E8D-7695-8CFBC5979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E19F8B-665E-6AD0-7E92-7D3B312A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3A6785-D360-7B79-7431-0A30379E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785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8EA50A-3B13-312E-AC6C-E705A27E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2054C8-6389-82B6-AB71-99EC541B1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CBAF87-2028-933C-BA21-08D77192B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E7CD3C-6FDA-FC49-C2CE-9C8634872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03134-716C-9331-3144-74F9E15B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6AACA9-8A83-AD58-CB8C-7F91300F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46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3BB9DD-90E7-329F-A6E6-52C260C2B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85FB0A3-5BB2-380F-2F92-7A798809B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9E21D4-852A-6FC7-B22E-4C4379377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6CDAE0-3870-4C8A-9FFC-52984A14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9AE5BE-4535-3E0C-FD45-13602A13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51BDC-6605-4729-E130-A2100697C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051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B037F-F127-2AD5-D6BF-0F3281A0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C753FE-C0E6-AA37-C6F1-D8CDA0515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F5457B-1059-8014-E432-AFA3AD75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10704C-1E58-DED7-C0F9-F8AD3769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3BD4-4716-FF87-6FD8-34310F70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343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2CA1C5-46BA-8C16-9738-A113791F0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FE6629-C916-0838-7601-71C5F33F2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6E3680-9811-6B6B-A8B6-8050B57C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E926FA-9F9E-C6F3-AB26-322134CEE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31CA63-7E23-8ACA-221C-AA2B2851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324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7AADFE2-6689-7784-5940-2F61644B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B4DA47-66BE-3ECB-0620-C9BD440E1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D85C88-23AA-D0CC-3F15-88728A6ED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8AFC1-0FAF-41B4-9BCA-CAD95B519002}" type="datetimeFigureOut">
              <a:rPr lang="de-AT" smtClean="0"/>
              <a:t>04.12.2025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836477-8278-D48F-C2AA-83B86EEC4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2B3988-6383-7CF0-9E59-6A5D4BB8F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92A8F-104C-421A-8AD7-9CF6466325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3831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09AEE-FA00-237D-8170-E1E80988B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Tetris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480F3C-D51D-7026-DCDE-B09165924C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Rupp Arian, Lampert Mathias</a:t>
            </a:r>
          </a:p>
        </p:txBody>
      </p:sp>
    </p:spTree>
    <p:extLst>
      <p:ext uri="{BB962C8B-B14F-4D97-AF65-F5344CB8AC3E}">
        <p14:creationId xmlns:p14="http://schemas.microsoft.com/office/powerpoint/2010/main" val="2472796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4EC2B-7D14-4859-95FC-4B9D69AA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1. Projekt-Übersicht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1D49EB-DBB5-7ED0-8743-E9913E487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de-AT" dirty="0"/>
            </a:br>
            <a:endParaRPr lang="de-AT" dirty="0"/>
          </a:p>
          <a:p>
            <a:pPr marL="0" indent="0">
              <a:buNone/>
            </a:pPr>
            <a:r>
              <a:rPr lang="de-AT" b="1" dirty="0"/>
              <a:t>**Ziel:**</a:t>
            </a:r>
            <a:r>
              <a:rPr lang="de-AT" dirty="0"/>
              <a:t> Vollständiges Tetris-Spiel auf ESP32-S3 mit LED-Matrix</a:t>
            </a:r>
          </a:p>
          <a:p>
            <a:pPr marL="0" indent="0">
              <a:buNone/>
            </a:pPr>
            <a:br>
              <a:rPr lang="de-AT" dirty="0"/>
            </a:br>
            <a:endParaRPr lang="de-AT" dirty="0"/>
          </a:p>
          <a:p>
            <a:pPr marL="0" indent="0">
              <a:buNone/>
            </a:pPr>
            <a:r>
              <a:rPr lang="de-AT" b="1" dirty="0"/>
              <a:t>**Hardware:**</a:t>
            </a:r>
            <a:endParaRPr lang="de-AT" dirty="0"/>
          </a:p>
          <a:p>
            <a:pPr marL="0" indent="0">
              <a:buNone/>
            </a:pPr>
            <a:r>
              <a:rPr lang="de-AT" dirty="0"/>
              <a:t>- ESP32-S3 (Dual-Core @ 240 MHz)</a:t>
            </a:r>
          </a:p>
          <a:p>
            <a:pPr marL="0" indent="0">
              <a:buNone/>
            </a:pPr>
            <a:r>
              <a:rPr lang="de-AT" dirty="0"/>
              <a:t>- WS2812B LED-Matrix: 16×24 (384 LEDs)</a:t>
            </a:r>
          </a:p>
          <a:p>
            <a:pPr marL="0" indent="0">
              <a:buNone/>
            </a:pPr>
            <a:r>
              <a:rPr lang="de-AT" dirty="0"/>
              <a:t>- SSD1306 OLED Display (Score/Highscore)</a:t>
            </a:r>
          </a:p>
          <a:p>
            <a:pPr marL="0" indent="0">
              <a:buNone/>
            </a:pPr>
            <a:r>
              <a:rPr lang="de-AT" dirty="0"/>
              <a:t>- 4 Buttons für Steuerung</a:t>
            </a:r>
          </a:p>
          <a:p>
            <a:pPr marL="0" indent="0">
              <a:buNone/>
            </a:pPr>
            <a:br>
              <a:rPr lang="de-AT" dirty="0"/>
            </a:br>
            <a:endParaRPr lang="de-AT" dirty="0"/>
          </a:p>
          <a:p>
            <a:pPr marL="0" indent="0">
              <a:buNone/>
            </a:pPr>
            <a:r>
              <a:rPr lang="de-AT" b="1" dirty="0"/>
              <a:t>**Software:**</a:t>
            </a:r>
            <a:endParaRPr lang="de-AT" dirty="0"/>
          </a:p>
          <a:p>
            <a:pPr marL="0" indent="0">
              <a:buNone/>
            </a:pPr>
            <a:r>
              <a:rPr lang="de-AT" dirty="0"/>
              <a:t>- ESP-IDF v5.5.1 (</a:t>
            </a:r>
            <a:r>
              <a:rPr lang="de-AT" dirty="0" err="1"/>
              <a:t>FreeRTOS</a:t>
            </a:r>
            <a:r>
              <a:rPr lang="de-AT" dirty="0"/>
              <a:t>)</a:t>
            </a:r>
          </a:p>
          <a:p>
            <a:pPr marL="0" indent="0">
              <a:buNone/>
            </a:pPr>
            <a:r>
              <a:rPr lang="de-AT" dirty="0"/>
              <a:t>- C </a:t>
            </a:r>
            <a:r>
              <a:rPr lang="de-AT" dirty="0" err="1"/>
              <a:t>Programming</a:t>
            </a:r>
            <a:endParaRPr lang="de-AT" dirty="0"/>
          </a:p>
          <a:p>
            <a:pPr marL="0" indent="0">
              <a:buNone/>
            </a:pPr>
            <a:r>
              <a:rPr lang="de-AT" dirty="0"/>
              <a:t>- ~2000 Zeilen Code</a:t>
            </a:r>
          </a:p>
          <a:p>
            <a:pPr marL="0" indent="0">
              <a:buNone/>
            </a:pPr>
            <a:br>
              <a:rPr lang="de-AT" dirty="0"/>
            </a:br>
            <a:endParaRPr lang="de-AT" dirty="0"/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9523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EA653-A3DD-0778-39CE-8F81821D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2. Ursprüngliche Planung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95140-9811-59B6-9C8B-4E30BB57D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Was war geplant?</a:t>
            </a:r>
            <a:endParaRPr lang="de-AT" dirty="0"/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✅ </a:t>
            </a:r>
            <a:r>
              <a:rPr lang="de-AT" b="1" dirty="0"/>
              <a:t>**Core Features (umgesetzt):**</a:t>
            </a:r>
            <a:endParaRPr lang="de-AT" dirty="0"/>
          </a:p>
          <a:p>
            <a:r>
              <a:rPr lang="de-AT" dirty="0"/>
              <a:t>- 7 </a:t>
            </a:r>
            <a:r>
              <a:rPr lang="de-AT" dirty="0" err="1"/>
              <a:t>Tetromino</a:t>
            </a:r>
            <a:r>
              <a:rPr lang="de-AT" dirty="0"/>
              <a:t>-Typen mit Rotation</a:t>
            </a:r>
          </a:p>
          <a:p>
            <a:r>
              <a:rPr lang="de-AT" dirty="0"/>
              <a:t>- Kollisionserkennung</a:t>
            </a:r>
          </a:p>
          <a:p>
            <a:r>
              <a:rPr lang="de-AT" dirty="0"/>
              <a:t>- Zeilen-Clear mit Score-System</a:t>
            </a:r>
          </a:p>
          <a:p>
            <a:r>
              <a:rPr lang="de-AT" dirty="0"/>
              <a:t>- LED-Matrix Rendering</a:t>
            </a:r>
          </a:p>
          <a:p>
            <a:r>
              <a:rPr lang="de-AT" dirty="0"/>
              <a:t>- Button-Steuerung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❌ </a:t>
            </a:r>
            <a:r>
              <a:rPr lang="de-AT" b="1" dirty="0"/>
              <a:t>**Nice-</a:t>
            </a:r>
            <a:r>
              <a:rPr lang="de-AT" b="1" dirty="0" err="1"/>
              <a:t>to</a:t>
            </a:r>
            <a:r>
              <a:rPr lang="de-AT" b="1" dirty="0"/>
              <a:t>-</a:t>
            </a:r>
            <a:r>
              <a:rPr lang="de-AT" b="1" dirty="0" err="1"/>
              <a:t>Have</a:t>
            </a:r>
            <a:r>
              <a:rPr lang="de-AT" b="1" dirty="0"/>
              <a:t> (nicht umgesetzt):**</a:t>
            </a:r>
            <a:endParaRPr lang="de-AT" dirty="0"/>
          </a:p>
          <a:p>
            <a:r>
              <a:rPr lang="de-AT" dirty="0"/>
              <a:t>- WiFi-Connectivity</a:t>
            </a:r>
          </a:p>
          <a:p>
            <a:r>
              <a:rPr lang="de-AT" dirty="0"/>
              <a:t>- Webserver für Remote-Play</a:t>
            </a:r>
          </a:p>
          <a:p>
            <a:r>
              <a:rPr lang="de-AT" dirty="0"/>
              <a:t>- Next-Block Preview</a:t>
            </a:r>
          </a:p>
          <a:p>
            <a:r>
              <a:rPr lang="de-AT" dirty="0"/>
              <a:t>- Pause-Funktion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Zeitplan:</a:t>
            </a:r>
            <a:endParaRPr lang="de-AT" dirty="0"/>
          </a:p>
          <a:p>
            <a:r>
              <a:rPr lang="de-AT" dirty="0"/>
              <a:t>- </a:t>
            </a:r>
            <a:r>
              <a:rPr lang="de-AT" b="1" dirty="0"/>
              <a:t>**Geplant:**</a:t>
            </a:r>
            <a:r>
              <a:rPr lang="de-AT" dirty="0"/>
              <a:t> 3 Wochen</a:t>
            </a:r>
          </a:p>
          <a:p>
            <a:r>
              <a:rPr lang="de-AT" dirty="0"/>
              <a:t>- </a:t>
            </a:r>
            <a:r>
              <a:rPr lang="de-AT" b="1" dirty="0"/>
              <a:t>**Tatsächlich:**</a:t>
            </a:r>
            <a:r>
              <a:rPr lang="de-AT" dirty="0"/>
              <a:t> 4 Wochen (Debugging + Optimierung)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2935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62B9F-B2B1-3C3B-D805-5F94612C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 3. Architektur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01C27-4BFF-8200-CBD6-BCD5AB373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System-Design</a:t>
            </a:r>
            <a:endParaRPr lang="de-AT" dirty="0"/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```</a:t>
            </a:r>
          </a:p>
          <a:p>
            <a:r>
              <a:rPr lang="de-AT" dirty="0"/>
              <a:t>┌─────────────────────────────────────────┐</a:t>
            </a:r>
          </a:p>
          <a:p>
            <a:r>
              <a:rPr lang="de-AT" dirty="0"/>
              <a:t>│         ESP32-S3 (</a:t>
            </a:r>
            <a:r>
              <a:rPr lang="de-AT" dirty="0" err="1"/>
              <a:t>FreeRTOS</a:t>
            </a:r>
            <a:r>
              <a:rPr lang="de-AT" dirty="0"/>
              <a:t>)             │</a:t>
            </a:r>
          </a:p>
          <a:p>
            <a:r>
              <a:rPr lang="de-AT" dirty="0"/>
              <a:t>│                                         │</a:t>
            </a:r>
          </a:p>
          <a:p>
            <a:r>
              <a:rPr lang="de-AT" dirty="0"/>
              <a:t>│  ┌─────────────┐    ┌─────────────┐    │</a:t>
            </a:r>
          </a:p>
          <a:p>
            <a:r>
              <a:rPr lang="de-AT" dirty="0"/>
              <a:t>│  │ </a:t>
            </a:r>
            <a:r>
              <a:rPr lang="de-AT" dirty="0" err="1"/>
              <a:t>GameLoop</a:t>
            </a:r>
            <a:r>
              <a:rPr lang="de-AT" dirty="0"/>
              <a:t>    │    │ Controls    │    │</a:t>
            </a:r>
          </a:p>
          <a:p>
            <a:r>
              <a:rPr lang="de-AT" dirty="0"/>
              <a:t>│  │ Task (5ms)  │◄───┤ (</a:t>
            </a:r>
            <a:r>
              <a:rPr lang="de-AT" dirty="0" err="1"/>
              <a:t>ISR+Queue</a:t>
            </a:r>
            <a:r>
              <a:rPr lang="de-AT" dirty="0"/>
              <a:t>) │    │</a:t>
            </a:r>
          </a:p>
          <a:p>
            <a:r>
              <a:rPr lang="de-AT" dirty="0"/>
              <a:t>│  └──────┬──────┘    └─────────────┘    │</a:t>
            </a:r>
          </a:p>
          <a:p>
            <a:r>
              <a:rPr lang="de-AT" dirty="0"/>
              <a:t>│         │                               │</a:t>
            </a:r>
          </a:p>
          <a:p>
            <a:r>
              <a:rPr lang="de-AT" dirty="0"/>
              <a:t>│         ├──► RMT ──► LED Matrix         │</a:t>
            </a:r>
          </a:p>
          <a:p>
            <a:r>
              <a:rPr lang="de-AT" dirty="0"/>
              <a:t>│         ├──► I2C ──► OLED Display       │</a:t>
            </a:r>
          </a:p>
          <a:p>
            <a:r>
              <a:rPr lang="de-AT" dirty="0"/>
              <a:t>│         └──► NVS ──► Highscore          │</a:t>
            </a:r>
          </a:p>
          <a:p>
            <a:r>
              <a:rPr lang="de-AT" dirty="0"/>
              <a:t>└─────────────────────────────────────────┘</a:t>
            </a:r>
          </a:p>
          <a:p>
            <a:r>
              <a:rPr lang="de-AT" dirty="0"/>
              <a:t>```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Modul-Struktur:</a:t>
            </a:r>
            <a:endParaRPr lang="de-AT" dirty="0"/>
          </a:p>
          <a:p>
            <a:r>
              <a:rPr lang="de-AT" dirty="0"/>
              <a:t>- </a:t>
            </a:r>
            <a:r>
              <a:rPr lang="de-AT" b="1" dirty="0"/>
              <a:t>**</a:t>
            </a:r>
            <a:r>
              <a:rPr lang="de-AT" b="1" dirty="0" err="1"/>
              <a:t>GameLoop</a:t>
            </a:r>
            <a:r>
              <a:rPr lang="de-AT" b="1" dirty="0"/>
              <a:t>:**</a:t>
            </a:r>
            <a:r>
              <a:rPr lang="de-AT" dirty="0"/>
              <a:t> State </a:t>
            </a:r>
            <a:r>
              <a:rPr lang="de-AT" dirty="0" err="1"/>
              <a:t>Machine</a:t>
            </a:r>
            <a:r>
              <a:rPr lang="de-AT" dirty="0"/>
              <a:t>, Rendering (60 FPS)</a:t>
            </a:r>
          </a:p>
          <a:p>
            <a:r>
              <a:rPr lang="de-AT" dirty="0"/>
              <a:t>- </a:t>
            </a:r>
            <a:r>
              <a:rPr lang="de-AT" b="1" dirty="0"/>
              <a:t>**Controls:**</a:t>
            </a:r>
            <a:r>
              <a:rPr lang="de-AT" dirty="0"/>
              <a:t> Button-ISR, </a:t>
            </a:r>
            <a:r>
              <a:rPr lang="de-AT" dirty="0" err="1"/>
              <a:t>Debouncing</a:t>
            </a:r>
            <a:endParaRPr lang="de-AT" dirty="0"/>
          </a:p>
          <a:p>
            <a:r>
              <a:rPr lang="de-AT" dirty="0"/>
              <a:t>- </a:t>
            </a:r>
            <a:r>
              <a:rPr lang="de-AT" b="1" dirty="0"/>
              <a:t>**</a:t>
            </a:r>
            <a:r>
              <a:rPr lang="de-AT" b="1" dirty="0" err="1"/>
              <a:t>Grid</a:t>
            </a:r>
            <a:r>
              <a:rPr lang="de-AT" b="1" dirty="0"/>
              <a:t>:**</a:t>
            </a:r>
            <a:r>
              <a:rPr lang="de-AT" dirty="0"/>
              <a:t> Kollision, Zeilen-Clear, Gravity</a:t>
            </a:r>
          </a:p>
          <a:p>
            <a:r>
              <a:rPr lang="de-AT" dirty="0"/>
              <a:t>- </a:t>
            </a:r>
            <a:r>
              <a:rPr lang="de-AT" b="1" dirty="0"/>
              <a:t>**Blocks:**</a:t>
            </a:r>
            <a:r>
              <a:rPr lang="de-AT" dirty="0"/>
              <a:t> </a:t>
            </a:r>
            <a:r>
              <a:rPr lang="de-AT" dirty="0" err="1"/>
              <a:t>Tetromino</a:t>
            </a:r>
            <a:r>
              <a:rPr lang="de-AT" dirty="0"/>
              <a:t>-Definitionen, Rotation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br>
              <a:rPr lang="de-AT" dirty="0"/>
            </a:br>
            <a:endParaRPr lang="de-AT" dirty="0"/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5697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4EAD2-9CB2-D337-9983-73AC26BA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4. Wichtigste Code-</a:t>
            </a:r>
            <a:r>
              <a:rPr lang="de-AT" b="1" dirty="0" err="1"/>
              <a:t>Snippets</a:t>
            </a: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886C263-EE76-532D-9E0A-3FA5FA1B0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5110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391B9-D6BF-56B0-F003-FCD483C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4.1 ISR + Queue für Buttons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C4A5A0-2565-9645-D25F-50F7223A1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dirty="0"/>
              <a:t>```c</a:t>
            </a:r>
          </a:p>
          <a:p>
            <a:r>
              <a:rPr lang="de-AT" dirty="0"/>
              <a:t>// ISR: Minimale Verarbeitung, nur Queue Push</a:t>
            </a:r>
          </a:p>
          <a:p>
            <a:r>
              <a:rPr lang="de-AT" dirty="0" err="1"/>
              <a:t>static</a:t>
            </a:r>
            <a:r>
              <a:rPr lang="de-AT" dirty="0"/>
              <a:t> </a:t>
            </a:r>
            <a:r>
              <a:rPr lang="de-AT" dirty="0" err="1"/>
              <a:t>void</a:t>
            </a:r>
            <a:r>
              <a:rPr lang="de-AT" dirty="0"/>
              <a:t> IRAM_ATTR </a:t>
            </a:r>
            <a:r>
              <a:rPr lang="de-AT" dirty="0" err="1"/>
              <a:t>gpio_isr_handler</a:t>
            </a:r>
            <a:r>
              <a:rPr lang="de-AT" dirty="0"/>
              <a:t>(</a:t>
            </a:r>
            <a:r>
              <a:rPr lang="de-AT" dirty="0" err="1"/>
              <a:t>void</a:t>
            </a:r>
            <a:r>
              <a:rPr lang="de-AT" dirty="0"/>
              <a:t>* arg) {</a:t>
            </a:r>
          </a:p>
          <a:p>
            <a:r>
              <a:rPr lang="de-AT" dirty="0"/>
              <a:t>    </a:t>
            </a:r>
            <a:r>
              <a:rPr lang="de-AT" dirty="0" err="1"/>
              <a:t>gpio_num_t</a:t>
            </a:r>
            <a:r>
              <a:rPr lang="de-AT" dirty="0"/>
              <a:t> </a:t>
            </a:r>
            <a:r>
              <a:rPr lang="de-AT" dirty="0" err="1"/>
              <a:t>gpio</a:t>
            </a:r>
            <a:r>
              <a:rPr lang="de-AT" dirty="0"/>
              <a:t> = (</a:t>
            </a:r>
            <a:r>
              <a:rPr lang="de-AT" dirty="0" err="1"/>
              <a:t>gpio_num_t</a:t>
            </a:r>
            <a:r>
              <a:rPr lang="de-AT" dirty="0"/>
              <a:t>)(</a:t>
            </a:r>
            <a:r>
              <a:rPr lang="de-AT" dirty="0" err="1"/>
              <a:t>intptr_t</a:t>
            </a:r>
            <a:r>
              <a:rPr lang="de-AT" dirty="0"/>
              <a:t>)arg;</a:t>
            </a:r>
          </a:p>
          <a:p>
            <a:r>
              <a:rPr lang="de-AT" dirty="0"/>
              <a:t>    </a:t>
            </a:r>
            <a:r>
              <a:rPr lang="de-AT" dirty="0" err="1"/>
              <a:t>BaseType_t</a:t>
            </a:r>
            <a:r>
              <a:rPr lang="de-AT" dirty="0"/>
              <a:t> </a:t>
            </a:r>
            <a:r>
              <a:rPr lang="de-AT" dirty="0" err="1"/>
              <a:t>xHigherPriorityTaskWoken</a:t>
            </a:r>
            <a:r>
              <a:rPr lang="de-AT" dirty="0"/>
              <a:t> = </a:t>
            </a:r>
            <a:r>
              <a:rPr lang="de-AT" dirty="0" err="1"/>
              <a:t>pdFALSE</a:t>
            </a:r>
            <a:r>
              <a:rPr lang="de-AT" dirty="0"/>
              <a:t>;</a:t>
            </a:r>
          </a:p>
          <a:p>
            <a:r>
              <a:rPr lang="de-AT" dirty="0"/>
              <a:t>    </a:t>
            </a:r>
          </a:p>
          <a:p>
            <a:r>
              <a:rPr lang="de-AT" dirty="0"/>
              <a:t>    // Event in Queue schieben</a:t>
            </a:r>
          </a:p>
          <a:p>
            <a:r>
              <a:rPr lang="de-AT" dirty="0"/>
              <a:t>    </a:t>
            </a:r>
            <a:r>
              <a:rPr lang="de-AT" dirty="0" err="1"/>
              <a:t>xQueueSendFromISR</a:t>
            </a:r>
            <a:r>
              <a:rPr lang="de-AT" dirty="0"/>
              <a:t>(</a:t>
            </a:r>
            <a:r>
              <a:rPr lang="de-AT" dirty="0" err="1"/>
              <a:t>s_button_queue</a:t>
            </a:r>
            <a:r>
              <a:rPr lang="de-AT" dirty="0"/>
              <a:t>, &amp;</a:t>
            </a:r>
            <a:r>
              <a:rPr lang="de-AT" dirty="0" err="1"/>
              <a:t>gpio</a:t>
            </a:r>
            <a:r>
              <a:rPr lang="de-AT" dirty="0"/>
              <a:t>, </a:t>
            </a:r>
          </a:p>
          <a:p>
            <a:r>
              <a:rPr lang="de-AT" dirty="0"/>
              <a:t>                      &amp;</a:t>
            </a:r>
            <a:r>
              <a:rPr lang="de-AT" dirty="0" err="1"/>
              <a:t>xHigherPriorityTaskWoken</a:t>
            </a:r>
            <a:r>
              <a:rPr lang="de-AT" dirty="0"/>
              <a:t>);</a:t>
            </a:r>
          </a:p>
          <a:p>
            <a:r>
              <a:rPr lang="de-AT" dirty="0"/>
              <a:t>    </a:t>
            </a:r>
          </a:p>
          <a:p>
            <a:r>
              <a:rPr lang="de-AT" dirty="0"/>
              <a:t>    // </a:t>
            </a:r>
            <a:r>
              <a:rPr lang="de-AT" dirty="0" err="1"/>
              <a:t>Context</a:t>
            </a:r>
            <a:r>
              <a:rPr lang="de-AT" dirty="0"/>
              <a:t> Switch wenn höhere Priorität</a:t>
            </a:r>
          </a:p>
          <a:p>
            <a:r>
              <a:rPr lang="de-AT" dirty="0"/>
              <a:t>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xHigherPriorityTaskWoken</a:t>
            </a:r>
            <a:r>
              <a:rPr lang="de-AT" dirty="0"/>
              <a:t>) {</a:t>
            </a:r>
          </a:p>
          <a:p>
            <a:r>
              <a:rPr lang="de-AT" dirty="0"/>
              <a:t>        </a:t>
            </a:r>
            <a:r>
              <a:rPr lang="de-AT" dirty="0" err="1"/>
              <a:t>portYIELD_FROM_ISR</a:t>
            </a:r>
            <a:r>
              <a:rPr lang="de-AT" dirty="0"/>
              <a:t>();</a:t>
            </a:r>
          </a:p>
          <a:p>
            <a:r>
              <a:rPr lang="de-AT" dirty="0"/>
              <a:t>    }</a:t>
            </a:r>
          </a:p>
          <a:p>
            <a:r>
              <a:rPr lang="de-AT" dirty="0"/>
              <a:t>}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// </a:t>
            </a:r>
            <a:r>
              <a:rPr lang="de-AT" dirty="0" err="1"/>
              <a:t>GameLoop</a:t>
            </a:r>
            <a:r>
              <a:rPr lang="de-AT" dirty="0"/>
              <a:t> liest Queue mit </a:t>
            </a:r>
            <a:r>
              <a:rPr lang="de-AT" dirty="0" err="1"/>
              <a:t>Debouncing</a:t>
            </a:r>
            <a:endParaRPr lang="de-AT" dirty="0"/>
          </a:p>
          <a:p>
            <a:r>
              <a:rPr lang="de-AT" dirty="0" err="1"/>
              <a:t>bool</a:t>
            </a:r>
            <a:r>
              <a:rPr lang="de-AT" dirty="0"/>
              <a:t> </a:t>
            </a:r>
            <a:r>
              <a:rPr lang="de-AT" dirty="0" err="1"/>
              <a:t>controls_get_event</a:t>
            </a:r>
            <a:r>
              <a:rPr lang="de-AT" dirty="0"/>
              <a:t>(</a:t>
            </a:r>
            <a:r>
              <a:rPr lang="de-AT" dirty="0" err="1"/>
              <a:t>gpio_num_t</a:t>
            </a:r>
            <a:r>
              <a:rPr lang="de-AT" dirty="0"/>
              <a:t> *</a:t>
            </a:r>
            <a:r>
              <a:rPr lang="de-AT" dirty="0" err="1"/>
              <a:t>out_gpio</a:t>
            </a:r>
            <a:r>
              <a:rPr lang="de-AT" dirty="0"/>
              <a:t>) {</a:t>
            </a:r>
          </a:p>
          <a:p>
            <a:r>
              <a:rPr lang="de-AT" dirty="0"/>
              <a:t>    </a:t>
            </a:r>
            <a:r>
              <a:rPr lang="de-AT" dirty="0" err="1"/>
              <a:t>gpio_num_t</a:t>
            </a:r>
            <a:r>
              <a:rPr lang="de-AT" dirty="0"/>
              <a:t> g;</a:t>
            </a:r>
          </a:p>
          <a:p>
            <a:r>
              <a:rPr lang="de-AT" dirty="0"/>
              <a:t>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xQueueReceive</a:t>
            </a:r>
            <a:r>
              <a:rPr lang="de-AT" dirty="0"/>
              <a:t>(</a:t>
            </a:r>
            <a:r>
              <a:rPr lang="de-AT" dirty="0" err="1"/>
              <a:t>s_button_queue</a:t>
            </a:r>
            <a:r>
              <a:rPr lang="de-AT" dirty="0"/>
              <a:t>, &amp;g, 0) == </a:t>
            </a:r>
            <a:r>
              <a:rPr lang="de-AT" dirty="0" err="1"/>
              <a:t>pdTRUE</a:t>
            </a:r>
            <a:r>
              <a:rPr lang="de-AT" dirty="0"/>
              <a:t>) {</a:t>
            </a:r>
          </a:p>
          <a:p>
            <a:r>
              <a:rPr lang="de-AT" dirty="0"/>
              <a:t>        // Software-</a:t>
            </a:r>
            <a:r>
              <a:rPr lang="de-AT" dirty="0" err="1"/>
              <a:t>Debounce</a:t>
            </a:r>
            <a:r>
              <a:rPr lang="de-AT" dirty="0"/>
              <a:t>: 150ms seit letztem Event?</a:t>
            </a:r>
          </a:p>
          <a:p>
            <a:r>
              <a:rPr lang="de-AT" dirty="0"/>
              <a:t>        uint32_t </a:t>
            </a:r>
            <a:r>
              <a:rPr lang="de-AT" dirty="0" err="1"/>
              <a:t>now</a:t>
            </a:r>
            <a:r>
              <a:rPr lang="de-AT" dirty="0"/>
              <a:t> = </a:t>
            </a:r>
            <a:r>
              <a:rPr lang="de-AT" dirty="0" err="1"/>
              <a:t>xTaskGetTickCount</a:t>
            </a:r>
            <a:r>
              <a:rPr lang="de-AT" dirty="0"/>
              <a:t>() * </a:t>
            </a:r>
            <a:r>
              <a:rPr lang="de-AT" dirty="0" err="1"/>
              <a:t>portTICK_PERIOD_MS</a:t>
            </a:r>
            <a:r>
              <a:rPr lang="de-AT" dirty="0"/>
              <a:t>;</a:t>
            </a:r>
          </a:p>
          <a:p>
            <a:r>
              <a:rPr lang="de-AT" dirty="0"/>
              <a:t>    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now</a:t>
            </a:r>
            <a:r>
              <a:rPr lang="de-AT" dirty="0"/>
              <a:t> - </a:t>
            </a:r>
            <a:r>
              <a:rPr lang="de-AT" dirty="0" err="1"/>
              <a:t>last_pressed</a:t>
            </a:r>
            <a:r>
              <a:rPr lang="de-AT" dirty="0"/>
              <a:t>[g] &gt; BUTTON_DEBOUNCE_MS) {</a:t>
            </a:r>
          </a:p>
          <a:p>
            <a:r>
              <a:rPr lang="de-AT" dirty="0"/>
              <a:t>            </a:t>
            </a:r>
            <a:r>
              <a:rPr lang="de-AT" dirty="0" err="1"/>
              <a:t>last_pressed</a:t>
            </a:r>
            <a:r>
              <a:rPr lang="de-AT" dirty="0"/>
              <a:t>[g] = </a:t>
            </a:r>
            <a:r>
              <a:rPr lang="de-AT" dirty="0" err="1"/>
              <a:t>now</a:t>
            </a:r>
            <a:r>
              <a:rPr lang="de-AT" dirty="0"/>
              <a:t>;</a:t>
            </a:r>
          </a:p>
          <a:p>
            <a:r>
              <a:rPr lang="de-AT" dirty="0"/>
              <a:t>            *</a:t>
            </a:r>
            <a:r>
              <a:rPr lang="de-AT" dirty="0" err="1"/>
              <a:t>out_gpio</a:t>
            </a:r>
            <a:r>
              <a:rPr lang="de-AT" dirty="0"/>
              <a:t> = g;</a:t>
            </a:r>
          </a:p>
          <a:p>
            <a:r>
              <a:rPr lang="de-AT" dirty="0"/>
              <a:t>            </a:t>
            </a:r>
            <a:r>
              <a:rPr lang="de-AT" dirty="0" err="1"/>
              <a:t>return</a:t>
            </a:r>
            <a:r>
              <a:rPr lang="de-AT" dirty="0"/>
              <a:t> </a:t>
            </a:r>
            <a:r>
              <a:rPr lang="de-AT" dirty="0" err="1"/>
              <a:t>true</a:t>
            </a:r>
            <a:r>
              <a:rPr lang="de-AT" dirty="0"/>
              <a:t>;</a:t>
            </a:r>
          </a:p>
          <a:p>
            <a:r>
              <a:rPr lang="de-AT" dirty="0"/>
              <a:t>        }</a:t>
            </a:r>
          </a:p>
          <a:p>
            <a:r>
              <a:rPr lang="de-AT" dirty="0"/>
              <a:t>    }</a:t>
            </a:r>
          </a:p>
          <a:p>
            <a:r>
              <a:rPr lang="de-AT" dirty="0"/>
              <a:t>    </a:t>
            </a:r>
            <a:r>
              <a:rPr lang="de-AT" dirty="0" err="1"/>
              <a:t>return</a:t>
            </a:r>
            <a:r>
              <a:rPr lang="de-AT" dirty="0"/>
              <a:t> </a:t>
            </a:r>
            <a:r>
              <a:rPr lang="de-AT" dirty="0" err="1"/>
              <a:t>false</a:t>
            </a:r>
            <a:r>
              <a:rPr lang="de-AT" dirty="0"/>
              <a:t>;</a:t>
            </a:r>
          </a:p>
          <a:p>
            <a:r>
              <a:rPr lang="de-AT" dirty="0"/>
              <a:t>}</a:t>
            </a:r>
          </a:p>
          <a:p>
            <a:r>
              <a:rPr lang="de-AT" dirty="0"/>
              <a:t>```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**Warum ISR + Queue?**</a:t>
            </a:r>
            <a:endParaRPr lang="de-AT" dirty="0"/>
          </a:p>
          <a:p>
            <a:r>
              <a:rPr lang="de-AT" dirty="0"/>
              <a:t>- ISR ultra-schnell (300-500ns)</a:t>
            </a:r>
          </a:p>
          <a:p>
            <a:r>
              <a:rPr lang="de-AT" dirty="0"/>
              <a:t>- </a:t>
            </a:r>
            <a:r>
              <a:rPr lang="de-AT" dirty="0" err="1"/>
              <a:t>Debouncing</a:t>
            </a:r>
            <a:r>
              <a:rPr lang="de-AT" dirty="0"/>
              <a:t> im Task-Kontext (nicht im Interrupt)</a:t>
            </a:r>
          </a:p>
          <a:p>
            <a:r>
              <a:rPr lang="de-AT" dirty="0"/>
              <a:t>- Keine verlorenen Events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1300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CCCA6-50D2-DD5A-7D0A-9F74953D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4.2 Kollisionserkennung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0CDC22-9CAC-4C60-6D19-28C2942CA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dirty="0"/>
              <a:t>```c</a:t>
            </a:r>
          </a:p>
          <a:p>
            <a:r>
              <a:rPr lang="de-AT" dirty="0" err="1"/>
              <a:t>bool</a:t>
            </a:r>
            <a:r>
              <a:rPr lang="de-AT" dirty="0"/>
              <a:t> </a:t>
            </a:r>
            <a:r>
              <a:rPr lang="de-AT" dirty="0" err="1"/>
              <a:t>grid_check_collision</a:t>
            </a:r>
            <a:r>
              <a:rPr lang="de-AT" dirty="0"/>
              <a:t>(</a:t>
            </a:r>
            <a:r>
              <a:rPr lang="de-AT" dirty="0" err="1"/>
              <a:t>const</a:t>
            </a:r>
            <a:r>
              <a:rPr lang="de-AT" dirty="0"/>
              <a:t> </a:t>
            </a:r>
            <a:r>
              <a:rPr lang="de-AT" dirty="0" err="1"/>
              <a:t>TetrisBlock</a:t>
            </a:r>
            <a:r>
              <a:rPr lang="de-AT" dirty="0"/>
              <a:t> *block) {</a:t>
            </a:r>
          </a:p>
          <a:p>
            <a:r>
              <a:rPr lang="de-AT" dirty="0"/>
              <a:t>    </a:t>
            </a:r>
            <a:r>
              <a:rPr lang="de-AT" dirty="0" err="1"/>
              <a:t>for</a:t>
            </a:r>
            <a:r>
              <a:rPr lang="de-AT" dirty="0"/>
              <a:t> (</a:t>
            </a:r>
            <a:r>
              <a:rPr lang="de-AT" dirty="0" err="1"/>
              <a:t>int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= 0; </a:t>
            </a:r>
            <a:r>
              <a:rPr lang="de-AT" dirty="0" err="1"/>
              <a:t>by</a:t>
            </a:r>
            <a:r>
              <a:rPr lang="de-AT" dirty="0"/>
              <a:t> &lt; 4; </a:t>
            </a:r>
            <a:r>
              <a:rPr lang="de-AT" dirty="0" err="1"/>
              <a:t>by</a:t>
            </a:r>
            <a:r>
              <a:rPr lang="de-AT" dirty="0"/>
              <a:t>++) {</a:t>
            </a:r>
          </a:p>
          <a:p>
            <a:r>
              <a:rPr lang="de-AT" dirty="0"/>
              <a:t>        </a:t>
            </a:r>
            <a:r>
              <a:rPr lang="de-AT" dirty="0" err="1"/>
              <a:t>for</a:t>
            </a:r>
            <a:r>
              <a:rPr lang="de-AT" dirty="0"/>
              <a:t> (</a:t>
            </a:r>
            <a:r>
              <a:rPr lang="de-AT" dirty="0" err="1"/>
              <a:t>int</a:t>
            </a:r>
            <a:r>
              <a:rPr lang="de-AT" dirty="0"/>
              <a:t> </a:t>
            </a:r>
            <a:r>
              <a:rPr lang="de-AT" dirty="0" err="1"/>
              <a:t>bx</a:t>
            </a:r>
            <a:r>
              <a:rPr lang="de-AT" dirty="0"/>
              <a:t> = 0; </a:t>
            </a:r>
            <a:r>
              <a:rPr lang="de-AT" dirty="0" err="1"/>
              <a:t>bx</a:t>
            </a:r>
            <a:r>
              <a:rPr lang="de-AT" dirty="0"/>
              <a:t> &lt; 4; </a:t>
            </a:r>
            <a:r>
              <a:rPr lang="de-AT" dirty="0" err="1"/>
              <a:t>bx</a:t>
            </a:r>
            <a:r>
              <a:rPr lang="de-AT" dirty="0"/>
              <a:t>++) {</a:t>
            </a:r>
          </a:p>
          <a:p>
            <a:r>
              <a:rPr lang="de-AT" dirty="0"/>
              <a:t>            // Nur aktive Block-Pixel prüfen</a:t>
            </a:r>
          </a:p>
          <a:p>
            <a:r>
              <a:rPr lang="de-AT" dirty="0"/>
              <a:t>            </a:t>
            </a:r>
            <a:r>
              <a:rPr lang="de-AT" dirty="0" err="1"/>
              <a:t>if</a:t>
            </a:r>
            <a:r>
              <a:rPr lang="de-AT" dirty="0"/>
              <a:t> (block-&gt;</a:t>
            </a:r>
            <a:r>
              <a:rPr lang="de-AT" dirty="0" err="1"/>
              <a:t>shape</a:t>
            </a:r>
            <a:r>
              <a:rPr lang="de-AT" dirty="0"/>
              <a:t>[</a:t>
            </a:r>
            <a:r>
              <a:rPr lang="de-AT" dirty="0" err="1"/>
              <a:t>by</a:t>
            </a:r>
            <a:r>
              <a:rPr lang="de-AT" dirty="0"/>
              <a:t>][</a:t>
            </a:r>
            <a:r>
              <a:rPr lang="de-AT" dirty="0" err="1"/>
              <a:t>bx</a:t>
            </a:r>
            <a:r>
              <a:rPr lang="de-AT" dirty="0"/>
              <a:t>] == 0) </a:t>
            </a:r>
            <a:r>
              <a:rPr lang="de-AT" dirty="0" err="1"/>
              <a:t>continue</a:t>
            </a:r>
            <a:r>
              <a:rPr lang="de-AT" dirty="0"/>
              <a:t>;</a:t>
            </a:r>
          </a:p>
          <a:p>
            <a:r>
              <a:rPr lang="de-AT" dirty="0"/>
              <a:t>            </a:t>
            </a:r>
          </a:p>
          <a:p>
            <a:r>
              <a:rPr lang="de-AT" dirty="0"/>
              <a:t>            </a:t>
            </a:r>
            <a:r>
              <a:rPr lang="de-AT" dirty="0" err="1"/>
              <a:t>int</a:t>
            </a:r>
            <a:r>
              <a:rPr lang="de-AT" dirty="0"/>
              <a:t> </a:t>
            </a:r>
            <a:r>
              <a:rPr lang="de-AT" dirty="0" err="1"/>
              <a:t>gx</a:t>
            </a:r>
            <a:r>
              <a:rPr lang="de-AT" dirty="0"/>
              <a:t> = block-&gt;x + </a:t>
            </a:r>
            <a:r>
              <a:rPr lang="de-AT" dirty="0" err="1"/>
              <a:t>bx</a:t>
            </a:r>
            <a:r>
              <a:rPr lang="de-AT" dirty="0"/>
              <a:t>;</a:t>
            </a:r>
          </a:p>
          <a:p>
            <a:r>
              <a:rPr lang="de-AT" dirty="0"/>
              <a:t>            </a:t>
            </a:r>
            <a:r>
              <a:rPr lang="de-AT" dirty="0" err="1"/>
              <a:t>int</a:t>
            </a:r>
            <a:r>
              <a:rPr lang="de-AT" dirty="0"/>
              <a:t> </a:t>
            </a:r>
            <a:r>
              <a:rPr lang="de-AT" dirty="0" err="1"/>
              <a:t>gy</a:t>
            </a:r>
            <a:r>
              <a:rPr lang="de-AT" dirty="0"/>
              <a:t> = block-&gt;y + </a:t>
            </a:r>
            <a:r>
              <a:rPr lang="de-AT" dirty="0" err="1"/>
              <a:t>by</a:t>
            </a:r>
            <a:r>
              <a:rPr lang="de-AT" dirty="0"/>
              <a:t>;</a:t>
            </a:r>
          </a:p>
          <a:p>
            <a:r>
              <a:rPr lang="de-AT" dirty="0"/>
              <a:t>            </a:t>
            </a:r>
          </a:p>
          <a:p>
            <a:r>
              <a:rPr lang="de-AT" dirty="0"/>
              <a:t>            // Grenz-Checks</a:t>
            </a:r>
          </a:p>
          <a:p>
            <a:r>
              <a:rPr lang="de-AT" dirty="0"/>
              <a:t>        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gx</a:t>
            </a:r>
            <a:r>
              <a:rPr lang="de-AT" dirty="0"/>
              <a:t> &lt; 0 || </a:t>
            </a:r>
            <a:r>
              <a:rPr lang="de-AT" dirty="0" err="1"/>
              <a:t>gx</a:t>
            </a:r>
            <a:r>
              <a:rPr lang="de-AT" dirty="0"/>
              <a:t> &gt;= GRID_WIDTH) </a:t>
            </a:r>
            <a:r>
              <a:rPr lang="de-AT" dirty="0" err="1"/>
              <a:t>return</a:t>
            </a:r>
            <a:r>
              <a:rPr lang="de-AT" dirty="0"/>
              <a:t> </a:t>
            </a:r>
            <a:r>
              <a:rPr lang="de-AT" dirty="0" err="1"/>
              <a:t>true</a:t>
            </a:r>
            <a:r>
              <a:rPr lang="de-AT" dirty="0"/>
              <a:t>;</a:t>
            </a:r>
          </a:p>
          <a:p>
            <a:r>
              <a:rPr lang="de-AT" dirty="0"/>
              <a:t>        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gy</a:t>
            </a:r>
            <a:r>
              <a:rPr lang="de-AT" dirty="0"/>
              <a:t> &gt;= GRID_HEIGHT) </a:t>
            </a:r>
            <a:r>
              <a:rPr lang="de-AT" dirty="0" err="1"/>
              <a:t>return</a:t>
            </a:r>
            <a:r>
              <a:rPr lang="de-AT" dirty="0"/>
              <a:t> </a:t>
            </a:r>
            <a:r>
              <a:rPr lang="de-AT" dirty="0" err="1"/>
              <a:t>true</a:t>
            </a:r>
            <a:r>
              <a:rPr lang="de-AT" dirty="0"/>
              <a:t>;</a:t>
            </a:r>
          </a:p>
          <a:p>
            <a:r>
              <a:rPr lang="de-AT" dirty="0"/>
              <a:t>            </a:t>
            </a:r>
          </a:p>
          <a:p>
            <a:r>
              <a:rPr lang="de-AT" dirty="0"/>
              <a:t>            // Spawn-Zone erlauben (y &lt; 0 für hohe Blöcke)</a:t>
            </a:r>
          </a:p>
          <a:p>
            <a:r>
              <a:rPr lang="de-AT" dirty="0"/>
              <a:t>        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gy</a:t>
            </a:r>
            <a:r>
              <a:rPr lang="de-AT" dirty="0"/>
              <a:t> &lt; 0) </a:t>
            </a:r>
            <a:r>
              <a:rPr lang="de-AT" dirty="0" err="1"/>
              <a:t>continue</a:t>
            </a:r>
            <a:r>
              <a:rPr lang="de-AT" dirty="0"/>
              <a:t>;</a:t>
            </a:r>
          </a:p>
          <a:p>
            <a:r>
              <a:rPr lang="de-AT" dirty="0"/>
              <a:t>            </a:t>
            </a:r>
          </a:p>
          <a:p>
            <a:r>
              <a:rPr lang="de-AT" dirty="0"/>
              <a:t>            // Kollision mit fixierten Blöcken?</a:t>
            </a:r>
          </a:p>
          <a:p>
            <a:r>
              <a:rPr lang="de-AT" dirty="0"/>
              <a:t>        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grid</a:t>
            </a:r>
            <a:r>
              <a:rPr lang="de-AT" dirty="0"/>
              <a:t>[</a:t>
            </a:r>
            <a:r>
              <a:rPr lang="de-AT" dirty="0" err="1"/>
              <a:t>gy</a:t>
            </a:r>
            <a:r>
              <a:rPr lang="de-AT" dirty="0"/>
              <a:t>][</a:t>
            </a:r>
            <a:r>
              <a:rPr lang="de-AT" dirty="0" err="1"/>
              <a:t>gx</a:t>
            </a:r>
            <a:r>
              <a:rPr lang="de-AT" dirty="0"/>
              <a:t>] != 0) </a:t>
            </a:r>
            <a:r>
              <a:rPr lang="de-AT" dirty="0" err="1"/>
              <a:t>return</a:t>
            </a:r>
            <a:r>
              <a:rPr lang="de-AT" dirty="0"/>
              <a:t> </a:t>
            </a:r>
            <a:r>
              <a:rPr lang="de-AT" dirty="0" err="1"/>
              <a:t>true</a:t>
            </a:r>
            <a:r>
              <a:rPr lang="de-AT" dirty="0"/>
              <a:t>;</a:t>
            </a:r>
          </a:p>
          <a:p>
            <a:r>
              <a:rPr lang="de-AT" dirty="0"/>
              <a:t>        }</a:t>
            </a:r>
          </a:p>
          <a:p>
            <a:r>
              <a:rPr lang="de-AT" dirty="0"/>
              <a:t>    }</a:t>
            </a:r>
          </a:p>
          <a:p>
            <a:r>
              <a:rPr lang="de-AT" dirty="0"/>
              <a:t>    </a:t>
            </a:r>
            <a:r>
              <a:rPr lang="de-AT" dirty="0" err="1"/>
              <a:t>return</a:t>
            </a:r>
            <a:r>
              <a:rPr lang="de-AT" dirty="0"/>
              <a:t> </a:t>
            </a:r>
            <a:r>
              <a:rPr lang="de-AT" dirty="0" err="1"/>
              <a:t>false</a:t>
            </a:r>
            <a:r>
              <a:rPr lang="de-AT" dirty="0"/>
              <a:t>;  // Keine Kollision</a:t>
            </a:r>
          </a:p>
          <a:p>
            <a:r>
              <a:rPr lang="de-AT" dirty="0"/>
              <a:t>}</a:t>
            </a:r>
          </a:p>
          <a:p>
            <a:r>
              <a:rPr lang="de-AT" dirty="0"/>
              <a:t>```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**Besonderheit:**</a:t>
            </a:r>
            <a:r>
              <a:rPr lang="de-AT" dirty="0"/>
              <a:t> Spawn-Zone oberhalb </a:t>
            </a:r>
            <a:r>
              <a:rPr lang="de-AT" dirty="0" err="1"/>
              <a:t>Grid</a:t>
            </a:r>
            <a:r>
              <a:rPr lang="de-AT" dirty="0"/>
              <a:t> (y &lt; 0) erlaubt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312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DE491D-F9CE-3D61-E374-D74E3E0F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b="1" dirty="0"/>
              <a:t>5. Technische Herausforderungen(1/3)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81CE5B-3F82-B79B-2166-345DFB604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Problem 1: Button-Prellen</a:t>
            </a:r>
            <a:endParaRPr lang="de-AT" dirty="0"/>
          </a:p>
          <a:p>
            <a:r>
              <a:rPr lang="de-AT" b="1" dirty="0"/>
              <a:t>**Symptom:**</a:t>
            </a:r>
            <a:r>
              <a:rPr lang="de-AT" dirty="0"/>
              <a:t> Block bewegt sich mehrfach pro Press  </a:t>
            </a:r>
          </a:p>
          <a:p>
            <a:r>
              <a:rPr lang="de-AT" b="1" dirty="0"/>
              <a:t>**Ursache:**</a:t>
            </a:r>
            <a:r>
              <a:rPr lang="de-AT" dirty="0"/>
              <a:t> Mechanisches Prellen (1-10ms </a:t>
            </a:r>
            <a:r>
              <a:rPr lang="de-AT" dirty="0" err="1"/>
              <a:t>Bouncing</a:t>
            </a:r>
            <a:r>
              <a:rPr lang="de-AT" dirty="0"/>
              <a:t>)  </a:t>
            </a:r>
          </a:p>
          <a:p>
            <a:r>
              <a:rPr lang="de-AT" b="1" dirty="0"/>
              <a:t>**Lösung:**</a:t>
            </a:r>
            <a:r>
              <a:rPr lang="de-AT" dirty="0"/>
              <a:t> </a:t>
            </a:r>
          </a:p>
          <a:p>
            <a:r>
              <a:rPr lang="de-AT" dirty="0"/>
              <a:t>- Hardware: Pull-</a:t>
            </a:r>
            <a:r>
              <a:rPr lang="de-AT" dirty="0" err="1"/>
              <a:t>up</a:t>
            </a:r>
            <a:r>
              <a:rPr lang="de-AT" dirty="0"/>
              <a:t> Widerstände</a:t>
            </a:r>
          </a:p>
          <a:p>
            <a:r>
              <a:rPr lang="de-AT" dirty="0"/>
              <a:t>- Software: 150ms </a:t>
            </a:r>
            <a:r>
              <a:rPr lang="de-AT" dirty="0" err="1"/>
              <a:t>Debounce</a:t>
            </a:r>
            <a:r>
              <a:rPr lang="de-AT" dirty="0"/>
              <a:t>-Filter</a:t>
            </a:r>
          </a:p>
          <a:p>
            <a:r>
              <a:rPr lang="de-AT" dirty="0"/>
              <a:t>```c</a:t>
            </a:r>
          </a:p>
          <a:p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now</a:t>
            </a:r>
            <a:r>
              <a:rPr lang="de-AT" dirty="0"/>
              <a:t> - </a:t>
            </a:r>
            <a:r>
              <a:rPr lang="de-AT" dirty="0" err="1"/>
              <a:t>last_pressed</a:t>
            </a:r>
            <a:r>
              <a:rPr lang="de-AT" dirty="0"/>
              <a:t>[</a:t>
            </a:r>
            <a:r>
              <a:rPr lang="de-AT" dirty="0" err="1"/>
              <a:t>gpio</a:t>
            </a:r>
            <a:r>
              <a:rPr lang="de-AT" dirty="0"/>
              <a:t>] &gt; 150) {</a:t>
            </a:r>
          </a:p>
          <a:p>
            <a:r>
              <a:rPr lang="de-AT" dirty="0"/>
              <a:t>    // Event akzeptieren</a:t>
            </a:r>
          </a:p>
          <a:p>
            <a:r>
              <a:rPr lang="de-AT" dirty="0"/>
              <a:t>}</a:t>
            </a:r>
          </a:p>
          <a:p>
            <a:r>
              <a:rPr lang="de-AT" dirty="0"/>
              <a:t>```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373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970B3-1A49-7D2C-3124-DABF23B9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5. Technische Herausforderungen(2/3)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ADC928-6A3D-7112-009F-C7EA975D9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AT" b="1" dirty="0"/>
              <a:t>### Problem 2: LED-Flackern</a:t>
            </a:r>
            <a:endParaRPr lang="de-AT" dirty="0"/>
          </a:p>
          <a:p>
            <a:r>
              <a:rPr lang="de-AT" b="1" dirty="0"/>
              <a:t>**Symptom:**</a:t>
            </a:r>
            <a:r>
              <a:rPr lang="de-AT" dirty="0"/>
              <a:t> LEDs flackern bei Block-Bewegung  </a:t>
            </a:r>
          </a:p>
          <a:p>
            <a:r>
              <a:rPr lang="de-AT" b="1" dirty="0"/>
              <a:t>**Ursache:**</a:t>
            </a:r>
            <a:r>
              <a:rPr lang="de-AT" dirty="0"/>
              <a:t> `</a:t>
            </a:r>
            <a:r>
              <a:rPr lang="de-AT" dirty="0" err="1"/>
              <a:t>led_strip_clear</a:t>
            </a:r>
            <a:r>
              <a:rPr lang="de-AT" dirty="0"/>
              <a:t>()` jeden Frame → Alle LEDs kurz aus  </a:t>
            </a:r>
          </a:p>
          <a:p>
            <a:r>
              <a:rPr lang="de-AT" b="1" dirty="0"/>
              <a:t>**Lösung:**</a:t>
            </a:r>
            <a:r>
              <a:rPr lang="de-AT" dirty="0"/>
              <a:t> Delta-Rendering</a:t>
            </a:r>
          </a:p>
          <a:p>
            <a:r>
              <a:rPr lang="de-AT" dirty="0"/>
              <a:t>- Nur geänderte Pixel updaten</a:t>
            </a:r>
          </a:p>
          <a:p>
            <a:r>
              <a:rPr lang="de-AT" dirty="0"/>
              <a:t>- Statische Blöcke bleiben erhalten</a:t>
            </a:r>
          </a:p>
          <a:p>
            <a:r>
              <a:rPr lang="de-AT" dirty="0"/>
              <a:t>- Vorherige Block-Position in Array speichern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Problem 3: RMT-Timing WS2812B</a:t>
            </a:r>
            <a:endParaRPr lang="de-AT" dirty="0"/>
          </a:p>
          <a:p>
            <a:r>
              <a:rPr lang="de-AT" b="1" dirty="0"/>
              <a:t>**Symptom:**</a:t>
            </a:r>
            <a:r>
              <a:rPr lang="de-AT" dirty="0"/>
              <a:t> Falsche Farben, LEDs reagieren nicht  </a:t>
            </a:r>
          </a:p>
          <a:p>
            <a:r>
              <a:rPr lang="de-AT" b="1" dirty="0"/>
              <a:t>**Ursache:**</a:t>
            </a:r>
            <a:r>
              <a:rPr lang="de-AT" dirty="0"/>
              <a:t> WS2812B benötigt präzise Timing (±150ns)  </a:t>
            </a:r>
          </a:p>
          <a:p>
            <a:r>
              <a:rPr lang="de-AT" b="1" dirty="0"/>
              <a:t>**Lösung:**</a:t>
            </a:r>
            <a:r>
              <a:rPr lang="de-AT" dirty="0"/>
              <a:t> </a:t>
            </a:r>
          </a:p>
          <a:p>
            <a:r>
              <a:rPr lang="de-AT" dirty="0"/>
              <a:t>- ESP-IDF RMT-Driver nutzen (Hardware-generierte Pulse)</a:t>
            </a:r>
          </a:p>
          <a:p>
            <a:r>
              <a:rPr lang="de-AT" dirty="0"/>
              <a:t>- Timing aus Datasheet: Bit 0: 0.4µs HIGH + 0.85µs LOW</a:t>
            </a:r>
          </a:p>
          <a:p>
            <a:r>
              <a:rPr lang="de-AT" dirty="0"/>
              <a:t>- DMA für automatischen Transfer (CPU-Entlastung)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Problem 4: Gravity nach Zeilen-Clear</a:t>
            </a:r>
            <a:endParaRPr lang="de-AT" dirty="0"/>
          </a:p>
          <a:p>
            <a:r>
              <a:rPr lang="de-AT" b="1" dirty="0"/>
              <a:t>**Symptom:**</a:t>
            </a:r>
            <a:r>
              <a:rPr lang="de-AT" dirty="0"/>
              <a:t> "Schwebende" Blöcke nach Zeilen-Löschen  </a:t>
            </a:r>
          </a:p>
          <a:p>
            <a:r>
              <a:rPr lang="de-AT" b="1" dirty="0"/>
              <a:t>**Ursache:**</a:t>
            </a:r>
            <a:r>
              <a:rPr lang="de-AT" dirty="0"/>
              <a:t> Zeilen nach oben kopieren lässt Lücken  </a:t>
            </a:r>
          </a:p>
          <a:p>
            <a:r>
              <a:rPr lang="de-AT" b="1" dirty="0"/>
              <a:t>**Lösung:**</a:t>
            </a:r>
            <a:r>
              <a:rPr lang="de-AT" dirty="0"/>
              <a:t> Spaltenweise Gravity</a:t>
            </a:r>
          </a:p>
          <a:p>
            <a:r>
              <a:rPr lang="de-AT" dirty="0"/>
              <a:t>```c</a:t>
            </a:r>
          </a:p>
          <a:p>
            <a:r>
              <a:rPr lang="de-AT" dirty="0"/>
              <a:t>// Nicht-null Werte von unten nach oben packen</a:t>
            </a:r>
          </a:p>
          <a:p>
            <a:r>
              <a:rPr lang="de-AT" dirty="0" err="1"/>
              <a:t>for</a:t>
            </a:r>
            <a:r>
              <a:rPr lang="de-AT" dirty="0"/>
              <a:t> (</a:t>
            </a:r>
            <a:r>
              <a:rPr lang="de-AT" dirty="0" err="1"/>
              <a:t>int</a:t>
            </a:r>
            <a:r>
              <a:rPr lang="de-AT" dirty="0"/>
              <a:t> x = 0; x &lt; WIDTH; x++) {</a:t>
            </a:r>
          </a:p>
          <a:p>
            <a:r>
              <a:rPr lang="de-AT" dirty="0"/>
              <a:t>    </a:t>
            </a:r>
            <a:r>
              <a:rPr lang="de-AT" dirty="0" err="1"/>
              <a:t>int</a:t>
            </a:r>
            <a:r>
              <a:rPr lang="de-AT" dirty="0"/>
              <a:t> </a:t>
            </a:r>
            <a:r>
              <a:rPr lang="de-AT" dirty="0" err="1"/>
              <a:t>write_y</a:t>
            </a:r>
            <a:r>
              <a:rPr lang="de-AT" dirty="0"/>
              <a:t> = HEIGHT - 1;</a:t>
            </a:r>
          </a:p>
          <a:p>
            <a:r>
              <a:rPr lang="de-AT" dirty="0"/>
              <a:t>    </a:t>
            </a:r>
            <a:r>
              <a:rPr lang="de-AT" dirty="0" err="1"/>
              <a:t>for</a:t>
            </a:r>
            <a:r>
              <a:rPr lang="de-AT" dirty="0"/>
              <a:t> (</a:t>
            </a:r>
            <a:r>
              <a:rPr lang="de-AT" dirty="0" err="1"/>
              <a:t>int</a:t>
            </a:r>
            <a:r>
              <a:rPr lang="de-AT" dirty="0"/>
              <a:t> </a:t>
            </a:r>
            <a:r>
              <a:rPr lang="de-AT" dirty="0" err="1"/>
              <a:t>read_y</a:t>
            </a:r>
            <a:r>
              <a:rPr lang="de-AT" dirty="0"/>
              <a:t> = HEIGHT - 1; </a:t>
            </a:r>
            <a:r>
              <a:rPr lang="de-AT" dirty="0" err="1"/>
              <a:t>read_y</a:t>
            </a:r>
            <a:r>
              <a:rPr lang="de-AT" dirty="0"/>
              <a:t> &gt;= 0; </a:t>
            </a:r>
            <a:r>
              <a:rPr lang="de-AT" dirty="0" err="1"/>
              <a:t>read_y</a:t>
            </a:r>
            <a:r>
              <a:rPr lang="de-AT" dirty="0"/>
              <a:t>--) {</a:t>
            </a:r>
          </a:p>
          <a:p>
            <a:r>
              <a:rPr lang="de-AT" dirty="0"/>
              <a:t>        </a:t>
            </a:r>
            <a:r>
              <a:rPr lang="de-AT" dirty="0" err="1"/>
              <a:t>if</a:t>
            </a:r>
            <a:r>
              <a:rPr lang="de-AT" dirty="0"/>
              <a:t> (</a:t>
            </a:r>
            <a:r>
              <a:rPr lang="de-AT" dirty="0" err="1"/>
              <a:t>grid</a:t>
            </a:r>
            <a:r>
              <a:rPr lang="de-AT" dirty="0"/>
              <a:t>[</a:t>
            </a:r>
            <a:r>
              <a:rPr lang="de-AT" dirty="0" err="1"/>
              <a:t>read_y</a:t>
            </a:r>
            <a:r>
              <a:rPr lang="de-AT" dirty="0"/>
              <a:t>][x] != 0) {</a:t>
            </a:r>
          </a:p>
          <a:p>
            <a:r>
              <a:rPr lang="de-AT" dirty="0"/>
              <a:t>            </a:t>
            </a:r>
            <a:r>
              <a:rPr lang="de-AT" dirty="0" err="1"/>
              <a:t>grid</a:t>
            </a:r>
            <a:r>
              <a:rPr lang="de-AT" dirty="0"/>
              <a:t>[</a:t>
            </a:r>
            <a:r>
              <a:rPr lang="de-AT" dirty="0" err="1"/>
              <a:t>write_y</a:t>
            </a:r>
            <a:r>
              <a:rPr lang="de-AT" dirty="0"/>
              <a:t>--][x] = </a:t>
            </a:r>
            <a:r>
              <a:rPr lang="de-AT" dirty="0" err="1"/>
              <a:t>grid</a:t>
            </a:r>
            <a:r>
              <a:rPr lang="de-AT" dirty="0"/>
              <a:t>[</a:t>
            </a:r>
            <a:r>
              <a:rPr lang="de-AT" dirty="0" err="1"/>
              <a:t>read_y</a:t>
            </a:r>
            <a:r>
              <a:rPr lang="de-AT" dirty="0"/>
              <a:t>][x];</a:t>
            </a:r>
          </a:p>
          <a:p>
            <a:r>
              <a:rPr lang="de-AT" dirty="0"/>
              <a:t>        }</a:t>
            </a:r>
          </a:p>
          <a:p>
            <a:r>
              <a:rPr lang="de-AT" dirty="0"/>
              <a:t>    }</a:t>
            </a:r>
          </a:p>
          <a:p>
            <a:r>
              <a:rPr lang="de-AT" dirty="0"/>
              <a:t>}</a:t>
            </a:r>
          </a:p>
          <a:p>
            <a:r>
              <a:rPr lang="de-AT" dirty="0"/>
              <a:t>```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7241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3E6156-B00E-721A-A51E-D366664E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5. Technische Herausforderungen(3/3)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B9F5ED-3BD2-D8E3-E4D8-B9805AAED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### Problem 5: I2C Display not found</a:t>
            </a:r>
            <a:endParaRPr lang="en-US" dirty="0"/>
          </a:p>
          <a:p>
            <a:r>
              <a:rPr lang="en-US" b="1" dirty="0"/>
              <a:t>**Symptom:**</a:t>
            </a:r>
            <a:r>
              <a:rPr lang="en-US" dirty="0"/>
              <a:t> Boot </a:t>
            </a:r>
            <a:r>
              <a:rPr lang="en-US" dirty="0" err="1"/>
              <a:t>hängt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Display-Init  </a:t>
            </a:r>
          </a:p>
          <a:p>
            <a:r>
              <a:rPr lang="en-US" b="1" dirty="0"/>
              <a:t>**Ursache:**</a:t>
            </a:r>
            <a:r>
              <a:rPr lang="en-US" dirty="0"/>
              <a:t> Display nicht </a:t>
            </a:r>
            <a:r>
              <a:rPr lang="en-US" dirty="0" err="1"/>
              <a:t>angeschlossen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falsche</a:t>
            </a:r>
            <a:r>
              <a:rPr lang="en-US" dirty="0"/>
              <a:t> </a:t>
            </a:r>
            <a:r>
              <a:rPr lang="en-US" dirty="0" err="1"/>
              <a:t>Adresse</a:t>
            </a:r>
            <a:r>
              <a:rPr lang="en-US" dirty="0"/>
              <a:t>  </a:t>
            </a:r>
          </a:p>
          <a:p>
            <a:r>
              <a:rPr lang="en-US" b="1" dirty="0"/>
              <a:t>**</a:t>
            </a:r>
            <a:r>
              <a:rPr lang="en-US" b="1" dirty="0" err="1"/>
              <a:t>Lösung</a:t>
            </a:r>
            <a:r>
              <a:rPr lang="en-US" b="1" dirty="0"/>
              <a:t>:**</a:t>
            </a:r>
            <a:r>
              <a:rPr lang="en-US" dirty="0"/>
              <a:t> Graceful Degradation</a:t>
            </a:r>
          </a:p>
          <a:p>
            <a:r>
              <a:rPr lang="en-US" dirty="0"/>
              <a:t>```c</a:t>
            </a:r>
          </a:p>
          <a:p>
            <a:r>
              <a:rPr lang="en-US" dirty="0"/>
              <a:t>if (i2c_master_probe(I2C_NUM_0, 0x3C, 1000) != ESP_OK) {</a:t>
            </a:r>
          </a:p>
          <a:p>
            <a:r>
              <a:rPr lang="en-US" dirty="0"/>
              <a:t>    ESP_LOGW(TAG, "No display found, running without OLED");</a:t>
            </a:r>
          </a:p>
          <a:p>
            <a:r>
              <a:rPr lang="en-US" dirty="0"/>
              <a:t>    </a:t>
            </a:r>
            <a:r>
              <a:rPr lang="en-US" dirty="0" err="1"/>
              <a:t>g_disp</a:t>
            </a:r>
            <a:r>
              <a:rPr lang="en-US" dirty="0"/>
              <a:t> = NULL;</a:t>
            </a:r>
          </a:p>
          <a:p>
            <a:r>
              <a:rPr lang="en-US" dirty="0"/>
              <a:t>    return;  // Spiel </a:t>
            </a:r>
            <a:r>
              <a:rPr lang="en-US" dirty="0" err="1"/>
              <a:t>läuft</a:t>
            </a:r>
            <a:r>
              <a:rPr lang="en-US" dirty="0"/>
              <a:t> </a:t>
            </a:r>
            <a:r>
              <a:rPr lang="en-US" dirty="0" err="1"/>
              <a:t>weiter</a:t>
            </a:r>
            <a:r>
              <a:rPr lang="en-US" dirty="0"/>
              <a:t> </a:t>
            </a:r>
            <a:r>
              <a:rPr lang="en-US" dirty="0" err="1"/>
              <a:t>ohne</a:t>
            </a:r>
            <a:r>
              <a:rPr lang="en-US" dirty="0"/>
              <a:t> Display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```</a:t>
            </a:r>
          </a:p>
          <a:p>
            <a:br>
              <a:rPr lang="en-US" dirty="0"/>
            </a:br>
            <a:endParaRPr lang="en-US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8813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0ACED-6730-15AF-2485-C42AD7FD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6. Performance-Optimierungen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AC0CDF-6E66-4743-7C21-4CA53F59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Implementiert:</a:t>
            </a:r>
            <a:endParaRPr lang="de-AT" dirty="0"/>
          </a:p>
          <a:p>
            <a:r>
              <a:rPr lang="de-AT" dirty="0"/>
              <a:t>✅ </a:t>
            </a:r>
            <a:r>
              <a:rPr lang="de-AT" b="1" dirty="0"/>
              <a:t>**Delta-Rendering:**</a:t>
            </a:r>
            <a:r>
              <a:rPr lang="de-AT" dirty="0"/>
              <a:t> Nur geänderte Pixel (~70% Reduktion)  </a:t>
            </a:r>
          </a:p>
          <a:p>
            <a:r>
              <a:rPr lang="de-AT" dirty="0"/>
              <a:t>✅ </a:t>
            </a:r>
            <a:r>
              <a:rPr lang="de-AT" b="1" dirty="0"/>
              <a:t>**Hardware-Beschleunigung:**</a:t>
            </a:r>
            <a:r>
              <a:rPr lang="de-AT" dirty="0"/>
              <a:t> RMT + DMA für LEDs  </a:t>
            </a:r>
          </a:p>
          <a:p>
            <a:r>
              <a:rPr lang="de-AT" dirty="0"/>
              <a:t>✅ </a:t>
            </a:r>
            <a:r>
              <a:rPr lang="de-AT" b="1" dirty="0"/>
              <a:t>**ISR + Queue:**</a:t>
            </a:r>
            <a:r>
              <a:rPr lang="de-AT" dirty="0"/>
              <a:t> Minimale Interrupt-Zeit (300-500ns)  </a:t>
            </a:r>
          </a:p>
          <a:p>
            <a:r>
              <a:rPr lang="de-AT" dirty="0"/>
              <a:t>✅ </a:t>
            </a:r>
            <a:r>
              <a:rPr lang="de-AT" b="1" dirty="0"/>
              <a:t>**Task-Prioritäten:**</a:t>
            </a:r>
            <a:r>
              <a:rPr lang="de-AT" dirty="0"/>
              <a:t> </a:t>
            </a:r>
            <a:r>
              <a:rPr lang="de-AT" dirty="0" err="1"/>
              <a:t>GameLoop</a:t>
            </a:r>
            <a:r>
              <a:rPr lang="de-AT" dirty="0"/>
              <a:t> </a:t>
            </a:r>
            <a:r>
              <a:rPr lang="de-AT" dirty="0" err="1"/>
              <a:t>Prio</a:t>
            </a:r>
            <a:r>
              <a:rPr lang="de-AT" dirty="0"/>
              <a:t> 5 (höchste)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Messwerte:</a:t>
            </a:r>
            <a:endParaRPr lang="de-AT" dirty="0"/>
          </a:p>
          <a:p>
            <a:r>
              <a:rPr lang="de-AT" dirty="0"/>
              <a:t>| Szenario          | CPU-Zeit | Anteil |</a:t>
            </a:r>
          </a:p>
          <a:p>
            <a:r>
              <a:rPr lang="de-AT" dirty="0"/>
              <a:t>|-------------------|----------|--------|</a:t>
            </a:r>
          </a:p>
          <a:p>
            <a:r>
              <a:rPr lang="de-AT" dirty="0"/>
              <a:t>| Minimal Loop      | 350 µs   | 7%     |</a:t>
            </a:r>
          </a:p>
          <a:p>
            <a:r>
              <a:rPr lang="de-AT" dirty="0"/>
              <a:t>| </a:t>
            </a:r>
            <a:r>
              <a:rPr lang="de-AT" dirty="0" err="1"/>
              <a:t>Render</a:t>
            </a:r>
            <a:r>
              <a:rPr lang="de-AT" dirty="0"/>
              <a:t> Frame      | 5350 µs  | 107%   |</a:t>
            </a:r>
          </a:p>
          <a:p>
            <a:r>
              <a:rPr lang="de-AT" dirty="0"/>
              <a:t>| CPU Idle          | ~10%     |        |</a:t>
            </a:r>
          </a:p>
          <a:p>
            <a:r>
              <a:rPr lang="de-AT" dirty="0"/>
              <a:t>| CPU Normal        | ~25%     | 60 FPS |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Nicht implementiert (Zukunft):</a:t>
            </a:r>
            <a:endParaRPr lang="de-AT" dirty="0"/>
          </a:p>
          <a:p>
            <a:r>
              <a:rPr lang="de-AT" dirty="0"/>
              <a:t>❌ </a:t>
            </a:r>
            <a:r>
              <a:rPr lang="de-AT" b="1" dirty="0"/>
              <a:t>**</a:t>
            </a:r>
            <a:r>
              <a:rPr lang="de-AT" b="1" dirty="0" err="1"/>
              <a:t>Async</a:t>
            </a:r>
            <a:r>
              <a:rPr lang="de-AT" b="1" dirty="0"/>
              <a:t> RMT:**</a:t>
            </a:r>
            <a:r>
              <a:rPr lang="de-AT" dirty="0"/>
              <a:t> Non-</a:t>
            </a:r>
            <a:r>
              <a:rPr lang="de-AT" dirty="0" err="1"/>
              <a:t>blocking</a:t>
            </a:r>
            <a:r>
              <a:rPr lang="de-AT" dirty="0"/>
              <a:t> LED-Transfer (würde 11.5ms CPU freigeben)  </a:t>
            </a:r>
          </a:p>
          <a:p>
            <a:r>
              <a:rPr lang="de-AT" dirty="0"/>
              <a:t>❌ </a:t>
            </a:r>
            <a:r>
              <a:rPr lang="de-AT" b="1" dirty="0"/>
              <a:t>**Animation-Task:**</a:t>
            </a:r>
            <a:r>
              <a:rPr lang="de-AT" dirty="0"/>
              <a:t> Zeilen-Clear in separatem Task (</a:t>
            </a:r>
            <a:r>
              <a:rPr lang="de-AT" dirty="0" err="1"/>
              <a:t>GameLoop</a:t>
            </a:r>
            <a:r>
              <a:rPr lang="de-AT" dirty="0"/>
              <a:t> nicht blockieren)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04685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5BC18D-8135-E21F-6E1F-C8E82730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7. Besondere Features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3C2847-FC05-FA37-3522-4202B611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1. Emergency </a:t>
            </a:r>
            <a:r>
              <a:rPr lang="de-AT" b="1" dirty="0" err="1"/>
              <a:t>Reset</a:t>
            </a:r>
            <a:endParaRPr lang="de-AT" dirty="0"/>
          </a:p>
          <a:p>
            <a:r>
              <a:rPr lang="de-AT" dirty="0"/>
              <a:t>- Alle 4 Buttons gleichzeitig 1s halten</a:t>
            </a:r>
          </a:p>
          <a:p>
            <a:r>
              <a:rPr lang="de-AT" dirty="0"/>
              <a:t>- Hard </a:t>
            </a:r>
            <a:r>
              <a:rPr lang="de-AT" dirty="0" err="1"/>
              <a:t>Reset</a:t>
            </a:r>
            <a:r>
              <a:rPr lang="de-AT" dirty="0"/>
              <a:t> ohne Neustart des ESP32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2. NVS Highscore-Persistenz</a:t>
            </a:r>
            <a:endParaRPr lang="de-AT" dirty="0"/>
          </a:p>
          <a:p>
            <a:r>
              <a:rPr lang="de-AT" dirty="0"/>
              <a:t>- Highscore überlebt Power-Off</a:t>
            </a:r>
          </a:p>
          <a:p>
            <a:r>
              <a:rPr lang="de-AT" dirty="0"/>
              <a:t>- Automatisches Speichern bei neuem Rekord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3. Dynamic Speed Progression</a:t>
            </a:r>
            <a:endParaRPr lang="de-AT" dirty="0"/>
          </a:p>
          <a:p>
            <a:r>
              <a:rPr lang="de-AT" dirty="0"/>
              <a:t>- 11 Levels (400ms → 50ms Fall-Intervall)</a:t>
            </a:r>
          </a:p>
          <a:p>
            <a:r>
              <a:rPr lang="de-AT" dirty="0"/>
              <a:t>- Basierend auf </a:t>
            </a:r>
            <a:r>
              <a:rPr lang="de-AT" dirty="0" err="1"/>
              <a:t>geclearten</a:t>
            </a:r>
            <a:r>
              <a:rPr lang="de-AT" dirty="0"/>
              <a:t> Zeilen</a:t>
            </a:r>
          </a:p>
          <a:p>
            <a:r>
              <a:rPr lang="de-AT" dirty="0"/>
              <a:t>- Logarithmische Progression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4. </a:t>
            </a:r>
            <a:r>
              <a:rPr lang="de-AT" b="1" dirty="0" err="1"/>
              <a:t>Graceful</a:t>
            </a:r>
            <a:r>
              <a:rPr lang="de-AT" b="1" dirty="0"/>
              <a:t> Degradation</a:t>
            </a:r>
            <a:endParaRPr lang="de-AT" dirty="0"/>
          </a:p>
          <a:p>
            <a:r>
              <a:rPr lang="de-AT" dirty="0"/>
              <a:t>- Spiel läuft ohne OLED Display</a:t>
            </a:r>
          </a:p>
          <a:p>
            <a:r>
              <a:rPr lang="de-AT" dirty="0"/>
              <a:t>- Fehlende Hardware wird erkannt und überbrückt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br>
              <a:rPr lang="de-AT" dirty="0"/>
            </a:b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0156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98944-B9BC-2ACB-3D3B-A3F08527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8. Ergebnisse &amp; </a:t>
            </a:r>
            <a:r>
              <a:rPr lang="de-AT" b="1" dirty="0" err="1"/>
              <a:t>Lessons</a:t>
            </a:r>
            <a:r>
              <a:rPr lang="de-AT" b="1" dirty="0"/>
              <a:t> </a:t>
            </a:r>
            <a:r>
              <a:rPr lang="de-AT" b="1" dirty="0" err="1"/>
              <a:t>Learned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14E75B-5E4F-2156-7362-8C1FCE459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✅ Was funktioniert gut:</a:t>
            </a:r>
            <a:endParaRPr lang="de-AT" dirty="0"/>
          </a:p>
          <a:p>
            <a:r>
              <a:rPr lang="de-AT" dirty="0"/>
              <a:t>- </a:t>
            </a:r>
            <a:r>
              <a:rPr lang="de-AT" b="1" dirty="0"/>
              <a:t>**Responsive Input:**</a:t>
            </a:r>
            <a:r>
              <a:rPr lang="de-AT" dirty="0"/>
              <a:t> 10ms Latenz (Button → Screen)</a:t>
            </a:r>
          </a:p>
          <a:p>
            <a:r>
              <a:rPr lang="de-AT" dirty="0"/>
              <a:t>- </a:t>
            </a:r>
            <a:r>
              <a:rPr lang="de-AT" b="1" dirty="0"/>
              <a:t>**Smooth Rendering:**</a:t>
            </a:r>
            <a:r>
              <a:rPr lang="de-AT" dirty="0"/>
              <a:t> 60 FPS ohne Flackern</a:t>
            </a:r>
          </a:p>
          <a:p>
            <a:r>
              <a:rPr lang="de-AT" dirty="0"/>
              <a:t>- </a:t>
            </a:r>
            <a:r>
              <a:rPr lang="de-AT" b="1" dirty="0"/>
              <a:t>**Stabile Performance:**</a:t>
            </a:r>
            <a:r>
              <a:rPr lang="de-AT" dirty="0"/>
              <a:t> ~25% CPU-Auslastung</a:t>
            </a:r>
          </a:p>
          <a:p>
            <a:r>
              <a:rPr lang="de-AT" dirty="0"/>
              <a:t>- </a:t>
            </a:r>
            <a:r>
              <a:rPr lang="de-AT" b="1" dirty="0"/>
              <a:t>**Robuster Code:**</a:t>
            </a:r>
            <a:r>
              <a:rPr lang="de-AT" dirty="0"/>
              <a:t> Keine </a:t>
            </a:r>
            <a:r>
              <a:rPr lang="de-AT" dirty="0" err="1"/>
              <a:t>Crashes</a:t>
            </a:r>
            <a:r>
              <a:rPr lang="de-AT" dirty="0"/>
              <a:t>, </a:t>
            </a:r>
            <a:r>
              <a:rPr lang="de-AT" dirty="0" err="1"/>
              <a:t>Graceful</a:t>
            </a:r>
            <a:r>
              <a:rPr lang="de-AT" dirty="0"/>
              <a:t> Degradation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🔧 Was verbessert werden könnte:</a:t>
            </a:r>
            <a:endParaRPr lang="de-AT" dirty="0"/>
          </a:p>
          <a:p>
            <a:r>
              <a:rPr lang="de-AT" dirty="0"/>
              <a:t>- </a:t>
            </a:r>
            <a:r>
              <a:rPr lang="de-AT" b="1" dirty="0"/>
              <a:t>**</a:t>
            </a:r>
            <a:r>
              <a:rPr lang="de-AT" b="1" dirty="0" err="1"/>
              <a:t>Async</a:t>
            </a:r>
            <a:r>
              <a:rPr lang="de-AT" b="1" dirty="0"/>
              <a:t> RMT:**</a:t>
            </a:r>
            <a:r>
              <a:rPr lang="de-AT" dirty="0"/>
              <a:t> Für non-</a:t>
            </a:r>
            <a:r>
              <a:rPr lang="de-AT" dirty="0" err="1"/>
              <a:t>blocking</a:t>
            </a:r>
            <a:r>
              <a:rPr lang="de-AT" dirty="0"/>
              <a:t> LED-Updates</a:t>
            </a:r>
          </a:p>
          <a:p>
            <a:r>
              <a:rPr lang="de-AT" dirty="0"/>
              <a:t>- </a:t>
            </a:r>
            <a:r>
              <a:rPr lang="de-AT" b="1" dirty="0"/>
              <a:t>**Next-Block Preview:**</a:t>
            </a:r>
            <a:r>
              <a:rPr lang="de-AT" dirty="0"/>
              <a:t> Auf OLED anzeigen</a:t>
            </a:r>
          </a:p>
          <a:p>
            <a:r>
              <a:rPr lang="de-AT" dirty="0"/>
              <a:t>- </a:t>
            </a:r>
            <a:r>
              <a:rPr lang="de-AT" b="1" dirty="0"/>
              <a:t>**Pause-Funktion:**</a:t>
            </a:r>
            <a:r>
              <a:rPr lang="de-AT" dirty="0"/>
              <a:t> State PAUSED hinzufügen</a:t>
            </a:r>
          </a:p>
          <a:p>
            <a:r>
              <a:rPr lang="de-AT" dirty="0"/>
              <a:t>- </a:t>
            </a:r>
            <a:r>
              <a:rPr lang="de-AT" b="1" dirty="0"/>
              <a:t>**Statistiken:**</a:t>
            </a:r>
            <a:r>
              <a:rPr lang="de-AT" dirty="0"/>
              <a:t> Tracking von Tetris-Count, Max Combo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### 📚 </a:t>
            </a:r>
            <a:r>
              <a:rPr lang="de-AT" b="1" dirty="0" err="1"/>
              <a:t>Lessons</a:t>
            </a:r>
            <a:r>
              <a:rPr lang="de-AT" b="1" dirty="0"/>
              <a:t> </a:t>
            </a:r>
            <a:r>
              <a:rPr lang="de-AT" b="1" dirty="0" err="1"/>
              <a:t>Learned</a:t>
            </a:r>
            <a:r>
              <a:rPr lang="de-AT" b="1" dirty="0"/>
              <a:t>:</a:t>
            </a:r>
            <a:endParaRPr lang="de-AT" dirty="0"/>
          </a:p>
          <a:p>
            <a:r>
              <a:rPr lang="de-AT" dirty="0"/>
              <a:t>1. </a:t>
            </a:r>
            <a:r>
              <a:rPr lang="de-AT" b="1" dirty="0"/>
              <a:t>**Hardware-Beschleunigung nutzen:**</a:t>
            </a:r>
            <a:r>
              <a:rPr lang="de-AT" dirty="0"/>
              <a:t> RMT/DMA statt Bit-</a:t>
            </a:r>
            <a:r>
              <a:rPr lang="de-AT" dirty="0" err="1"/>
              <a:t>Banging</a:t>
            </a:r>
            <a:endParaRPr lang="de-AT" dirty="0"/>
          </a:p>
          <a:p>
            <a:r>
              <a:rPr lang="de-AT" dirty="0"/>
              <a:t>2. </a:t>
            </a:r>
            <a:r>
              <a:rPr lang="de-AT" b="1" dirty="0"/>
              <a:t>**ISR minimieren:**</a:t>
            </a:r>
            <a:r>
              <a:rPr lang="de-AT" dirty="0"/>
              <a:t> Nur Queue-Push, Verarbeitung im Task</a:t>
            </a:r>
          </a:p>
          <a:p>
            <a:r>
              <a:rPr lang="de-AT" dirty="0"/>
              <a:t>3. </a:t>
            </a:r>
            <a:r>
              <a:rPr lang="de-AT" b="1" dirty="0"/>
              <a:t>**Debugging wichtig:**</a:t>
            </a:r>
            <a:r>
              <a:rPr lang="de-AT" dirty="0"/>
              <a:t> 30% der Zeit war Debugging (Prellen, Timing)</a:t>
            </a:r>
          </a:p>
          <a:p>
            <a:r>
              <a:rPr lang="de-AT" dirty="0"/>
              <a:t>4. </a:t>
            </a:r>
            <a:r>
              <a:rPr lang="de-AT" b="1" dirty="0"/>
              <a:t>**</a:t>
            </a:r>
            <a:r>
              <a:rPr lang="de-AT" b="1" dirty="0" err="1"/>
              <a:t>Graceful</a:t>
            </a:r>
            <a:r>
              <a:rPr lang="de-AT" b="1" dirty="0"/>
              <a:t> Degradation:**</a:t>
            </a:r>
            <a:r>
              <a:rPr lang="de-AT" dirty="0"/>
              <a:t> System sollte mit fehlender Hardware umgehen</a:t>
            </a:r>
          </a:p>
          <a:p>
            <a:r>
              <a:rPr lang="de-AT" dirty="0"/>
              <a:t>5. </a:t>
            </a:r>
            <a:r>
              <a:rPr lang="de-AT" b="1" dirty="0"/>
              <a:t>**Delta-Rendering:**</a:t>
            </a:r>
            <a:r>
              <a:rPr lang="de-AT" dirty="0"/>
              <a:t> Massive Performance-Verbesserung (~70%)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dirty="0"/>
              <a:t>---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8899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71BF3-30E3-5767-8C05-B8421E0B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10. Zusammenfassung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4CF9CA-1AE0-9E73-3058-1ED502A6D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br>
              <a:rPr lang="de-AT" dirty="0"/>
            </a:br>
            <a:endParaRPr lang="de-AT" dirty="0"/>
          </a:p>
          <a:p>
            <a:r>
              <a:rPr lang="de-AT" b="1" dirty="0"/>
              <a:t>**Projekt erfolgreich abgeschlossen:**</a:t>
            </a:r>
            <a:endParaRPr lang="de-AT" dirty="0"/>
          </a:p>
          <a:p>
            <a:r>
              <a:rPr lang="de-AT" dirty="0"/>
              <a:t>- ✅ Vollständiges Tetris mit 7 Block-Typen</a:t>
            </a:r>
          </a:p>
          <a:p>
            <a:r>
              <a:rPr lang="de-AT" dirty="0"/>
              <a:t>- ✅ 60 FPS smooth Rendering auf 384 LEDs</a:t>
            </a:r>
          </a:p>
          <a:p>
            <a:r>
              <a:rPr lang="de-AT" dirty="0"/>
              <a:t>- ✅ Responsive Controls (10ms Latenz)</a:t>
            </a:r>
          </a:p>
          <a:p>
            <a:r>
              <a:rPr lang="de-AT" dirty="0"/>
              <a:t>- ✅ Persistente Highscore (NVS)</a:t>
            </a:r>
          </a:p>
          <a:p>
            <a:r>
              <a:rPr lang="de-AT" dirty="0"/>
              <a:t>- ✅ Dynamic Speed Progression</a:t>
            </a:r>
          </a:p>
          <a:p>
            <a:r>
              <a:rPr lang="de-AT" dirty="0"/>
              <a:t>- ✅ ~2000 Zeilen C Code in 11 Modulen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**Technologie-Stack:**</a:t>
            </a:r>
            <a:endParaRPr lang="de-AT" dirty="0"/>
          </a:p>
          <a:p>
            <a:r>
              <a:rPr lang="de-AT" dirty="0"/>
              <a:t>- ESP32-S3 + ESP-IDF v5.5.1</a:t>
            </a:r>
          </a:p>
          <a:p>
            <a:r>
              <a:rPr lang="de-AT" dirty="0"/>
              <a:t>- </a:t>
            </a:r>
            <a:r>
              <a:rPr lang="de-AT" dirty="0" err="1"/>
              <a:t>FreeRTOS</a:t>
            </a:r>
            <a:r>
              <a:rPr lang="de-AT" dirty="0"/>
              <a:t> Multi-</a:t>
            </a:r>
            <a:r>
              <a:rPr lang="de-AT" dirty="0" err="1"/>
              <a:t>Tasking</a:t>
            </a:r>
            <a:endParaRPr lang="de-AT" dirty="0"/>
          </a:p>
          <a:p>
            <a:r>
              <a:rPr lang="de-AT" dirty="0"/>
              <a:t>- RMT Hardware-Beschleunigung</a:t>
            </a:r>
          </a:p>
          <a:p>
            <a:r>
              <a:rPr lang="de-AT" dirty="0"/>
              <a:t>- I2C OLED Display (LVGL)</a:t>
            </a:r>
          </a:p>
          <a:p>
            <a:br>
              <a:rPr lang="de-AT" dirty="0"/>
            </a:br>
            <a:endParaRPr lang="de-AT" dirty="0"/>
          </a:p>
          <a:p>
            <a:r>
              <a:rPr lang="de-AT" b="1" dirty="0"/>
              <a:t>**Projekt-Dauer:**</a:t>
            </a:r>
            <a:r>
              <a:rPr lang="de-AT" dirty="0"/>
              <a:t> 4 Wochen  </a:t>
            </a:r>
          </a:p>
          <a:p>
            <a:r>
              <a:rPr lang="de-AT" b="1" dirty="0"/>
              <a:t>**Code-Zeilen:**</a:t>
            </a:r>
            <a:r>
              <a:rPr lang="de-AT" dirty="0"/>
              <a:t> ~2000  </a:t>
            </a:r>
          </a:p>
          <a:p>
            <a:r>
              <a:rPr lang="de-AT" b="1" dirty="0"/>
              <a:t>**GitHub:**</a:t>
            </a:r>
            <a:r>
              <a:rPr lang="de-AT" dirty="0"/>
              <a:t> [Link einfügen]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37068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4C26B7-5A70-FDAB-970C-B4324C4C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9C63AC-4027-C55E-198D-9C42A32C7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AT" dirty="0"/>
              <a:t>```</a:t>
            </a:r>
          </a:p>
          <a:p>
            <a:r>
              <a:rPr lang="de-AT" dirty="0" err="1"/>
              <a:t>TetrisCode</a:t>
            </a:r>
            <a:r>
              <a:rPr lang="de-AT" dirty="0"/>
              <a:t>/</a:t>
            </a:r>
          </a:p>
          <a:p>
            <a:r>
              <a:rPr lang="de-AT" dirty="0"/>
              <a:t>├── </a:t>
            </a:r>
            <a:r>
              <a:rPr lang="de-AT" dirty="0" err="1"/>
              <a:t>main</a:t>
            </a:r>
            <a:r>
              <a:rPr lang="de-AT" dirty="0"/>
              <a:t>/</a:t>
            </a:r>
          </a:p>
          <a:p>
            <a:r>
              <a:rPr lang="de-AT" dirty="0"/>
              <a:t>│   ├── </a:t>
            </a:r>
            <a:r>
              <a:rPr lang="de-AT" dirty="0" err="1"/>
              <a:t>src</a:t>
            </a:r>
            <a:r>
              <a:rPr lang="de-AT" dirty="0"/>
              <a:t>/</a:t>
            </a:r>
          </a:p>
          <a:p>
            <a:r>
              <a:rPr lang="de-AT" dirty="0"/>
              <a:t>│   │   ├── </a:t>
            </a:r>
            <a:r>
              <a:rPr lang="de-AT" dirty="0" err="1"/>
              <a:t>main.c</a:t>
            </a:r>
            <a:r>
              <a:rPr lang="de-AT" dirty="0"/>
              <a:t>              # Entry Point</a:t>
            </a:r>
          </a:p>
          <a:p>
            <a:r>
              <a:rPr lang="de-AT" dirty="0"/>
              <a:t>│   │   ├── </a:t>
            </a:r>
            <a:r>
              <a:rPr lang="de-AT" dirty="0" err="1"/>
              <a:t>GameLoop</a:t>
            </a:r>
            <a:r>
              <a:rPr lang="de-AT" dirty="0"/>
              <a:t>/</a:t>
            </a:r>
          </a:p>
          <a:p>
            <a:r>
              <a:rPr lang="de-AT" dirty="0"/>
              <a:t>│   │   │   └── </a:t>
            </a:r>
            <a:r>
              <a:rPr lang="de-AT" dirty="0" err="1"/>
              <a:t>GameLoop.c</a:t>
            </a:r>
            <a:r>
              <a:rPr lang="de-AT" dirty="0"/>
              <a:t>      # State </a:t>
            </a:r>
            <a:r>
              <a:rPr lang="de-AT" dirty="0" err="1"/>
              <a:t>Machine</a:t>
            </a:r>
            <a:r>
              <a:rPr lang="de-AT" dirty="0"/>
              <a:t>, Rendering</a:t>
            </a:r>
          </a:p>
          <a:p>
            <a:r>
              <a:rPr lang="de-AT" dirty="0"/>
              <a:t>│   │   ├── Controls/</a:t>
            </a:r>
          </a:p>
          <a:p>
            <a:r>
              <a:rPr lang="de-AT" dirty="0"/>
              <a:t>│   │   │   └── </a:t>
            </a:r>
            <a:r>
              <a:rPr lang="de-AT" dirty="0" err="1"/>
              <a:t>Controls.c</a:t>
            </a:r>
            <a:r>
              <a:rPr lang="de-AT" dirty="0"/>
              <a:t>      # ISR + Queue</a:t>
            </a:r>
          </a:p>
          <a:p>
            <a:r>
              <a:rPr lang="de-AT" dirty="0"/>
              <a:t>│   │   ├── </a:t>
            </a:r>
            <a:r>
              <a:rPr lang="de-AT" dirty="0" err="1"/>
              <a:t>PlayingField</a:t>
            </a:r>
            <a:r>
              <a:rPr lang="de-AT" dirty="0"/>
              <a:t>/</a:t>
            </a:r>
          </a:p>
          <a:p>
            <a:r>
              <a:rPr lang="de-AT" dirty="0"/>
              <a:t>│   │   │   ├── </a:t>
            </a:r>
            <a:r>
              <a:rPr lang="de-AT" dirty="0" err="1"/>
              <a:t>Blocks.c</a:t>
            </a:r>
            <a:r>
              <a:rPr lang="de-AT" dirty="0"/>
              <a:t>        # </a:t>
            </a:r>
            <a:r>
              <a:rPr lang="de-AT" dirty="0" err="1"/>
              <a:t>Tetromino</a:t>
            </a:r>
            <a:r>
              <a:rPr lang="de-AT" dirty="0"/>
              <a:t>-Definitionen</a:t>
            </a:r>
          </a:p>
          <a:p>
            <a:r>
              <a:rPr lang="de-AT" dirty="0"/>
              <a:t>│   │   │   └── </a:t>
            </a:r>
            <a:r>
              <a:rPr lang="de-AT" dirty="0" err="1"/>
              <a:t>Grid.c</a:t>
            </a:r>
            <a:r>
              <a:rPr lang="de-AT" dirty="0"/>
              <a:t>          # Kollision, Zeilen-Clear</a:t>
            </a:r>
          </a:p>
          <a:p>
            <a:r>
              <a:rPr lang="de-AT" dirty="0"/>
              <a:t>│   │   ├── Score/</a:t>
            </a:r>
          </a:p>
          <a:p>
            <a:r>
              <a:rPr lang="de-AT" dirty="0"/>
              <a:t>│   │   │   └── </a:t>
            </a:r>
            <a:r>
              <a:rPr lang="de-AT" dirty="0" err="1"/>
              <a:t>Score.c</a:t>
            </a:r>
            <a:r>
              <a:rPr lang="de-AT" dirty="0"/>
              <a:t>         # NVS Highscore</a:t>
            </a:r>
          </a:p>
          <a:p>
            <a:r>
              <a:rPr lang="de-AT" dirty="0"/>
              <a:t>│   │   └── </a:t>
            </a:r>
            <a:r>
              <a:rPr lang="de-AT" dirty="0" err="1"/>
              <a:t>init</a:t>
            </a:r>
            <a:r>
              <a:rPr lang="de-AT" dirty="0"/>
              <a:t>/</a:t>
            </a:r>
          </a:p>
          <a:p>
            <a:r>
              <a:rPr lang="de-AT" dirty="0"/>
              <a:t>│   │       ├── </a:t>
            </a:r>
            <a:r>
              <a:rPr lang="de-AT" dirty="0" err="1"/>
              <a:t>DisplayInit.c</a:t>
            </a:r>
            <a:r>
              <a:rPr lang="de-AT" dirty="0"/>
              <a:t>   # I2C OLED</a:t>
            </a:r>
          </a:p>
          <a:p>
            <a:r>
              <a:rPr lang="de-AT" dirty="0"/>
              <a:t>│   │       └── </a:t>
            </a:r>
            <a:r>
              <a:rPr lang="de-AT" dirty="0" err="1"/>
              <a:t>LedMatrixInit.c</a:t>
            </a:r>
            <a:r>
              <a:rPr lang="de-AT" dirty="0"/>
              <a:t> # WS2812B Setup</a:t>
            </a:r>
          </a:p>
          <a:p>
            <a:r>
              <a:rPr lang="de-AT" dirty="0"/>
              <a:t>│   └── </a:t>
            </a:r>
            <a:r>
              <a:rPr lang="de-AT" dirty="0" err="1"/>
              <a:t>hdr</a:t>
            </a:r>
            <a:r>
              <a:rPr lang="de-AT" dirty="0"/>
              <a:t>/</a:t>
            </a:r>
          </a:p>
          <a:p>
            <a:r>
              <a:rPr lang="de-AT" dirty="0"/>
              <a:t>│       └── </a:t>
            </a:r>
            <a:r>
              <a:rPr lang="de-AT" dirty="0" err="1"/>
              <a:t>Globals.h</a:t>
            </a:r>
            <a:r>
              <a:rPr lang="de-AT" dirty="0"/>
              <a:t>           # Konfiguration</a:t>
            </a:r>
          </a:p>
          <a:p>
            <a:r>
              <a:rPr lang="de-AT" dirty="0"/>
              <a:t>└── SYSTEM_DOKUMENTATION.md     # 8-Seiten Doku</a:t>
            </a:r>
            <a:br>
              <a:rPr lang="de-AT" dirty="0"/>
            </a:b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58725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Microsoft Office PowerPoint</Application>
  <PresentationFormat>Breitbild</PresentationFormat>
  <Paragraphs>302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Tetris</vt:lpstr>
      <vt:lpstr>1. Projekt-Übersicht</vt:lpstr>
      <vt:lpstr>2. Ursprüngliche Planung</vt:lpstr>
      <vt:lpstr> 3. Architektur</vt:lpstr>
      <vt:lpstr>4. Wichtigste Code-Snippets</vt:lpstr>
      <vt:lpstr>4.1 ISR + Queue für Buttons</vt:lpstr>
      <vt:lpstr>4.2 Kollisionserkennung</vt:lpstr>
      <vt:lpstr>5. Technische Herausforderungen(1/3)</vt:lpstr>
      <vt:lpstr>5. Technische Herausforderungen(2/3)</vt:lpstr>
      <vt:lpstr>5. Technische Herausforderungen(3/3)</vt:lpstr>
      <vt:lpstr>6. Performance-Optimierungen</vt:lpstr>
      <vt:lpstr>7. Besondere Features</vt:lpstr>
      <vt:lpstr>8. Ergebnisse &amp; Lessons Learned</vt:lpstr>
      <vt:lpstr>10. Zusammenfassung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LAMPERT Mathias</dc:creator>
  <cp:lastModifiedBy>LAMPERT Mathias</cp:lastModifiedBy>
  <cp:revision>2</cp:revision>
  <dcterms:created xsi:type="dcterms:W3CDTF">2025-12-04T12:27:06Z</dcterms:created>
  <dcterms:modified xsi:type="dcterms:W3CDTF">2025-12-04T14:32:21Z</dcterms:modified>
</cp:coreProperties>
</file>